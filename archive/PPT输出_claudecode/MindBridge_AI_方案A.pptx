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我们带来的不是单纯的AI工具，也不是传统的EAP服务，而是一个AI预警与推荐 + 疗愈师深度陪伴的双轨系统。AI不替代疗愈，而是让疗愈服务在关键时刻可及。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双轨并行：AI负责广度识别与推荐，疗愈师负责深度转化。AI不做诊断，只做读数和吹哨，真正的疗愈由疗愈师完成。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六大高内耗行业按采购优先级排序，互联网与金融为最高优先级。2025年已有大型企业公开采购员工心理关爱服务，市场真实存在。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七大应用场景覆盖通用预防及六大行业，每个场景都精准定义了AI轨道与疗愈轨道各自的角色与协同时刻。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通用版按六种情绪类型快速匹配疗愈活动，每个活动都有明确的理论依据支撑，非随意拼凑。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行业版针对六大行业各自最核心的痛点，配置差异化首选活动与关键环节设计，体现非模板化。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AI树洞是24小时匿名倾诉平台。AI做三件事：倾听共情、关键词识别预警、资源自动推送。三级预警配合人工复核闭环，AI不自动定性任何员工。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推荐引擎三步转化：信号识别、方案匹配、触达执行。情绪标签按绿黄红三级映射到自助、团体、一对一活动，形成完整闭环。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预期效果覆盖心理安全、留任意向、疗愈覆盖、疗愈效果四大维度，均有明确基线与目标。五层评估体系从使用率到长期影响，工具与频次清晰，效果可衡量可验证。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双赢价值总结：对AI评委，方案真实可落地、隐私伦理严谨、AI定位清晰；对疗愈评委，理论基础扎实、疗愈师主体性明确、行业差异化、与IAOTH对齐。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D3E52"/>
          </a:solidFill>
          <a:ln/>
        </p:spPr>
      </p:sp>
      <p:sp>
        <p:nvSpPr>
          <p:cNvPr id="3" name="Shape 1"/>
          <p:cNvSpPr/>
          <p:nvPr/>
        </p:nvSpPr>
        <p:spPr>
          <a:xfrm>
            <a:off x="4677156" y="2148840"/>
            <a:ext cx="1371600" cy="1371600"/>
          </a:xfrm>
          <a:prstGeom prst="ellipse">
            <a:avLst/>
          </a:prstGeom>
          <a:ln w="76200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40196" y="2148840"/>
            <a:ext cx="1371600" cy="1371600"/>
          </a:xfrm>
          <a:prstGeom prst="ellipse">
            <a:avLst/>
          </a:prstGeom>
          <a:ln w="762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6460" y="2679192"/>
            <a:ext cx="310896" cy="310896"/>
          </a:xfrm>
          <a:prstGeom prst="ellipse">
            <a:avLst/>
          </a:prstGeom>
          <a:solidFill>
            <a:srgbClr val="F2A25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2296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 ×  AI 应用创新赛道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3886200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0" y="4736592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 疗愈轨道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0" y="5440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100" kern="0" dirty="0">
                <a:solidFill>
                  <a:srgbClr val="9FB2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不替代疗愈，而是让疗愈服务在关键时刻可及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 · 双轨定位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负责广度，疗愈负责深度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713232"/>
          </a:xfrm>
          <a:prstGeom prst="roundRect">
            <a:avLst>
              <a:gd name="adj" fmla="val 12821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481328"/>
            <a:ext cx="10597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pPr indent="0" marL="0">
              <a:buNone/>
            </a:pPr>
            <a:r>
              <a:rPr lang="en-US" sz="13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员工要么不敢求助，要么求助后只得到「治标不治本」的话术。本方案创造性提出 </a:t>
            </a:r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预警与推荐 + 疗愈师深度陪伴」</a:t>
            </a:r>
            <a:pPr indent="0" marL="0">
              <a:buNone/>
            </a:pPr>
            <a:r>
              <a:rPr lang="en-US" sz="13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双轨模型。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450592"/>
            <a:ext cx="5344668" cy="2514600"/>
          </a:xfrm>
          <a:prstGeom prst="roundRect">
            <a:avLst>
              <a:gd name="adj" fmla="val 5091"/>
            </a:avLst>
          </a:prstGeom>
          <a:solidFill>
            <a:srgbClr val="D6ECF3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274320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2761488"/>
            <a:ext cx="4155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72768" y="3072384"/>
            <a:ext cx="4155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3547872"/>
            <a:ext cx="47045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树洞情绪识别、预警、个性化推荐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赛题对齐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数字疗愈与 AI 辅助支持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2450592"/>
            <a:ext cx="5344668" cy="2514600"/>
          </a:xfrm>
          <a:prstGeom prst="roundRect">
            <a:avLst>
              <a:gd name="adj" fmla="val 5091"/>
            </a:avLst>
          </a:prstGeom>
          <a:solidFill>
            <a:srgbClr val="FBEBE2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7396" y="2743200"/>
            <a:ext cx="566928" cy="56692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3196" y="2761488"/>
            <a:ext cx="4155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283196" y="3072384"/>
            <a:ext cx="4155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7396" y="3547872"/>
            <a:ext cx="47045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赛题对齐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疗愈师主体性与专业胜任力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193792"/>
            <a:ext cx="11055096" cy="749808"/>
          </a:xfrm>
          <a:prstGeom prst="roundRect">
            <a:avLst>
              <a:gd name="adj" fmla="val 14634"/>
            </a:avLst>
          </a:prstGeom>
          <a:solidFill>
            <a:srgbClr val="13293D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5193792"/>
            <a:ext cx="10506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　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市场靶向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 —— 谁最急需？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8996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1865376"/>
            <a:ext cx="2484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14016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将「线上秒回」列为第二大负担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9496" y="1627632"/>
            <a:ext cx="348996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5528" y="188366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460552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0744" y="1865376"/>
            <a:ext cx="2484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3816" y="2414016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业绩压力为主要负担（全行业第一）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23816" y="272491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2064" y="1627632"/>
            <a:ext cx="348996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8096" y="188366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8388096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73312" y="1865376"/>
            <a:ext cx="2484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06384" y="2414016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06384" y="272491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419856"/>
            <a:ext cx="348996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675888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08176" y="3657600"/>
            <a:ext cx="2484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" y="420624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 30%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" y="4517136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49496" y="3419856"/>
            <a:ext cx="348996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05528" y="3675888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4605528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90744" y="3657600"/>
            <a:ext cx="2484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23816" y="420624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餐饮服务员女性抑郁率 15%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23816" y="4517136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2064" y="3419856"/>
            <a:ext cx="348996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88096" y="3675888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6" name="Text 34"/>
          <p:cNvSpPr/>
          <p:nvPr/>
        </p:nvSpPr>
        <p:spPr>
          <a:xfrm>
            <a:off x="8388096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73312" y="3657600"/>
            <a:ext cx="2484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06384" y="420624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 小时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406384" y="4517136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6928" y="5358384"/>
            <a:ext cx="11055096" cy="640080"/>
          </a:xfrm>
          <a:prstGeom prst="roundRect">
            <a:avLst>
              <a:gd name="adj" fmla="val 14286"/>
            </a:avLst>
          </a:prstGeom>
          <a:solidFill>
            <a:srgbClr val="E4EFE7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358384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市场支撑　</a:t>
            </a:r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年南网数字集团、海南电网、长江电力等多家大型企业已公开采购员工心理关爱服务。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七大场景 —— 精准定义 AI 与疗愈的协同时刻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78824" y="685800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9061704" y="612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67544" y="685800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10250424" y="612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572768"/>
            <a:ext cx="11055096" cy="420624"/>
          </a:xfrm>
          <a:prstGeom prst="roundRect">
            <a:avLst>
              <a:gd name="adj" fmla="val 13043"/>
            </a:avLst>
          </a:prstGeom>
          <a:solidFill>
            <a:srgbClr val="1D3E52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57276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54096" y="1572768"/>
            <a:ext cx="41193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轨道的角色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92924" y="1572768"/>
            <a:ext cx="41193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疗愈轨道的角色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039112"/>
            <a:ext cx="11055096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03911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54096" y="203911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倾诉 + 自动推送资源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92924" y="203911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全员心理教育 + 自助工具包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633472"/>
            <a:ext cx="11055096" cy="548640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63347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54096" y="263347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识别焦虑、「被替代」关键词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92924" y="263347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正念工作坊 + 叙事疗愈小组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227832"/>
            <a:ext cx="11055096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22783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54096" y="322783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监测业绩高压倾诉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2924" y="322783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积极心理培训 + 跨团队小组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11055096" cy="548640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54096" y="382219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持续倾听 + 耗竭信号识别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92924" y="382219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+ 困境盲盒工作坊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416552"/>
            <a:ext cx="11055096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4165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054096" y="441655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追踪情绪耗竭 + 沟通焦虑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92924" y="441655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 工作坊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010912"/>
            <a:ext cx="11055096" cy="548640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501091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054096" y="501091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识别情绪崩溃风险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92924" y="501091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 + 正念 + 芳香疗愈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5605272"/>
            <a:ext cx="11055096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60527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054096" y="560527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识别社交隔离 + 疲劳分析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392924" y="5605272"/>
            <a:ext cx="411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 + 拳击课 + 心灵驿站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通用版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按情绪类型快速匹配疗愈活动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420624"/>
          </a:xfrm>
          <a:prstGeom prst="roundRect">
            <a:avLst>
              <a:gd name="adj" fmla="val 13043"/>
            </a:avLst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572768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62656" y="157276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54496" y="157276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46336" y="15727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3911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3911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62656" y="203911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赶工恐慌、心跳加速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54496" y="203911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46336" y="203911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分钟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615184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61518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62656" y="2615184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身心俱疲、情绪麻木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54496" y="2615184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46336" y="26151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191256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191256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62656" y="319125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强撑笑脸、情感透支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54496" y="319125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46336" y="319125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3767328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767328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62656" y="3767328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价值感丧失、存在性焦虑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54496" y="3767328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46336" y="37673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 × 4 次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4343400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34340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962656" y="4343400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肩颈僵硬、压抑愤怒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54496" y="4343400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46336" y="43434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491947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91947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962656" y="491947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团队凝聚力下降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54496" y="491947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546336" y="491947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504688"/>
            <a:ext cx="11055096" cy="512064"/>
          </a:xfrm>
          <a:prstGeom prst="roundRect">
            <a:avLst>
              <a:gd name="adj" fmla="val 17857"/>
            </a:avLst>
          </a:prstGeom>
          <a:solidFill>
            <a:srgbClr val="FBEBE2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504688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　</a:t>
            </a:r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每个活动均标注理论依据 —— MBSR、表达性艺术治疗、叙事疗愈、躯体疗法等。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行业版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六大行业精准痛点对标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420624"/>
          </a:xfrm>
          <a:prstGeom prst="roundRect">
            <a:avLst>
              <a:gd name="adj" fmla="val 13043"/>
            </a:avLst>
          </a:prstGeom>
          <a:solidFill>
            <a:srgbClr val="1D3E52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57276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79776" y="1572768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最核心痛点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97296" y="1572768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06256" y="15727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39112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3911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79776" y="203911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「怕被替代、怕赶不上」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97296" y="20391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06256" y="203911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可控与不可控拆解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65176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79776" y="2651760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「业绩压得喘不过气」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97296" y="265176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积极心理与管理提升培训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06256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264408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26440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79776" y="326440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「面对痛苦掏空了自己」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97296" y="32644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06256" y="3264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 · 不打断 · 不指导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877056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87705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79776" y="387705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「多重角色耗竭」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97296" y="387705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06256" y="38770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489704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48970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79776" y="448970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「强撑笑脸耗尽了我」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97296" y="448970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06256" y="44897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5102352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510235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79776" y="510235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「孤独扛着双重压力」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97296" y="510235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06256" y="51023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识别引擎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—— 轻量级情绪识别与预警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D6EC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0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AI 树洞？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700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在线匿名倾诉平台，员工通过企业微信 / 钉钉 / 小程序进入，完全匿名。真实案例：郑州高新区总工会 AI 树洞上线后累计响应超 1300 次。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EEF3F6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2916936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916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98448" y="2834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倾听与共情回应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承接员工情绪，让倾诉本身成为疗愈第一步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584448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3758184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3675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关键词识别与预警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39684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扫描情绪关键词，判定绿 / 黄 / 红等级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425696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EEF3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4599432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45171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资源自动推送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48097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根据预警等级推送匹配的疗愈资源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4768" y="1554480"/>
            <a:ext cx="5477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三级预警机制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44768" y="2011680"/>
            <a:ext cx="547725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2011680"/>
            <a:ext cx="146304" cy="932688"/>
          </a:xfrm>
          <a:prstGeom prst="roundRect">
            <a:avLst>
              <a:gd name="adj" fmla="val 31250"/>
            </a:avLst>
          </a:prstGeom>
          <a:solidFill>
            <a:srgbClr val="6FA28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7376" y="2286000"/>
            <a:ext cx="384048" cy="384048"/>
          </a:xfrm>
          <a:prstGeom prst="ellipse">
            <a:avLst/>
          </a:prstGeom>
          <a:solidFill>
            <a:srgbClr val="6FA287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2121408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49440" y="2395728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自动推送正念音频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3054096"/>
            <a:ext cx="547725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3054096"/>
            <a:ext cx="146304" cy="932688"/>
          </a:xfrm>
          <a:prstGeom prst="roundRect">
            <a:avLst>
              <a:gd name="adj" fmla="val 31250"/>
            </a:avLst>
          </a:prstGeom>
          <a:solidFill>
            <a:srgbClr val="F2A25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7376" y="3328416"/>
            <a:ext cx="384048" cy="384048"/>
          </a:xfrm>
          <a:prstGeom prst="ellipse">
            <a:avLst/>
          </a:prstGeom>
          <a:solidFill>
            <a:srgbClr val="F2A25C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16382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49440" y="3438144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 + 提醒 HRBP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4768" y="4096512"/>
            <a:ext cx="547725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4096512"/>
            <a:ext cx="146304" cy="932688"/>
          </a:xfrm>
          <a:prstGeom prst="roundRect">
            <a:avLst>
              <a:gd name="adj" fmla="val 31250"/>
            </a:avLst>
          </a:prstGeom>
          <a:solidFill>
            <a:srgbClr val="E07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6437376" y="4370832"/>
            <a:ext cx="384048" cy="38404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4206240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49440" y="4480560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立即转接专业咨询师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5468112"/>
            <a:ext cx="11055096" cy="548640"/>
          </a:xfrm>
          <a:prstGeom prst="roundRect">
            <a:avLst>
              <a:gd name="adj" fmla="val 16667"/>
            </a:avLst>
          </a:prstGeom>
          <a:solidFill>
            <a:srgbClr val="13293D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46811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　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预警 + 人工复核」闭环 —— AI 不自动定性任何员工，疗愈师 / HRBP 复核后再决定介入。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把情绪信号翻译成可执行的疗愈方案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258312" cy="1234440"/>
          </a:xfrm>
          <a:prstGeom prst="roundRect">
            <a:avLst>
              <a:gd name="adj" fmla="val 8889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37360"/>
            <a:ext cx="512064" cy="51206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8176" y="1773936"/>
            <a:ext cx="2252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信号识别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树洞捕捉情绪信号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274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 + 预警等级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53256" y="1517904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65320" y="1517904"/>
            <a:ext cx="3258312" cy="1234440"/>
          </a:xfrm>
          <a:prstGeom prst="roundRect">
            <a:avLst>
              <a:gd name="adj" fmla="val 8889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4776" y="1737360"/>
            <a:ext cx="512064" cy="512064"/>
          </a:xfrm>
          <a:prstGeom prst="ellipse">
            <a:avLst/>
          </a:prstGeom>
          <a:solidFill>
            <a:srgbClr val="6FA287"/>
          </a:solidFill>
          <a:ln/>
        </p:spPr>
      </p:sp>
      <p:sp>
        <p:nvSpPr>
          <p:cNvPr id="13" name="Text 11"/>
          <p:cNvSpPr/>
          <p:nvPr/>
        </p:nvSpPr>
        <p:spPr>
          <a:xfrm>
            <a:off x="4684776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6568" y="1773936"/>
            <a:ext cx="2252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方案匹配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21352" y="2304288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按标签 · 画像 · 行业匹配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1352" y="2487168"/>
            <a:ext cx="274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个性化推荐清单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51648" y="1517904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63712" y="1517904"/>
            <a:ext cx="3258312" cy="1234440"/>
          </a:xfrm>
          <a:prstGeom prst="roundRect">
            <a:avLst>
              <a:gd name="adj" fmla="val 8889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83168" y="1737360"/>
            <a:ext cx="512064" cy="51206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5831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04960" y="1773936"/>
            <a:ext cx="2252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触达执行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19744" y="2304288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自动推送 + 人工复核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19744" y="2487168"/>
            <a:ext cx="274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完整闭环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299923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活动映射示例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338328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1D3E52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338328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22576" y="33832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绿色推送（自助）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33832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黄色推荐（团体）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33832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红色介入（一对一）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3831336"/>
            <a:ext cx="11055096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38313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322576" y="3831336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三分钟呼吸着陆法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58968" y="3831336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595360" y="3831336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疗愈师一对一焦虑疏导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" y="4389120"/>
            <a:ext cx="11055096" cy="512064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38912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322576" y="4389120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工间身体扫描音频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58968" y="4389120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95360" y="4389120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疗愈师一对一能量修复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6928" y="4946904"/>
            <a:ext cx="11055096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494690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低落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2322576" y="4946904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每日三件好事打卡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58968" y="4946904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595360" y="4946904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疗愈师一对一意义重构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评估方式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效果可衡量、可验证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43230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得分（7 分）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2670048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5.5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6384" y="31455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3.2–3.8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38728" y="1975104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58184" y="243230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58184" y="2670048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58184" y="31455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35%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694176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" y="385876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415137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树洞使用率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438912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86384" y="486460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38728" y="3694176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58184" y="385876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58184" y="415137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58184" y="438912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758184" y="486460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93408" y="1572768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五层评估体系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93408" y="1975104"/>
            <a:ext cx="49286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2112264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6803136" y="211226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52944" y="2084832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87584" y="1975104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 / 周度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0" y="2779776"/>
            <a:ext cx="45994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67728" y="2916936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1B5E7E"/>
          </a:solidFill>
          <a:ln/>
        </p:spPr>
      </p:sp>
      <p:sp>
        <p:nvSpPr>
          <p:cNvPr id="33" name="Text 31"/>
          <p:cNvSpPr/>
          <p:nvPr/>
        </p:nvSpPr>
        <p:spPr>
          <a:xfrm>
            <a:off x="6967728" y="291693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17536" y="2889504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22992" y="2779776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每场活动后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22592" y="3584448"/>
            <a:ext cx="42702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3721608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6FA287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37216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882128" y="369417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0" y="3584448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/ 7 天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87184" y="4389120"/>
            <a:ext cx="3941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96912" y="4526280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F2A25C"/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4526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046720" y="44988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问卷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93808" y="438912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 / 季度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51776" y="5193792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5330952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E07A5F"/>
          </a:solidFill>
          <a:ln/>
        </p:spPr>
      </p:sp>
      <p:sp>
        <p:nvSpPr>
          <p:cNvPr id="48" name="Text 46"/>
          <p:cNvSpPr/>
          <p:nvPr/>
        </p:nvSpPr>
        <p:spPr>
          <a:xfrm>
            <a:off x="7461504" y="53309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11312" y="53035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 + 绩效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729216" y="5193792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 / 年度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D3E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双赢价值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896112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298948" cy="3429000"/>
          </a:xfrm>
          <a:prstGeom prst="roundRect">
            <a:avLst>
              <a:gd name="adj" fmla="val 3733"/>
            </a:avLst>
          </a:prstGeom>
          <a:solidFill>
            <a:srgbClr val="1B344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295144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95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18488" y="2331720"/>
            <a:ext cx="4018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评委的价值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16736" y="3108960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+ 轻量级推荐引擎，非实验室设想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385876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16736" y="3858768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隐私与伦理设计严谨：匿名化 · 人工复核 · 可退出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460857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16736" y="4608576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定位清晰：不做诊断，只做「吹哨」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23076" y="1965960"/>
            <a:ext cx="5298948" cy="3429000"/>
          </a:xfrm>
          <a:prstGeom prst="roundRect">
            <a:avLst>
              <a:gd name="adj" fmla="val 3733"/>
            </a:avLst>
          </a:prstGeom>
          <a:solidFill>
            <a:srgbClr val="3A2A24"/>
          </a:solidFill>
          <a:ln/>
        </p:spPr>
      </p:sp>
      <p:sp>
        <p:nvSpPr>
          <p:cNvPr id="16" name="Shape 14"/>
          <p:cNvSpPr/>
          <p:nvPr/>
        </p:nvSpPr>
        <p:spPr>
          <a:xfrm>
            <a:off x="6688836" y="2295144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688836" y="2295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74636" y="2331720"/>
            <a:ext cx="4018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EB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对疗愈评委的价值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07124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72884" y="3063240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工作坊有清晰疗愈理论基础：巴林特 · 奥尔夫 · 叙事 · MBSR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07124" y="364845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72884" y="3648456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疗愈师角色被充分定义，AI 不替代疗愈师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07124" y="42336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72884" y="4233672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六大行业差异化活动设计，非模板化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07124" y="48188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72884" y="4818888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IAOTH 认证与伦理对齐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+ 疗愈轨道　·　让疗愈服务在关键时刻可及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 AI + 疗愈轨道</dc:title>
  <dc:subject>企业员工心理安全与成长共生系统</dc:subject>
  <dc:creator>MindBridge AI Team</dc:creator>
  <cp:lastModifiedBy>MindBridge AI Team</cp:lastModifiedBy>
  <cp:revision>1</cp:revision>
  <dcterms:created xsi:type="dcterms:W3CDTF">2026-07-14T14:24:47Z</dcterms:created>
  <dcterms:modified xsi:type="dcterms:W3CDTF">2026-07-14T14:24:47Z</dcterms:modified>
</cp:coreProperties>
</file>