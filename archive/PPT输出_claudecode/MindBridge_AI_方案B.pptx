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我们带来的不是单纯的AI工具，也不是传统的EAP服务，而是一个AI预警与推荐 + 疗愈师深度陪伴的双轨系统。AI不替代疗愈，而是让疗愈服务在关键时刻可及。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双轨并行：AI负责广度识别与推荐，疗愈师负责深度转化。AI不做诊断，只做读数和吹哨，真正的疗愈由疗愈师完成。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左侧六大高内耗行业按采购优先级排序，右侧七大应用场景对应AI轨道与疗愈轨道的协同角色。2025年已有大型企业公开采购员工心理关爱服务。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通用版按六种情绪类型快速匹配疗愈活动，每个活动都有明确的理论依据支撑，非随意拼凑。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行业版针对六大行业各自最核心的痛点，配置差异化首选活动与关键环节设计，体现非模板化。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AI树洞采用轻量级四层架构：前端小程序、对话引擎、规则引擎、匿名化数据层。核心设计原则是隐私优先，不存储身份信息，仅提取情绪标签。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AI在树洞中做三件事，配合绿黄红三级预警。每级都有明确的AI自动动作和人工介入节点，红色预警EAP专员2小时内电话确认。核心是AI预警加人工复核的闭环。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推荐引擎三步转化：信号识别、方案匹配、触达执行。情绪标签按绿黄红三级映射到自助、团体、一对一活动。个性化推荐结合员工画像、情绪轨迹、参与历史三个维度。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预期效果覆盖心理安全、留任意向、疗愈覆盖、疗愈效果四大维度，均有明确基线与目标。五层评估体系从使用率到长期影响，工具与频次清晰，效果可衡量可验证。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双赢价值总结：对AI评委，方案真实可落地、隐私伦理严谨、AI定位清晰；对疗愈评委，理论基础扎实、疗愈师主体性明确、行业差异化、与IAOTH对齐。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D3E52"/>
          </a:solidFill>
          <a:ln/>
        </p:spPr>
      </p:sp>
      <p:sp>
        <p:nvSpPr>
          <p:cNvPr id="3" name="Shape 1"/>
          <p:cNvSpPr/>
          <p:nvPr/>
        </p:nvSpPr>
        <p:spPr>
          <a:xfrm>
            <a:off x="4677156" y="2148840"/>
            <a:ext cx="1371600" cy="1371600"/>
          </a:xfrm>
          <a:prstGeom prst="ellipse">
            <a:avLst/>
          </a:prstGeom>
          <a:ln w="76200">
            <a:solidFill>
              <a:srgbClr val="E07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40196" y="2148840"/>
            <a:ext cx="1371600" cy="1371600"/>
          </a:xfrm>
          <a:prstGeom prst="ellipse">
            <a:avLst/>
          </a:prstGeom>
          <a:ln w="762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6460" y="2679192"/>
            <a:ext cx="310896" cy="310896"/>
          </a:xfrm>
          <a:prstGeom prst="ellipse">
            <a:avLst/>
          </a:prstGeom>
          <a:solidFill>
            <a:srgbClr val="F2A25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2296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国际疗愈师赛题  ×  AI 应用创新赛道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3886200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0" y="4736592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 疗愈轨道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0" y="5440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100" kern="0" dirty="0">
                <a:solidFill>
                  <a:srgbClr val="9FB2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不替代疗愈，而是让疗愈服务在关键时刻可及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 · 双轨定位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负责广度，疗愈负责深度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713232"/>
          </a:xfrm>
          <a:prstGeom prst="roundRect">
            <a:avLst>
              <a:gd name="adj" fmla="val 12821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481328"/>
            <a:ext cx="10597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pPr indent="0" marL="0">
              <a:buNone/>
            </a:pPr>
            <a:r>
              <a:rPr lang="en-US" sz="13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员工要么不敢求助，要么求助后只得到「治标不治本」的话术。本方案创造性提出 </a:t>
            </a:r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预警与推荐 + 疗愈师深度陪伴」</a:t>
            </a:r>
            <a:pPr indent="0" marL="0">
              <a:buNone/>
            </a:pPr>
            <a:r>
              <a:rPr lang="en-US" sz="13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双轨模型。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450592"/>
            <a:ext cx="5344668" cy="2514600"/>
          </a:xfrm>
          <a:prstGeom prst="roundRect">
            <a:avLst>
              <a:gd name="adj" fmla="val 5091"/>
            </a:avLst>
          </a:prstGeom>
          <a:solidFill>
            <a:srgbClr val="D6ECF3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274320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2761488"/>
            <a:ext cx="4155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72768" y="3072384"/>
            <a:ext cx="4155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3547872"/>
            <a:ext cx="47045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　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树洞情绪识别、预警、个性化推荐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赛题对齐　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数字疗愈与 AI 辅助支持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2450592"/>
            <a:ext cx="5344668" cy="2514600"/>
          </a:xfrm>
          <a:prstGeom prst="roundRect">
            <a:avLst>
              <a:gd name="adj" fmla="val 5091"/>
            </a:avLst>
          </a:prstGeom>
          <a:solidFill>
            <a:srgbClr val="FBEBE2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7396" y="2743200"/>
            <a:ext cx="566928" cy="56692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3196" y="2761488"/>
            <a:ext cx="4155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283196" y="3072384"/>
            <a:ext cx="4155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97396" y="3547872"/>
            <a:ext cx="47045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　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赛题对齐　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疗愈师主体性与专业胜任力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193792"/>
            <a:ext cx="11055096" cy="749808"/>
          </a:xfrm>
          <a:prstGeom prst="roundRect">
            <a:avLst>
              <a:gd name="adj" fmla="val 14634"/>
            </a:avLst>
          </a:prstGeom>
          <a:solidFill>
            <a:srgbClr val="13293D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5193792"/>
            <a:ext cx="10506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　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不做诊断，只做「读数」和「吹哨」；真正的疗愈由疗愈师完成。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市场靶向 + 应用场景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六大高内耗行业靶向 + 七大应用场景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4297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38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30168" y="19385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41448" y="19385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 将「线上秒回」列为第二大负担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523744"/>
            <a:ext cx="4297680" cy="512064"/>
          </a:xfrm>
          <a:prstGeom prst="roundRect">
            <a:avLst>
              <a:gd name="adj" fmla="val 10714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237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30168" y="252374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41448" y="252374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 业绩压力为主要负担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108960"/>
            <a:ext cx="4297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089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30168" y="310896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41448" y="31089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694176"/>
            <a:ext cx="4297680" cy="512064"/>
          </a:xfrm>
          <a:prstGeom prst="roundRect">
            <a:avLst>
              <a:gd name="adj" fmla="val 10714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941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30168" y="369417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41448" y="369417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 30%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4279392"/>
            <a:ext cx="4297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793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30168" y="427939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41448" y="427939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餐饮服务员女性抑郁率 15%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864608"/>
            <a:ext cx="4297680" cy="512064"/>
          </a:xfrm>
          <a:prstGeom prst="roundRect">
            <a:avLst>
              <a:gd name="adj" fmla="val 10714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64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30168" y="48646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41448" y="486460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 小时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30368" y="1517904"/>
            <a:ext cx="6391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七大应用场景（AI 轨道 · 疗愈轨道）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230368" y="1938528"/>
            <a:ext cx="63916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193852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通用预防型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13448" y="2148840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/>
          <p:nvPr/>
        </p:nvSpPr>
        <p:spPr>
          <a:xfrm>
            <a:off x="7168896" y="1938528"/>
            <a:ext cx="21442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 倾诉 + 自动推送资源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386316" y="2148840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9541764" y="1938528"/>
            <a:ext cx="20071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全员心理教育 + 自助工具包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230368" y="2478024"/>
            <a:ext cx="6391656" cy="512064"/>
          </a:xfrm>
          <a:prstGeom prst="roundRect">
            <a:avLst>
              <a:gd name="adj" fmla="val 10714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247802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13448" y="2688336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9" name="Text 37"/>
          <p:cNvSpPr/>
          <p:nvPr/>
        </p:nvSpPr>
        <p:spPr>
          <a:xfrm>
            <a:off x="7168896" y="2478024"/>
            <a:ext cx="21442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识别焦虑、「被替代」关键词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386316" y="2688336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9541764" y="2478024"/>
            <a:ext cx="20071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正念工作坊 + 叙事疗愈小组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230368" y="3017520"/>
            <a:ext cx="63916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6672" y="301752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13448" y="3227832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5" name="Text 43"/>
          <p:cNvSpPr/>
          <p:nvPr/>
        </p:nvSpPr>
        <p:spPr>
          <a:xfrm>
            <a:off x="7168896" y="3017520"/>
            <a:ext cx="21442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监测业绩高压倾诉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9386316" y="3227832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9541764" y="3017520"/>
            <a:ext cx="20071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积极心理培训 + 跨团队小组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230368" y="3557016"/>
            <a:ext cx="6391656" cy="512064"/>
          </a:xfrm>
          <a:prstGeom prst="roundRect">
            <a:avLst>
              <a:gd name="adj" fmla="val 10714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76672" y="355701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013448" y="3767328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1" name="Text 49"/>
          <p:cNvSpPr/>
          <p:nvPr/>
        </p:nvSpPr>
        <p:spPr>
          <a:xfrm>
            <a:off x="7168896" y="3557016"/>
            <a:ext cx="21442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持续倾听 + 耗竭信号识别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9386316" y="3767328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9541764" y="3557016"/>
            <a:ext cx="20071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 + 困境盲盒工作坊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5230368" y="4096512"/>
            <a:ext cx="63916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76672" y="409651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013448" y="4306824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7" name="Text 55"/>
          <p:cNvSpPr/>
          <p:nvPr/>
        </p:nvSpPr>
        <p:spPr>
          <a:xfrm>
            <a:off x="7168896" y="4096512"/>
            <a:ext cx="21442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追踪情绪耗竭 + 沟通焦虑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9386316" y="4306824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9" name="Text 57"/>
          <p:cNvSpPr/>
          <p:nvPr/>
        </p:nvSpPr>
        <p:spPr>
          <a:xfrm>
            <a:off x="9541764" y="4096512"/>
            <a:ext cx="20071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 + ABC 工作坊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5230368" y="4636008"/>
            <a:ext cx="6391656" cy="512064"/>
          </a:xfrm>
          <a:prstGeom prst="roundRect">
            <a:avLst>
              <a:gd name="adj" fmla="val 10714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76672" y="46360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013448" y="4846320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3" name="Text 61"/>
          <p:cNvSpPr/>
          <p:nvPr/>
        </p:nvSpPr>
        <p:spPr>
          <a:xfrm>
            <a:off x="7168896" y="4636008"/>
            <a:ext cx="21442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识别情绪崩溃风险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9386316" y="4846320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65" name="Text 63"/>
          <p:cNvSpPr/>
          <p:nvPr/>
        </p:nvSpPr>
        <p:spPr>
          <a:xfrm>
            <a:off x="9541764" y="4636008"/>
            <a:ext cx="20071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 + 正念 + 芳香疗愈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5230368" y="5175504"/>
            <a:ext cx="639165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76672" y="517550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013448" y="5385816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9" name="Text 67"/>
          <p:cNvSpPr/>
          <p:nvPr/>
        </p:nvSpPr>
        <p:spPr>
          <a:xfrm>
            <a:off x="7168896" y="5175504"/>
            <a:ext cx="21442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识别社交隔离 + 疲劳分析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9386316" y="5385816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71" name="Text 69"/>
          <p:cNvSpPr/>
          <p:nvPr/>
        </p:nvSpPr>
        <p:spPr>
          <a:xfrm>
            <a:off x="9541764" y="5175504"/>
            <a:ext cx="20071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 + 拳击课 + 心灵驿站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通用版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按情绪类型快速匹配疗愈活动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420624"/>
          </a:xfrm>
          <a:prstGeom prst="roundRect">
            <a:avLst>
              <a:gd name="adj" fmla="val 13043"/>
            </a:avLst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572768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情绪类型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62656" y="157276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54496" y="157276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推荐活动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46336" y="15727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39112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03911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焦虑紧张型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62656" y="2039112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赶工恐慌、心跳加速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54496" y="2039112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46336" y="203911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分钟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615184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61518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耗竭疲惫型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62656" y="2615184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身心俱疲、情绪麻木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54496" y="2615184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46336" y="261518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191256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191256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62656" y="319125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强撑笑脸、情感透支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54496" y="3191256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艺术疗愈工作坊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46336" y="319125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3767328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767328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孤独无意义型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962656" y="3767328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价值感丧失、存在性焦虑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54496" y="3767328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46336" y="37673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 × 4 次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4343400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34340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躯体紧张型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962656" y="4343400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肩颈僵硬、压抑愤怒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54496" y="4343400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身体觉知与释放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46336" y="43434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4919472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91947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预防型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962656" y="4919472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团队凝聚力下降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54496" y="4919472"/>
            <a:ext cx="3072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心理嘉年华游园会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546336" y="491947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5504688"/>
            <a:ext cx="11055096" cy="512064"/>
          </a:xfrm>
          <a:prstGeom prst="roundRect">
            <a:avLst>
              <a:gd name="adj" fmla="val 17857"/>
            </a:avLst>
          </a:prstGeom>
          <a:solidFill>
            <a:srgbClr val="FBEBE2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504688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　</a:t>
            </a:r>
            <a:pPr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每个活动均标注理论依据 —— MBSR、表达性艺术治疗、叙事疗愈、躯体疗法等。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行业版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六大行业精准痛点对标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420624"/>
          </a:xfrm>
          <a:prstGeom prst="roundRect">
            <a:avLst>
              <a:gd name="adj" fmla="val 13043"/>
            </a:avLst>
          </a:prstGeom>
          <a:solidFill>
            <a:srgbClr val="1D3E52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57276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79776" y="1572768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最核心痛点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97296" y="1572768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首选活动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06256" y="15727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39112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03911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79776" y="203911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「怕被替代、怕赶不上」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97296" y="20391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06256" y="203911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可控与不可控拆解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65176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79776" y="2651760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「业绩压得喘不过气」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97296" y="265176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积极心理与管理提升培训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06256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264408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264408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79776" y="326440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「面对痛苦掏空了自己」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97296" y="32644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06256" y="3264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 · 不打断 · 不指导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877056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877056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79776" y="387705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「多重角色耗竭」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97296" y="387705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06256" y="38770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简易乐器合奏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489704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48970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79776" y="448970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「强撑笑脸耗尽了我」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97296" y="448970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06256" y="44897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花材选择 + 创作命名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5102352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510235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79776" y="510235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「孤独扛着双重压力」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97296" y="510235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06256" y="51023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团队沙盘共创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树洞识别（一）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AI 树洞为核心的轻量级识别方式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D6ECF3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556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AI 树洞？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0848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 在线匿名倾诉平台，员工通过企业微信 / 钉钉 / 小程序即可进入 —— 无需登录、不记录身份、不留痕迹。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3172968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E4EFE7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17296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郑州高新区总工会心理健康智慧化平台接入 AI 大模型，上线后累计响应职工诉求超 1300 次。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315968"/>
            <a:ext cx="4937760" cy="1170432"/>
          </a:xfrm>
          <a:prstGeom prst="roundRect">
            <a:avLst>
              <a:gd name="adj" fmla="val 9375"/>
            </a:avLst>
          </a:prstGeom>
          <a:solidFill>
            <a:srgbClr val="1329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44439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核心设计原则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473659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5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不存储任何可识别身份的信息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5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对话记录不保存原文，仅提取情绪标签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5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员工可随时清空所有历史记录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6168" y="1572768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 · 轻量级四层架构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16168" y="2029968"/>
            <a:ext cx="5705856" cy="786384"/>
          </a:xfrm>
          <a:prstGeom prst="roundRect">
            <a:avLst>
              <a:gd name="adj" fmla="val 1162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21945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2148840"/>
            <a:ext cx="4014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 / H5 页面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52360" y="245973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扫码即入，无需登录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16168" y="2926080"/>
            <a:ext cx="5705856" cy="786384"/>
          </a:xfrm>
          <a:prstGeom prst="roundRect">
            <a:avLst>
              <a:gd name="adj" fmla="val 1162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3090672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B5E7E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30906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对话引擎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3044952"/>
            <a:ext cx="4014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通义千问等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2360" y="335584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共情式对话能力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16168" y="3822192"/>
            <a:ext cx="5705856" cy="786384"/>
          </a:xfrm>
          <a:prstGeom prst="roundRect">
            <a:avLst>
              <a:gd name="adj" fmla="val 1162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3986784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6FA287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39867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2360" y="3941064"/>
            <a:ext cx="4014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轻量级关键词匹配库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4251960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识别情绪信号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16168" y="4718304"/>
            <a:ext cx="5705856" cy="786384"/>
          </a:xfrm>
          <a:prstGeom prst="roundRect">
            <a:avLst>
              <a:gd name="adj" fmla="val 1162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4882896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D3E52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48828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4837176"/>
            <a:ext cx="4014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匿名化存储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52360" y="5148072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仅存储情绪标签统计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树洞识别（二）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做什么 + 三级预警机制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02152" cy="841248"/>
          </a:xfrm>
          <a:prstGeom prst="roundRect">
            <a:avLst>
              <a:gd name="adj" fmla="val 13043"/>
            </a:avLst>
          </a:prstGeom>
          <a:solidFill>
            <a:srgbClr val="D6ECF3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70078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609344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倾听与共情回应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53312" y="192024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让倾诉本身成为疗愈第一步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517904"/>
            <a:ext cx="3502152" cy="841248"/>
          </a:xfrm>
          <a:prstGeom prst="roundRect">
            <a:avLst>
              <a:gd name="adj" fmla="val 13043"/>
            </a:avLst>
          </a:prstGeom>
          <a:solidFill>
            <a:srgbClr val="D6ECF3"/>
          </a:solidFill>
          <a:ln/>
        </p:spPr>
      </p:sp>
      <p:sp>
        <p:nvSpPr>
          <p:cNvPr id="10" name="Shape 8"/>
          <p:cNvSpPr/>
          <p:nvPr/>
        </p:nvSpPr>
        <p:spPr>
          <a:xfrm>
            <a:off x="4562856" y="170078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9784" y="1609344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关键词识别与预警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9784" y="192024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扫描情绪关键词判定等级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9872" y="1517904"/>
            <a:ext cx="3502152" cy="841248"/>
          </a:xfrm>
          <a:prstGeom prst="roundRect">
            <a:avLst>
              <a:gd name="adj" fmla="val 13043"/>
            </a:avLst>
          </a:prstGeom>
          <a:solidFill>
            <a:srgbClr val="D6EC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170078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06256" y="1609344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资源自动推送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06256" y="192024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按等级推送匹配疗愈资源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542032"/>
            <a:ext cx="11055096" cy="420624"/>
          </a:xfrm>
          <a:prstGeom prst="roundRect">
            <a:avLst>
              <a:gd name="adj" fmla="val 13043"/>
            </a:avLst>
          </a:prstGeom>
          <a:solidFill>
            <a:srgbClr val="1D3E52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2542032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0784" y="254203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关键词示例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52544" y="2542032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自动触发动作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75904" y="254203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人工介入节点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017520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017520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6FA287"/>
          </a:solidFill>
          <a:ln/>
        </p:spPr>
      </p:sp>
      <p:sp>
        <p:nvSpPr>
          <p:cNvPr id="26" name="Shape 24"/>
          <p:cNvSpPr/>
          <p:nvPr/>
        </p:nvSpPr>
        <p:spPr>
          <a:xfrm>
            <a:off x="896112" y="3264408"/>
            <a:ext cx="292608" cy="292608"/>
          </a:xfrm>
          <a:prstGeom prst="ellipse">
            <a:avLst/>
          </a:prstGeom>
          <a:solidFill>
            <a:srgbClr val="6FA287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429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00784" y="3017520"/>
            <a:ext cx="2414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「好累」「压力大」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52544" y="3017520"/>
            <a:ext cx="3785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自动推送正念音频 / 呼吸练习链接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75904" y="3017520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无需人工介入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3858768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3858768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F2A25C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105656"/>
            <a:ext cx="292608" cy="292608"/>
          </a:xfrm>
          <a:prstGeom prst="ellipse">
            <a:avLst/>
          </a:prstGeom>
          <a:solidFill>
            <a:srgbClr val="F2A25C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270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00784" y="3858768"/>
            <a:ext cx="2414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52544" y="3858768"/>
            <a:ext cx="3785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推送资源 + 提醒 HRBP 关注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75904" y="3858768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 查看该员工近期整体状态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4700016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" y="4700016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E07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896112" y="4946904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" y="5111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700784" y="4700016"/>
            <a:ext cx="2414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52544" y="4700016"/>
            <a:ext cx="3785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立即转接专业咨询师 + 通知 EAP 专员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75904" y="4700016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EAP 专员 2 小时内电话确认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6928" y="5577840"/>
            <a:ext cx="11055096" cy="566928"/>
          </a:xfrm>
          <a:prstGeom prst="roundRect">
            <a:avLst>
              <a:gd name="adj" fmla="val 16129"/>
            </a:avLst>
          </a:prstGeom>
          <a:solidFill>
            <a:srgbClr val="13293D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557784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　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预警后必须经人工复核，疗愈师或 HRBP 确认后再决定是否介入 —— AI 不自动定性任何员工。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把情绪信号翻译成可执行的疗愈方案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258312" cy="1234440"/>
          </a:xfrm>
          <a:prstGeom prst="roundRect">
            <a:avLst>
              <a:gd name="adj" fmla="val 8889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37360"/>
            <a:ext cx="512064" cy="51206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8176" y="1773936"/>
            <a:ext cx="2252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信号识别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274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树洞捕捉情绪信号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274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情绪标签 + 预警等级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53256" y="1517904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65320" y="1517904"/>
            <a:ext cx="3258312" cy="1234440"/>
          </a:xfrm>
          <a:prstGeom prst="roundRect">
            <a:avLst>
              <a:gd name="adj" fmla="val 8889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4776" y="1737360"/>
            <a:ext cx="512064" cy="512064"/>
          </a:xfrm>
          <a:prstGeom prst="ellipse">
            <a:avLst/>
          </a:prstGeom>
          <a:solidFill>
            <a:srgbClr val="6FA287"/>
          </a:solidFill>
          <a:ln/>
        </p:spPr>
      </p:sp>
      <p:sp>
        <p:nvSpPr>
          <p:cNvPr id="13" name="Text 11"/>
          <p:cNvSpPr/>
          <p:nvPr/>
        </p:nvSpPr>
        <p:spPr>
          <a:xfrm>
            <a:off x="4684776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6568" y="1773936"/>
            <a:ext cx="2252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方案匹配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21352" y="2304288"/>
            <a:ext cx="274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按标签 · 画像 · 行业匹配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1352" y="2487168"/>
            <a:ext cx="274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个性化推荐清单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51648" y="1517904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63712" y="1517904"/>
            <a:ext cx="3258312" cy="1234440"/>
          </a:xfrm>
          <a:prstGeom prst="roundRect">
            <a:avLst>
              <a:gd name="adj" fmla="val 8889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83168" y="1737360"/>
            <a:ext cx="512064" cy="51206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5831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04960" y="1773936"/>
            <a:ext cx="2252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触达执行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19744" y="2304288"/>
            <a:ext cx="274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自动推送 + 人工复核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19744" y="2487168"/>
            <a:ext cx="274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完整闭环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299923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→ 活动映射示例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338328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1D3E52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338328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22576" y="33832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绿色推送（自助）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33832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黄色推荐（团体）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33832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红色介入（一对一）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3831336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3831336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22576" y="383133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三分钟呼吸着陆法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58968" y="383133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383133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疗愈师一对一焦虑疏导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4279392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EEF3F6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27939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22576" y="427939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工间身体扫描音频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58968" y="427939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95360" y="427939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疗愈师一对一能量修复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4727448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4727448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低落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22576" y="4727448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每日三件好事打卡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58968" y="4727448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95360" y="4727448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疗愈师一对一意义重构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" y="528523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个性化推荐逻辑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66928" y="5614416"/>
            <a:ext cx="3502152" cy="786384"/>
          </a:xfrm>
          <a:prstGeom prst="roundRect">
            <a:avLst>
              <a:gd name="adj" fmla="val 11628"/>
            </a:avLst>
          </a:prstGeom>
          <a:solidFill>
            <a:srgbClr val="D6ECF3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568756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员工画像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49808" y="592531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 · 部门 · 职级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程序员推线上资源；工人推线下活动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4343400" y="5614416"/>
            <a:ext cx="3502152" cy="786384"/>
          </a:xfrm>
          <a:prstGeom prst="roundRect">
            <a:avLst>
              <a:gd name="adj" fmla="val 11628"/>
            </a:avLst>
          </a:prstGeom>
          <a:solidFill>
            <a:srgbClr val="D6ECF3"/>
          </a:solidFill>
          <a:ln/>
        </p:spPr>
      </p:sp>
      <p:sp>
        <p:nvSpPr>
          <p:cNvPr id="50" name="Text 48"/>
          <p:cNvSpPr/>
          <p:nvPr/>
        </p:nvSpPr>
        <p:spPr>
          <a:xfrm>
            <a:off x="4526280" y="568756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情绪轨迹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526280" y="592531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30 天情绪标签变化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持续疲惫→能量唤醒；突发焦虑→正念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8119872" y="5614416"/>
            <a:ext cx="3502152" cy="786384"/>
          </a:xfrm>
          <a:prstGeom prst="roundRect">
            <a:avLst>
              <a:gd name="adj" fmla="val 11628"/>
            </a:avLst>
          </a:prstGeom>
          <a:solidFill>
            <a:srgbClr val="D6ECF3"/>
          </a:solidFill>
          <a:ln/>
        </p:spPr>
      </p:sp>
      <p:sp>
        <p:nvSpPr>
          <p:cNvPr id="53" name="Text 51"/>
          <p:cNvSpPr/>
          <p:nvPr/>
        </p:nvSpPr>
        <p:spPr>
          <a:xfrm>
            <a:off x="8302752" y="568756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参与历史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302752" y="592531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过往活动参与反馈
</a:t>
            </a:r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正念好评者优先推送进阶叙事疗愈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 · 评估方式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效果可衡量、可验证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预期效果总览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13969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43230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得分（7 分）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2670048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5.5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6384" y="314553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3.2–3.8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38728" y="1975104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213969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留任意向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58184" y="243230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主动离职率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58184" y="2670048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58184" y="314553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35%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694176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" y="385876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疗愈覆盖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" y="415137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树洞使用率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438912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86384" y="486460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0%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38728" y="3694176"/>
            <a:ext cx="2697480" cy="1481328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38100" dir="5400000">
              <a:srgbClr val="8899A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58184" y="385876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疗愈效果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58184" y="415137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情绪改善比例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58184" y="438912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60%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758184" y="486460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0%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93408" y="1572768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五层评估体系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93408" y="1975104"/>
            <a:ext cx="49286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2112264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6803136" y="211226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52944" y="2084832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87584" y="1975104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 / 周度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0" y="2779776"/>
            <a:ext cx="45994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67728" y="2916936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1B5E7E"/>
          </a:solidFill>
          <a:ln/>
        </p:spPr>
      </p:sp>
      <p:sp>
        <p:nvSpPr>
          <p:cNvPr id="33" name="Text 31"/>
          <p:cNvSpPr/>
          <p:nvPr/>
        </p:nvSpPr>
        <p:spPr>
          <a:xfrm>
            <a:off x="6967728" y="291693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17536" y="2889504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22992" y="2779776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每场活动后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22592" y="3584448"/>
            <a:ext cx="42702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3721608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6FA287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372160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882128" y="3694176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简讯随访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0" y="3584448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/ 7 天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87184" y="4389120"/>
            <a:ext cx="3941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96912" y="4526280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F2A25C"/>
          </a:solidFill>
          <a:ln/>
        </p:spPr>
      </p:sp>
      <p:sp>
        <p:nvSpPr>
          <p:cNvPr id="43" name="Text 41"/>
          <p:cNvSpPr/>
          <p:nvPr/>
        </p:nvSpPr>
        <p:spPr>
          <a:xfrm>
            <a:off x="7296912" y="45262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046720" y="44988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中期效果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问卷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93808" y="438912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 / 季度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351776" y="5193792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0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5330952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E07A5F"/>
          </a:solidFill>
          <a:ln/>
        </p:spPr>
      </p:sp>
      <p:sp>
        <p:nvSpPr>
          <p:cNvPr id="48" name="Text 46"/>
          <p:cNvSpPr/>
          <p:nvPr/>
        </p:nvSpPr>
        <p:spPr>
          <a:xfrm>
            <a:off x="7461504" y="53309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211312" y="53035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　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离职率 + 绩效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729216" y="5193792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 / 年度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D3E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双赢价值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896112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298948" cy="3429000"/>
          </a:xfrm>
          <a:prstGeom prst="roundRect">
            <a:avLst>
              <a:gd name="adj" fmla="val 3733"/>
            </a:avLst>
          </a:prstGeom>
          <a:solidFill>
            <a:srgbClr val="1B344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295144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95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18488" y="2331720"/>
            <a:ext cx="4018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评委的价值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16736" y="3108960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+ 轻量级推荐引擎，非实验室设想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385876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16736" y="3858768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隐私与伦理设计严谨：匿名化 · 人工复核 · 可退出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460857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16736" y="4608576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定位清晰：不做诊断，只做「吹哨」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23076" y="1965960"/>
            <a:ext cx="5298948" cy="3429000"/>
          </a:xfrm>
          <a:prstGeom prst="roundRect">
            <a:avLst>
              <a:gd name="adj" fmla="val 3733"/>
            </a:avLst>
          </a:prstGeom>
          <a:solidFill>
            <a:srgbClr val="3A2A24"/>
          </a:solidFill>
          <a:ln/>
        </p:spPr>
      </p:sp>
      <p:sp>
        <p:nvSpPr>
          <p:cNvPr id="16" name="Shape 14"/>
          <p:cNvSpPr/>
          <p:nvPr/>
        </p:nvSpPr>
        <p:spPr>
          <a:xfrm>
            <a:off x="6688836" y="2295144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688836" y="2295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74636" y="2331720"/>
            <a:ext cx="4018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EB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对疗愈评委的价值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07124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72884" y="3063240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工作坊有清晰疗愈理论基础：巴林特 · 奥尔夫 · 叙事 · MBSR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07124" y="364845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72884" y="3648456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疗愈师角色被充分定义，AI 不替代疗愈师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07124" y="42336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72884" y="4233672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六大行业差异化活动设计，非模板化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07124" y="481888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72884" y="4818888"/>
            <a:ext cx="4247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IAOTH 认证与伦理对齐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0" y="5806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A2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+ 疗愈轨道　·　让疗愈服务在关键时刻可及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MindBridge AI + 疗愈轨道</dc:title>
  <dc:subject>企业员工心理安全与成长共生系统</dc:subject>
  <dc:creator>MindBridge AI Team</dc:creator>
  <cp:lastModifiedBy>MindBridge AI Team</cp:lastModifiedBy>
  <cp:revision>1</cp:revision>
  <dcterms:created xsi:type="dcterms:W3CDTF">2026-07-14T14:24:47Z</dcterms:created>
  <dcterms:modified xsi:type="dcterms:W3CDTF">2026-07-14T14:24:47Z</dcterms:modified>
</cp:coreProperties>
</file>