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我们带来的不是单纯的AI工具，也不是传统的EAP服务，而是一个AI预警与推荐 + 疗愈师深度陪伴的双轨系统。AI不替代疗愈，而是让疗愈服务在关键时刻可及。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双轨并行：AI负责广度识别与推荐，疗愈师负责深度转化。AI不做诊断，只做读数和吹哨，真正的疗愈由疗愈师完成。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左侧六大高内耗行业按采购优先级排序，右侧七大应用场景对应AI轨道与疗愈轨道的协同角色。2025年已有大型企业公开采购员工心理关爱服务。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通用版按六种情绪类型快速匹配疗愈活动，每个活动都有明确的理论依据支撑，非随意拼凑。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行业版针对六大行业各自最核心的痛点，配置差异化首选活动与关键环节设计，体现非模板化。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AI树洞采用轻量级四层架构：前端小程序、对话引擎、规则引擎、匿名化数据层。核心设计原则是隐私优先，不存储身份信息，仅提取情绪标签。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AI在树洞中做三件事，配合绿黄红三级预警。每级都有明确的AI自动动作和人工介入节点，红色预警EAP专员2小时内电话确认。核心是AI预警加人工复核的闭环。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推荐引擎三步转化：信号识别、方案匹配、触达执行。情绪标签按绿黄红三级映射到自助、团体、一对一活动。个性化推荐结合员工画像、情绪轨迹、参与历史三个维度。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预期效果覆盖心理安全、留任意向、疗愈覆盖、疗愈效果四大维度，均有明确基线与目标。五层评估体系从使用率到长期影响，工具与频次清晰，效果可衡量可验证。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双赢价值总结：对AI评委，方案真实可落地、隐私伦理严谨、AI定位清晰；对疗愈评委，理论基础扎实、疗愈师主体性明确、行业差异化、与IAOTH对齐。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3" name="Shape 1"/>
          <p:cNvSpPr/>
          <p:nvPr/>
        </p:nvSpPr>
        <p:spPr>
          <a:xfrm>
            <a:off x="4539996" y="1920240"/>
            <a:ext cx="1463040" cy="1463040"/>
          </a:xfrm>
          <a:prstGeom prst="ellipse">
            <a:avLst/>
          </a:prstGeom>
          <a:ln w="88900">
            <a:solidFill>
              <a:srgbClr val="E07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85916" y="1920240"/>
            <a:ext cx="1463040" cy="1463040"/>
          </a:xfrm>
          <a:prstGeom prst="ellipse">
            <a:avLst/>
          </a:prstGeom>
          <a:ln w="8890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8172" y="2450592"/>
            <a:ext cx="292608" cy="29260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5637276" y="2834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双轨交汇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0" y="731520"/>
            <a:ext cx="1218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300" kern="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企业疗愈力与 EAP 创新挑战赛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0" y="374904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0" y="45720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 疗 愈 轨 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0" y="525780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spc="150" kern="0" dirty="0">
                <a:solidFill>
                  <a:srgbClr val="9FB2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企业员工心理安全与成长共生系统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0" y="589788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89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不替代疗愈，而是让疗愈服务在关键时刻可及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73152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6576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核心创意 · 双轨定位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58368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双轨并行 —— AI 负责广度，疗愈负责深度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5096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25880"/>
            <a:ext cx="109728" cy="65836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25880"/>
            <a:ext cx="107807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痛点与痛处：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员工要么不敢求助，要么求助后得到的只是「治标不治本」的话术。本方案创造性提出 </a:t>
            </a:r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「AI 预警与推荐 + 疗愈师深度陪伴」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双轨模型。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194560"/>
            <a:ext cx="5344668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2450592"/>
            <a:ext cx="1005840" cy="329184"/>
          </a:xfrm>
          <a:prstGeom prst="roundRect">
            <a:avLst>
              <a:gd name="adj" fmla="val 111111"/>
            </a:avLst>
          </a:prstGeom>
          <a:solidFill>
            <a:srgbClr val="E0F2FE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4505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轨道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29968" y="2450592"/>
            <a:ext cx="3607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倾听者 + 匹配师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2926080"/>
            <a:ext cx="47960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轻量级识别方式感知员工情绪，主动预警与智能推荐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3429000"/>
            <a:ext cx="47960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核心任务：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树洞情绪识别、预警、个性化推荐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赛事对齐：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数字疗愈与 AI 辅助支持 (赛题方向 4)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技术定位：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24小时在线、轻量部署、全面匿名、消除心理防线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77356" y="2194560"/>
            <a:ext cx="5344668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51676" y="2450592"/>
            <a:ext cx="1005840" cy="329184"/>
          </a:xfrm>
          <a:prstGeom prst="roundRect">
            <a:avLst>
              <a:gd name="adj" fmla="val 111111"/>
            </a:avLst>
          </a:prstGeom>
          <a:solidFill>
            <a:srgbClr val="FDF2E9"/>
          </a:solidFill>
          <a:ln/>
        </p:spPr>
      </p:sp>
      <p:sp>
        <p:nvSpPr>
          <p:cNvPr id="16" name="Text 14"/>
          <p:cNvSpPr/>
          <p:nvPr/>
        </p:nvSpPr>
        <p:spPr>
          <a:xfrm>
            <a:off x="6551676" y="245059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疗愈轨道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40396" y="2450592"/>
            <a:ext cx="36073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转化师 + 陪伴者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1676" y="2926080"/>
            <a:ext cx="47960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专业疗愈师主体介入，通过表达性治疗实现能量深层转化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51676" y="3429000"/>
            <a:ext cx="47960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核心任务：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能量疗愈、情绪疏导、深层转化与长期成长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赛事对齐：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疗愈师主体性与专业胜任力 (UNIHEAL持证)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落地交付：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正念呼吸、巴林特小组、奥尔夫音乐、沙盘等定制工作坊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5303520"/>
            <a:ext cx="11055096" cy="658368"/>
          </a:xfrm>
          <a:prstGeom prst="roundRect">
            <a:avLst>
              <a:gd name="adj" fmla="val 13889"/>
            </a:avLst>
          </a:prstGeom>
          <a:solidFill>
            <a:srgbClr val="0B132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5303520"/>
            <a:ext cx="10506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核心理念：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不做诊断，只做「读数」和「吹哨」；真正的疗愈由专业疗愈师人对人、心对心完成。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73152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6576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市场靶向 + 应用场景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58368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六大高内耗行业靶向 + 七大应用场景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六大高内耗行业及痛点数据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1719072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719072"/>
            <a:ext cx="73152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719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 / IT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12848" y="17190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65.4%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58768" y="171907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2295144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295144"/>
            <a:ext cx="73152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29514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/ 银行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212848" y="22951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42.9%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858768" y="2295144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★★★★★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2871216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2871216"/>
            <a:ext cx="73152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28712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 / 护理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212848" y="28712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11.0%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858768" y="287121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3447288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447288"/>
            <a:ext cx="73152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44728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212848" y="344728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＞30%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858768" y="344728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★★★★☆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" y="4023360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023360"/>
            <a:ext cx="73152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28" name="Text 26"/>
          <p:cNvSpPr/>
          <p:nvPr/>
        </p:nvSpPr>
        <p:spPr>
          <a:xfrm>
            <a:off x="713232" y="402336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/ 服务业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212848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15.0%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858768" y="4023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66928" y="4599432"/>
            <a:ext cx="43891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" y="4599432"/>
            <a:ext cx="73152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45994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/ 汽车业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2212848" y="459943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140h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858768" y="459943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★★★☆☆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21808" y="1353312"/>
            <a:ext cx="6300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七大应用场景 (AI 轨道  ×  疗愈轨道协同)</a:t>
            </a:r>
            <a:endParaRPr lang="en-US" sz="1450" dirty="0"/>
          </a:p>
        </p:txBody>
      </p:sp>
      <p:sp>
        <p:nvSpPr>
          <p:cNvPr id="37" name="Shape 35"/>
          <p:cNvSpPr/>
          <p:nvPr/>
        </p:nvSpPr>
        <p:spPr>
          <a:xfrm>
            <a:off x="5321808" y="1719072"/>
            <a:ext cx="630021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21808" y="1719072"/>
            <a:ext cx="73152" cy="50292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0" y="17190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🌐 通用预防型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196328" y="1924812"/>
            <a:ext cx="82296" cy="82296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41" name="Text 39"/>
          <p:cNvSpPr/>
          <p:nvPr/>
        </p:nvSpPr>
        <p:spPr>
          <a:xfrm>
            <a:off x="7333488" y="1719072"/>
            <a:ext cx="2007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 24 小时倾诉 + 自动推...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386316" y="1924812"/>
            <a:ext cx="82296" cy="82296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43" name="Text 41"/>
          <p:cNvSpPr/>
          <p:nvPr/>
        </p:nvSpPr>
        <p:spPr>
          <a:xfrm>
            <a:off x="9523476" y="1719072"/>
            <a:ext cx="2007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全员心理健康常态化教育 + 自助疗愈工...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321808" y="2258568"/>
            <a:ext cx="630021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321808" y="2258568"/>
            <a:ext cx="73152" cy="50292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0" y="22585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💻 互联网 / IT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96328" y="2464308"/>
            <a:ext cx="82296" cy="82296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48" name="Text 46"/>
          <p:cNvSpPr/>
          <p:nvPr/>
        </p:nvSpPr>
        <p:spPr>
          <a:xfrm>
            <a:off x="7333488" y="2258568"/>
            <a:ext cx="2007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识别持续焦虑及「35岁被替代」关...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386316" y="2464308"/>
            <a:ext cx="82296" cy="82296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50" name="Text 48"/>
          <p:cNvSpPr/>
          <p:nvPr/>
        </p:nvSpPr>
        <p:spPr>
          <a:xfrm>
            <a:off x="9523476" y="2258568"/>
            <a:ext cx="2007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「情绪红绿灯」正念工作坊 + 叙事疗愈...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321808" y="2798064"/>
            <a:ext cx="630021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21808" y="2798064"/>
            <a:ext cx="73152" cy="50292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0" y="279806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🏦 金融 / 银行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196328" y="3003804"/>
            <a:ext cx="82296" cy="82296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55" name="Text 53"/>
          <p:cNvSpPr/>
          <p:nvPr/>
        </p:nvSpPr>
        <p:spPr>
          <a:xfrm>
            <a:off x="7333488" y="2798064"/>
            <a:ext cx="2007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监控并监测 KPI 高压下的情绪...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9386316" y="3003804"/>
            <a:ext cx="82296" cy="82296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57" name="Text 55"/>
          <p:cNvSpPr/>
          <p:nvPr/>
        </p:nvSpPr>
        <p:spPr>
          <a:xfrm>
            <a:off x="9523476" y="2798064"/>
            <a:ext cx="2007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积极心理学培训 + 跨团队沟通疗愈小组...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321808" y="3337560"/>
            <a:ext cx="630021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21808" y="3337560"/>
            <a:ext cx="73152" cy="50292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60" name="Text 58"/>
          <p:cNvSpPr/>
          <p:nvPr/>
        </p:nvSpPr>
        <p:spPr>
          <a:xfrm>
            <a:off x="5486400" y="33375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🏥 医护 / 护理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196328" y="3543300"/>
            <a:ext cx="82296" cy="82296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62" name="Text 60"/>
          <p:cNvSpPr/>
          <p:nvPr/>
        </p:nvSpPr>
        <p:spPr>
          <a:xfrm>
            <a:off x="7333488" y="3337560"/>
            <a:ext cx="2007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树洞倾听护士情绪，识别共情疲劳与...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9386316" y="3543300"/>
            <a:ext cx="82296" cy="82296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64" name="Text 62"/>
          <p:cNvSpPr/>
          <p:nvPr/>
        </p:nvSpPr>
        <p:spPr>
          <a:xfrm>
            <a:off x="9523476" y="3337560"/>
            <a:ext cx="2007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巴林特小组 (EAP专属) + 困境盲...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321808" y="3877056"/>
            <a:ext cx="630021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21808" y="3877056"/>
            <a:ext cx="73152" cy="50292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67" name="Text 65"/>
          <p:cNvSpPr/>
          <p:nvPr/>
        </p:nvSpPr>
        <p:spPr>
          <a:xfrm>
            <a:off x="5486400" y="387705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🏫 教育行业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7196328" y="4082796"/>
            <a:ext cx="82296" cy="82296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69" name="Text 67"/>
          <p:cNvSpPr/>
          <p:nvPr/>
        </p:nvSpPr>
        <p:spPr>
          <a:xfrm>
            <a:off x="7333488" y="3877056"/>
            <a:ext cx="2007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追踪多重角色下的情绪耗竭与沟通焦...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9386316" y="4082796"/>
            <a:ext cx="82296" cy="82296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71" name="Text 69"/>
          <p:cNvSpPr/>
          <p:nvPr/>
        </p:nvSpPr>
        <p:spPr>
          <a:xfrm>
            <a:off x="9523476" y="3877056"/>
            <a:ext cx="2007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奥尔夫音乐疗愈 + ABC 认知重构工...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321808" y="4416552"/>
            <a:ext cx="630021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321808" y="4416552"/>
            <a:ext cx="73152" cy="50292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74" name="Text 72"/>
          <p:cNvSpPr/>
          <p:nvPr/>
        </p:nvSpPr>
        <p:spPr>
          <a:xfrm>
            <a:off x="5486400" y="441655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📞 客服 / 服务业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196328" y="4622292"/>
            <a:ext cx="82296" cy="82296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76" name="Text 74"/>
          <p:cNvSpPr/>
          <p:nvPr/>
        </p:nvSpPr>
        <p:spPr>
          <a:xfrm>
            <a:off x="7333488" y="4416552"/>
            <a:ext cx="2007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捕捉客户负面情绪污染带来的心理崩...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9386316" y="4622292"/>
            <a:ext cx="82296" cy="82296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78" name="Text 76"/>
          <p:cNvSpPr/>
          <p:nvPr/>
        </p:nvSpPr>
        <p:spPr>
          <a:xfrm>
            <a:off x="9523476" y="4416552"/>
            <a:ext cx="2007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「心流插花」艺术疗愈 + 正念冥想与芳...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321808" y="4956048"/>
            <a:ext cx="6300216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21808" y="4956048"/>
            <a:ext cx="73152" cy="50292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81" name="Text 79"/>
          <p:cNvSpPr/>
          <p:nvPr/>
        </p:nvSpPr>
        <p:spPr>
          <a:xfrm>
            <a:off x="5486400" y="495604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🏭 制造 / 汽车业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7196328" y="5161788"/>
            <a:ext cx="82296" cy="82296"/>
          </a:xfrm>
          <a:prstGeom prst="ellipse">
            <a:avLst/>
          </a:prstGeom>
          <a:solidFill>
            <a:srgbClr val="0077B6"/>
          </a:solidFill>
          <a:ln/>
        </p:spPr>
      </p:sp>
      <p:sp>
        <p:nvSpPr>
          <p:cNvPr id="83" name="Text 81"/>
          <p:cNvSpPr/>
          <p:nvPr/>
        </p:nvSpPr>
        <p:spPr>
          <a:xfrm>
            <a:off x="7333488" y="4956048"/>
            <a:ext cx="2007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识别流水线重复劳作带来的社交隔离...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9386316" y="5161788"/>
            <a:ext cx="82296" cy="82296"/>
          </a:xfrm>
          <a:prstGeom prst="ellipse">
            <a:avLst/>
          </a:prstGeom>
          <a:solidFill>
            <a:srgbClr val="E07A5F"/>
          </a:solidFill>
          <a:ln/>
        </p:spPr>
      </p:sp>
      <p:sp>
        <p:nvSpPr>
          <p:cNvPr id="85" name="Text 83"/>
          <p:cNvSpPr/>
          <p:nvPr/>
        </p:nvSpPr>
        <p:spPr>
          <a:xfrm>
            <a:off x="9523476" y="4956048"/>
            <a:ext cx="20071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团队沙盘疗愈 + 情绪宣泄拳击课 + ...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73152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6576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疗愈交付 · 通用版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58368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按情绪类型快速匹配疗愈活动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402336"/>
          </a:xfrm>
          <a:prstGeom prst="roundRect">
            <a:avLst>
              <a:gd name="adj" fmla="val 11364"/>
            </a:avLst>
          </a:pr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353312"/>
            <a:ext cx="1883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典型情绪类型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779776" y="1353312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员工典型临床 / 身心表现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254496" y="1353312"/>
            <a:ext cx="41696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推荐疗愈活动与核心理论设计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643616" y="13533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单次时长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810512"/>
            <a:ext cx="110550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81051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😰 焦虑紧张型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779776" y="1810512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项目赶工恐慌、心跳加速、思维反刍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54496" y="1810512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「止步当下」正念呼吸工作坊 (MBSR)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643616" y="181051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分钟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2368296"/>
            <a:ext cx="11055096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368296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😫 耗竭疲惫型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79776" y="2368296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身心俱疲、情感冷漠、情绪麻木、亚健康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254496" y="2368296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「能量唤醒与音疗」恢复工作坊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643616" y="2368296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2926080"/>
            <a:ext cx="110550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926080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😔 情绪劳动型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79776" y="2926080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强撑笑脸、隐忍委屈、情感透支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54496" y="2926080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「色彩与面具」表达性艺术治疗工作坊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643616" y="292608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3483864"/>
            <a:ext cx="11055096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3483864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🌀 孤独无意义型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779776" y="3483864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价值感丧失、存在性焦虑、社交隔离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54496" y="3483864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「生命的重构」叙事疗愈深度陪伴小组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643616" y="3483864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2h × 4 次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4041648"/>
            <a:ext cx="11055096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4041648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⚡️ 躯体紧张型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779776" y="4041648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肩颈僵硬、压抑性头痛、易怒焦虑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254496" y="4041648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「身体觉知与释放」躯体疗法工作坊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0643616" y="404164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小时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4599432"/>
            <a:ext cx="11055096" cy="502920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4599432"/>
            <a:ext cx="1883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🤝 混合 / 预防型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779776" y="4599432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团队协作阻碍、心理安全感低、团队疏离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254496" y="4599432"/>
            <a:ext cx="41696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「心理嘉年华与能量集市」游园会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643616" y="459943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半天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6928" y="5440680"/>
            <a:ext cx="11055096" cy="530352"/>
          </a:xfrm>
          <a:prstGeom prst="roundRect">
            <a:avLst>
              <a:gd name="adj" fmla="val 13793"/>
            </a:avLst>
          </a:prstGeom>
          <a:solidFill>
            <a:srgbClr val="FDF2E9"/>
          </a:solidFill>
          <a:ln w="9525">
            <a:solidFill>
              <a:srgbClr val="E07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5440680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62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核心交付优势：</a:t>
            </a:r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所有疗愈活动均基于科学心理学与表达性艺术治疗理论 (如正念减压疗法MBSR、巴林特小组、叙事心理学等)，拒绝纯娱乐化团建，保证专业性与可评估性。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73152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6576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疗愈交付 · 行业版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58368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六大行业精准痛点对标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55096" cy="402336"/>
          </a:xfrm>
          <a:prstGeom prst="roundRect">
            <a:avLst>
              <a:gd name="adj" fmla="val 11364"/>
            </a:avLst>
          </a:prstGeom>
          <a:solidFill>
            <a:srgbClr val="1C2541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353312"/>
            <a:ext cx="1792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典型行业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88336" y="1353312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行业员工最核心痛点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88736" y="1353312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首选推荐活动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63456" y="135331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干预关键步骤与精细设计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1810512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810512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💻 互联网 / 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88336" y="1810512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「怕被替代、怕赶不上技术迭代」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88736" y="1810512"/>
            <a:ext cx="3255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情绪红绿灯正念工作坊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363456" y="181051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可控与不可控要素矩阵拆解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2395728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2395728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🏦 金融 / 银行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88336" y="2395728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「业绩指标及决策压得喘不过气」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888736" y="2395728"/>
            <a:ext cx="3255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积极心理与压力管理效能培训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63456" y="2395728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「情绪暂停法」心理安全策略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2980944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2980944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🏥 医护 / 护理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688336" y="2980944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「长期面对病患痛苦掏空了自己」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88736" y="2980944"/>
            <a:ext cx="3255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医护专属巴林特小组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363456" y="2980944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不评判、不打断、不指导的安全空间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3566160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3566160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🏫 教育行业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688336" y="3566160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「教师、家长、行政多重角色耗竭」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888736" y="3566160"/>
            <a:ext cx="3255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奥尔夫音乐协作疗愈工作坊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363456" y="3566160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双人及团队简易乐器敲击合奏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4151376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4151376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📞 客服 / 服务业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688336" y="4151376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「强撑笑脸和情绪劳动耗尽了我」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888736" y="4151376"/>
            <a:ext cx="3255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「心流插花」专注艺术疗愈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363456" y="4151376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花材触觉选择、自主命名与意义投射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66928" y="4736592"/>
            <a:ext cx="11055096" cy="530352"/>
          </a:xfrm>
          <a:prstGeom prst="roundRect">
            <a:avLst>
              <a:gd name="adj" fmla="val 862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4736592"/>
            <a:ext cx="179222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🏭 制造 / 汽车业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688336" y="4736592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「流水线枯燥、孤独扛着双重压力」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888736" y="4736592"/>
            <a:ext cx="32552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团队合作性心理沙盘疗愈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363456" y="473659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无声沙盘共创与团队能量图谱绘制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73152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6576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树洞识别（一）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58368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AI 树洞为核心的轻量级识别方式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4937760" cy="1280160"/>
          </a:xfrm>
          <a:prstGeom prst="roundRect">
            <a:avLst>
              <a:gd name="adj" fmla="val 7143"/>
            </a:avLst>
          </a:prstGeom>
          <a:solidFill>
            <a:srgbClr val="E0F2FE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14904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 —— 什么是匿名倾听？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95528" y="179222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 24 小时随时在线的纯匿名的员工表达性树洞。通过日常高内耗工作的倾诉记录分析心理安全度，不记录个人IP、不获取系统实名，提供极致的心理避风港。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770632"/>
            <a:ext cx="4937760" cy="960120"/>
          </a:xfrm>
          <a:prstGeom prst="roundRect">
            <a:avLst>
              <a:gd name="adj" fmla="val 9524"/>
            </a:avLst>
          </a:prstGeom>
          <a:solidFill>
            <a:srgbClr val="EEF2FF"/>
          </a:solidFill>
          <a:ln w="9525">
            <a:solidFill>
              <a:srgbClr val="4895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2770632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489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典型成功案例：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郑州高新区总工会智慧心理服务系统接入 AI 情绪对话模型，上线即引爆职工圈，短时间服务次数超 1300+ 次，是目前工会和大型国企的首选数字服务方案。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3867912"/>
            <a:ext cx="4937760" cy="1417320"/>
          </a:xfrm>
          <a:prstGeom prst="roundRect">
            <a:avLst>
              <a:gd name="adj" fmla="val 6452"/>
            </a:avLst>
          </a:prstGeom>
          <a:solidFill>
            <a:srgbClr val="0B132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0050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核心隐私保护原则 (对齐伦理)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" y="4325112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数据端脱敏：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5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不留存聊天原始文本，只存储情绪分析标签。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身份去关联：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5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严禁任何从系统关联个人员工 ID 的漏洞设计。
</a:t>
            </a:r>
            <a:pPr indent="0" marL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自主归零权：</a:t>
            </a:r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5E0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员工有权随时一键将树洞历史会话记录彻底焚毁。
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16168" y="1353312"/>
            <a:ext cx="5705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轻量级技术实现四层架构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916168" y="1719072"/>
            <a:ext cx="570585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892808"/>
            <a:ext cx="1097280" cy="457200"/>
          </a:xfrm>
          <a:prstGeom prst="roundRect">
            <a:avLst>
              <a:gd name="adj" fmla="val 80000"/>
            </a:avLst>
          </a:prstGeom>
          <a:solidFill>
            <a:srgbClr val="0077B6"/>
          </a:solidFill>
          <a:ln/>
        </p:spPr>
      </p:sp>
      <p:sp>
        <p:nvSpPr>
          <p:cNvPr id="16" name="Text 14"/>
          <p:cNvSpPr/>
          <p:nvPr/>
        </p:nvSpPr>
        <p:spPr>
          <a:xfrm>
            <a:off x="6080760" y="18928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前端应用层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33488" y="1828800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H5 / 微端 / 企业微信 / 钉钉小程序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33488" y="2121408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即开即用、全面免登录、实现最大程度的匿名隐私保护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16168" y="2615184"/>
            <a:ext cx="570585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0760" y="2788920"/>
            <a:ext cx="1097280" cy="457200"/>
          </a:xfrm>
          <a:prstGeom prst="roundRect">
            <a:avLst>
              <a:gd name="adj" fmla="val 80000"/>
            </a:avLst>
          </a:prstGeom>
          <a:solidFill>
            <a:srgbClr val="005F9E"/>
          </a:solidFill>
          <a:ln/>
        </p:spPr>
      </p:sp>
      <p:sp>
        <p:nvSpPr>
          <p:cNvPr id="21" name="Text 19"/>
          <p:cNvSpPr/>
          <p:nvPr/>
        </p:nvSpPr>
        <p:spPr>
          <a:xfrm>
            <a:off x="6080760" y="2788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对话引擎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33488" y="2724912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融合情绪共情的大语言模型 (如 DeepSeek / 通义)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33488" y="3017520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扮演温暖、非评判的倾听角色，通过多轮共情完成初步宣泄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16168" y="3511296"/>
            <a:ext cx="570585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3685032"/>
            <a:ext cx="1097280" cy="457200"/>
          </a:xfrm>
          <a:prstGeom prst="roundRect">
            <a:avLst>
              <a:gd name="adj" fmla="val 80000"/>
            </a:avLst>
          </a:prstGeom>
          <a:solidFill>
            <a:srgbClr val="4895EF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36850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规则研判层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33488" y="3621024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本地高性能心理词库 + CBT 规则触发器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33488" y="3913632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实时扫描焦虑、耗竭、抑郁等情绪指标及心理危机红线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16168" y="4407408"/>
            <a:ext cx="5705856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4581144"/>
            <a:ext cx="1097280" cy="457200"/>
          </a:xfrm>
          <a:prstGeom prst="roundRect">
            <a:avLst>
              <a:gd name="adj" fmla="val 80000"/>
            </a:avLst>
          </a:prstGeom>
          <a:solidFill>
            <a:srgbClr val="1C2541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45811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匿名数据层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333488" y="4517136"/>
            <a:ext cx="4151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双向哈希去标识化 + 情感标签摘要数据库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333488" y="4809744"/>
            <a:ext cx="4151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去除员工ID及原始文本，仅保留团队脱敏情绪指标用于大盘洞察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73152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6576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树洞识别（二）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58368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核心能力与三级预警联动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E0F2FE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🗣️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07008" y="141732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温暖倾听与共情回应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07008" y="1719072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让员工倾诉成为疗愈的起点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353312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E0F2FE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9704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141732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关键词智能识别预警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719072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扫描语言特征，科学自动定级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19872" y="1353312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E0F2FE"/>
          </a:solidFill>
          <a:ln w="9525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759952" y="1417320"/>
            <a:ext cx="272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疗愈资源精准实时推送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59952" y="1719072"/>
            <a:ext cx="272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千人千面的情绪精细化匹配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2423160"/>
            <a:ext cx="11055096" cy="384048"/>
          </a:xfrm>
          <a:prstGeom prst="roundRect">
            <a:avLst>
              <a:gd name="adj" fmla="val 11905"/>
            </a:avLst>
          </a:prstGeom>
          <a:solidFill>
            <a:srgbClr val="1C2541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242316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预警等级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792224" y="242316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树洞典型输入特征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52544" y="2423160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引擎自动触发响应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375904" y="242316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人工闭环介入节点与时效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2862072"/>
            <a:ext cx="11055096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2862072"/>
            <a:ext cx="73152" cy="786384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4" name="Shape 22"/>
          <p:cNvSpPr/>
          <p:nvPr/>
        </p:nvSpPr>
        <p:spPr>
          <a:xfrm>
            <a:off x="749808" y="3118104"/>
            <a:ext cx="777240" cy="274320"/>
          </a:xfrm>
          <a:prstGeom prst="roundRect">
            <a:avLst>
              <a:gd name="adj" fmla="val 133333"/>
            </a:avLst>
          </a:prstGeom>
          <a:solidFill>
            <a:srgbClr val="E8F5E9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311810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绿色安全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92224" y="2862072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「好累」「压力大」「睡不着」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52544" y="2862072"/>
            <a:ext cx="3785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自动匹配并推送针对性的正念音频 / 工间呼吸练习链接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75904" y="2862072"/>
            <a:ext cx="3136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系统内自助服务，无需人工惊动或打扰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3694176"/>
            <a:ext cx="11055096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3694176"/>
            <a:ext cx="73152" cy="78638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31" name="Shape 29"/>
          <p:cNvSpPr/>
          <p:nvPr/>
        </p:nvSpPr>
        <p:spPr>
          <a:xfrm>
            <a:off x="749808" y="3950208"/>
            <a:ext cx="777240" cy="274320"/>
          </a:xfrm>
          <a:prstGeom prst="roundRect">
            <a:avLst>
              <a:gd name="adj" fmla="val 133333"/>
            </a:avLst>
          </a:prstGeom>
          <a:solidFill>
            <a:srgbClr val="FEF3C7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39502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黄色预警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92224" y="3694176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「快撑不住了」「想辞职」「天天失眠」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352544" y="3694176"/>
            <a:ext cx="3785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触发自助疗愈包推送，且在管理后台生成团队高压预警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375904" y="3694176"/>
            <a:ext cx="3136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HRBP 查看其团队近期整体加班/高压倾向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4526280"/>
            <a:ext cx="11055096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526280"/>
            <a:ext cx="73152" cy="786384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749808" y="4782312"/>
            <a:ext cx="777240" cy="274320"/>
          </a:xfrm>
          <a:prstGeom prst="roundRect">
            <a:avLst>
              <a:gd name="adj" fmla="val 133333"/>
            </a:avLst>
          </a:prstGeom>
          <a:solidFill>
            <a:srgbClr val="FDF2E9"/>
          </a:solidFill>
          <a:ln/>
        </p:spPr>
      </p:sp>
      <p:sp>
        <p:nvSpPr>
          <p:cNvPr id="39" name="Text 37"/>
          <p:cNvSpPr/>
          <p:nvPr/>
        </p:nvSpPr>
        <p:spPr>
          <a:xfrm>
            <a:off x="749808" y="47823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红色警告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792224" y="4526280"/>
            <a:ext cx="232257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极端负面、自毁或绝望等敏感红线词汇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352544" y="4526280"/>
            <a:ext cx="3785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系统秒级弹窗转接 7×24 小时专业心理咨询热线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375904" y="4526280"/>
            <a:ext cx="313639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EAP 专员及心理辅导员在 2 小时内跟进确认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66928" y="5413248"/>
            <a:ext cx="11055096" cy="530352"/>
          </a:xfrm>
          <a:prstGeom prst="roundRect">
            <a:avLst>
              <a:gd name="adj" fmla="val 13793"/>
            </a:avLst>
          </a:prstGeom>
          <a:solidFill>
            <a:srgbClr val="0B132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5413248"/>
            <a:ext cx="10543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核心闭环逻辑：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预警仅作为敏感情绪感知输入，后台处置必须经过专业心理咨询师或 HRBP 确认核实后方可启动。严防数据自动给员工贴标签、打分甚至定性，切实保护员工隐私。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73152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6576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推荐引擎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58368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把情绪信号翻译成可执行的疗愈方案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338023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8096" y="1536192"/>
            <a:ext cx="402336" cy="402336"/>
          </a:xfrm>
          <a:prstGeom prst="roundRect">
            <a:avLst>
              <a:gd name="adj" fmla="val 90909"/>
            </a:avLst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255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情绪信号识别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95528" y="2011680"/>
            <a:ext cx="292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树洞捕捉用户倾诉与情绪信号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" y="2249424"/>
            <a:ext cx="2923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情绪标签 + 预警等级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0312" y="1353312"/>
            <a:ext cx="3108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04360" y="1353312"/>
            <a:ext cx="338023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5528" y="1536192"/>
            <a:ext cx="402336" cy="402336"/>
          </a:xfrm>
          <a:prstGeom prst="roundRect">
            <a:avLst>
              <a:gd name="adj" fmla="val 90909"/>
            </a:avLst>
          </a:prstGeom>
          <a:solidFill>
            <a:srgbClr val="4895EF"/>
          </a:solidFill>
          <a:ln/>
        </p:spPr>
      </p:sp>
      <p:sp>
        <p:nvSpPr>
          <p:cNvPr id="14" name="Text 12"/>
          <p:cNvSpPr/>
          <p:nvPr/>
        </p:nvSpPr>
        <p:spPr>
          <a:xfrm>
            <a:off x="4605528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17592" y="1554480"/>
            <a:ext cx="255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智能方案匹配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632960" y="2011680"/>
            <a:ext cx="292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按情绪、行业与员工画像算法匹配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32960" y="2249424"/>
            <a:ext cx="2923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489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个性化推荐清单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57744" y="1353312"/>
            <a:ext cx="31089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41792" y="1353312"/>
            <a:ext cx="338023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42960" y="1536192"/>
            <a:ext cx="402336" cy="402336"/>
          </a:xfrm>
          <a:prstGeom prst="roundRect">
            <a:avLst>
              <a:gd name="adj" fmla="val 90909"/>
            </a:avLst>
          </a:pr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8442960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55024" y="1554480"/>
            <a:ext cx="2557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闭环触达执行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470392" y="2011680"/>
            <a:ext cx="292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企业IM静默推送与人工二次复核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70392" y="2249424"/>
            <a:ext cx="2923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落实干预交付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2670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 → 三级活动资源映射示例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2999232"/>
            <a:ext cx="11055096" cy="365760"/>
          </a:xfrm>
          <a:prstGeom prst="roundRect">
            <a:avLst>
              <a:gd name="adj" fmla="val 12500"/>
            </a:avLst>
          </a:prstGeom>
          <a:solidFill>
            <a:srgbClr val="1C2541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" y="2999232"/>
            <a:ext cx="1152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情绪标签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048256" y="29992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绿色推送（全自助手册/冥想音频）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76088" y="29992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黄色推荐（小组团体工作坊）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503920" y="29992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红色介入（专业一对一心理疏导）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" y="3419856"/>
            <a:ext cx="11055096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3419856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😰 焦虑紧张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048256" y="3419856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三分钟呼吸着陆法 (CBT自主音频)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76088" y="3419856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正念呼吸与压力释放团体工作坊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03920" y="3419856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疗愈师一对一深度焦虑压力疏导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66928" y="3877056"/>
            <a:ext cx="11055096" cy="402336"/>
          </a:xfrm>
          <a:prstGeom prst="roundRect">
            <a:avLst>
              <a:gd name="adj" fmla="val 1136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" y="3877056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😫 耗竭疲惫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048256" y="3877056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工间身体扫描音频与深度冥想引导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276088" y="3877056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能量唤醒与音疗修复团体工作坊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503920" y="3877056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疗愈师一对一能量与情绪危机修复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66928" y="4334256"/>
            <a:ext cx="11055096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" y="4334256"/>
            <a:ext cx="1152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😔 抑郁低落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048256" y="4334256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每日「三件好事」积极打卡小程序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76088" y="4334256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叙事疗愈与生命重构深度陪伴小组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503920" y="4334256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疗愈师一对一意义追寻与重构陪伴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66928" y="486460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多维算法：个性化推荐逻辑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566928" y="5175504"/>
            <a:ext cx="3502152" cy="960120"/>
          </a:xfrm>
          <a:prstGeom prst="roundRect">
            <a:avLst>
              <a:gd name="adj" fmla="val 7619"/>
            </a:avLst>
          </a:prstGeom>
          <a:solidFill>
            <a:srgbClr val="E0F2FE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52303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员工画像匹配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31520" y="545896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岗位部门与职级数据对标
</a:t>
            </a:r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IT研发人员优先推送线上音频和正念引导；车间产线员工优先推荐线下大型团体活动与心灵释压体验。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4343400" y="5175504"/>
            <a:ext cx="3502152" cy="960120"/>
          </a:xfrm>
          <a:prstGeom prst="roundRect">
            <a:avLst>
              <a:gd name="adj" fmla="val 7619"/>
            </a:avLst>
          </a:prstGeom>
          <a:solidFill>
            <a:srgbClr val="E0F2FE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07992" y="52303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📈 情绪轨迹追踪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07992" y="545896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近30天持续多维情绪波幅
</a:t>
            </a:r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针对在树洞中表现出持续身心疲惫的用户，推送「能量唤醒」课程；突发项目压力则针对性推荐即时「正念呼吸」。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8119872" y="5175504"/>
            <a:ext cx="3502152" cy="960120"/>
          </a:xfrm>
          <a:prstGeom prst="roundRect">
            <a:avLst>
              <a:gd name="adj" fmla="val 7619"/>
            </a:avLst>
          </a:prstGeom>
          <a:solidFill>
            <a:srgbClr val="E0F2FE"/>
          </a:solidFill>
          <a:ln w="6350">
            <a:solidFill>
              <a:srgbClr val="0077B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284464" y="52303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F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参与历史循环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284464" y="5458968"/>
            <a:ext cx="3172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i="1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过往疗愈项目好评率与交互
</a:t>
            </a:r>
            <a:pPr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对于正念工作坊给予优质评价的用户，优先推荐高阶的表达性叙事小组；对于静息活动排斥者推荐趣味游园。</a:t>
            </a:r>
            <a:endParaRPr lang="en-US" sz="880" dirty="0"/>
          </a:p>
        </p:txBody>
      </p:sp>
      <p:sp>
        <p:nvSpPr>
          <p:cNvPr id="56" name="Text 54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11480"/>
            <a:ext cx="73152" cy="8686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65760"/>
            <a:ext cx="10872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200" kern="0" dirty="0">
                <a:solidFill>
                  <a:srgbClr val="0077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预期效果 · 评估方式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9808" y="658368"/>
            <a:ext cx="10872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效果可衡量、可验证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3533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四大核心预期效果 (对齐挑战赛指标)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66928" y="1700784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00784"/>
            <a:ext cx="73152" cy="16459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847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心理安全感评分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21031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组织心理安全指数 (PSI) 量表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68096" y="235915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≥ 5.5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68096" y="30540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3.2 – 3.8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3630168" y="1700784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30168" y="1700784"/>
            <a:ext cx="73152" cy="16459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3831336" y="18470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人才留存率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31336" y="21031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核心骨干主动离职率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31336" y="235915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≤ 15.0%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831336" y="30540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35.0%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566928" y="3529584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3529584"/>
            <a:ext cx="73152" cy="16459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675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疗愈服务覆盖率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8096" y="39319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树洞月活与覆盖深度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68096" y="418795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≥ 40.0%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68096" y="48828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0.0%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3630168" y="3529584"/>
            <a:ext cx="278892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30168" y="3529584"/>
            <a:ext cx="73152" cy="16459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6" name="Text 24"/>
          <p:cNvSpPr/>
          <p:nvPr/>
        </p:nvSpPr>
        <p:spPr>
          <a:xfrm>
            <a:off x="3831336" y="367588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情绪即时改善比例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31336" y="393192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活动后情绪改善问卷反馈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31336" y="4187952"/>
            <a:ext cx="24231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7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≥ 60.0%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3831336" y="488289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 0.0%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6784848" y="1353312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柯氏评估模型在心理健康的应用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784848" y="1700784"/>
            <a:ext cx="4837176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12864" y="1865376"/>
            <a:ext cx="868680" cy="457200"/>
          </a:xfrm>
          <a:prstGeom prst="roundRect">
            <a:avLst>
              <a:gd name="adj" fmla="val 80000"/>
            </a:avLst>
          </a:prstGeom>
          <a:solidFill>
            <a:srgbClr val="0077B6"/>
          </a:solidFill>
          <a:ln/>
        </p:spPr>
      </p:sp>
      <p:sp>
        <p:nvSpPr>
          <p:cNvPr id="33" name="Text 31"/>
          <p:cNvSpPr/>
          <p:nvPr/>
        </p:nvSpPr>
        <p:spPr>
          <a:xfrm>
            <a:off x="6912864" y="1865376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L0 使用率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927848" y="1792224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监测日常 AI 树洞使用率与情绪资源点击量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927848" y="2084832"/>
            <a:ext cx="3511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数据后台实时自动导出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912864" y="2532888"/>
            <a:ext cx="4581144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040880" y="2697480"/>
            <a:ext cx="868680" cy="457200"/>
          </a:xfrm>
          <a:prstGeom prst="roundRect">
            <a:avLst>
              <a:gd name="adj" fmla="val 80000"/>
            </a:avLst>
          </a:prstGeom>
          <a:solidFill>
            <a:srgbClr val="005F9E"/>
          </a:solidFill>
          <a:ln/>
        </p:spPr>
      </p:sp>
      <p:sp>
        <p:nvSpPr>
          <p:cNvPr id="38" name="Text 36"/>
          <p:cNvSpPr/>
          <p:nvPr/>
        </p:nvSpPr>
        <p:spPr>
          <a:xfrm>
            <a:off x="7040880" y="26974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满意度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55864" y="2624328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活动现场情绪温度计与即时五星满意度评价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55864" y="2916936"/>
            <a:ext cx="3255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现场纸质/二维码快捷反馈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040880" y="3364992"/>
            <a:ext cx="4325112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168896" y="3529584"/>
            <a:ext cx="868680" cy="457200"/>
          </a:xfrm>
          <a:prstGeom prst="roundRect">
            <a:avLst>
              <a:gd name="adj" fmla="val 80000"/>
            </a:avLst>
          </a:prstGeom>
          <a:solidFill>
            <a:srgbClr val="4895EF"/>
          </a:solidFill>
          <a:ln/>
        </p:spPr>
      </p:sp>
      <p:sp>
        <p:nvSpPr>
          <p:cNvPr id="43" name="Text 41"/>
          <p:cNvSpPr/>
          <p:nvPr/>
        </p:nvSpPr>
        <p:spPr>
          <a:xfrm>
            <a:off x="7168896" y="352958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行为改善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183880" y="3456432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跟进疗愈活动后第3天及第7天的情绪随访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183880" y="3749040"/>
            <a:ext cx="2999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 自动推送随访问卷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168896" y="4197096"/>
            <a:ext cx="406908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296912" y="4361688"/>
            <a:ext cx="868680" cy="457200"/>
          </a:xfrm>
          <a:prstGeom prst="roundRect">
            <a:avLst>
              <a:gd name="adj" fmla="val 80000"/>
            </a:avLst>
          </a:prstGeom>
          <a:solidFill>
            <a:srgbClr val="E67E22"/>
          </a:solidFill>
          <a:ln/>
        </p:spPr>
      </p:sp>
      <p:sp>
        <p:nvSpPr>
          <p:cNvPr id="48" name="Text 46"/>
          <p:cNvSpPr/>
          <p:nvPr/>
        </p:nvSpPr>
        <p:spPr>
          <a:xfrm>
            <a:off x="7296912" y="436168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心理指标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311896" y="42885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 PSI 心理安全感简明量表测量心智改变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311896" y="458114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每季度全员抽样问卷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296912" y="5029200"/>
            <a:ext cx="381304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1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424928" y="5193792"/>
            <a:ext cx="868680" cy="457200"/>
          </a:xfrm>
          <a:prstGeom prst="roundRect">
            <a:avLst>
              <a:gd name="adj" fmla="val 80000"/>
            </a:avLst>
          </a:prstGeom>
          <a:solidFill>
            <a:srgbClr val="E07A5F"/>
          </a:solidFill>
          <a:ln/>
        </p:spPr>
      </p:sp>
      <p:sp>
        <p:nvSpPr>
          <p:cNvPr id="53" name="Text 51"/>
          <p:cNvSpPr/>
          <p:nvPr/>
        </p:nvSpPr>
        <p:spPr>
          <a:xfrm>
            <a:off x="7424928" y="5193792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组织影响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439912" y="5120640"/>
            <a:ext cx="1527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3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考核高危流失率、病假率以及团队产出绩效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439912" y="5413248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半年/年度组织综合报表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4476" y="0"/>
            <a:ext cx="6094476" cy="6858000"/>
          </a:xfrm>
          <a:prstGeom prst="rect">
            <a:avLst/>
          </a:prstGeom>
          <a:solidFill>
            <a:srgbClr val="1C254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594360"/>
            <a:ext cx="1218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商业价值与社会效益双赢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0" y="960120"/>
            <a:ext cx="12188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发现信号，AI 推荐方案，疗愈创造改变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5298948" cy="3566160"/>
          </a:xfrm>
          <a:prstGeom prst="roundRect">
            <a:avLst>
              <a:gd name="adj" fmla="val 3077"/>
            </a:avLst>
          </a:prstGeom>
          <a:solidFill>
            <a:srgbClr val="1B2A3A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920240"/>
            <a:ext cx="5298948" cy="73152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" y="2194560"/>
            <a:ext cx="548640" cy="402336"/>
          </a:xfrm>
          <a:prstGeom prst="roundRect">
            <a:avLst>
              <a:gd name="adj" fmla="val 90909"/>
            </a:avLst>
          </a:prstGeom>
          <a:solidFill>
            <a:srgbClr val="0077B6"/>
          </a:solidFill>
          <a:ln/>
        </p:spPr>
      </p:sp>
      <p:sp>
        <p:nvSpPr>
          <p:cNvPr id="8" name="Text 6"/>
          <p:cNvSpPr/>
          <p:nvPr/>
        </p:nvSpPr>
        <p:spPr>
          <a:xfrm>
            <a:off x="886968" y="219456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72768" y="2194560"/>
            <a:ext cx="4110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AI/SaaS 赛道评委的交付价值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9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25296" y="2880360"/>
            <a:ext cx="43845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「AI 树洞」技术架构极其轻量，极易通过企业微信等落地部署，具备卓越的商业复制性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68503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9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25296" y="3685032"/>
            <a:ext cx="43845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针对隐私提供一整套脱敏哈希、无痕聊天与一键销毁等严密制度，彻底跨越合规红线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489704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9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25296" y="4489704"/>
            <a:ext cx="43845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5E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边界明确，严格定位为「倾听与预警吹哨人」，绝不越俎代庖替代专业的心理干预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23076" y="1920240"/>
            <a:ext cx="5298948" cy="3566160"/>
          </a:xfrm>
          <a:prstGeom prst="roundRect">
            <a:avLst>
              <a:gd name="adj" fmla="val 3077"/>
            </a:avLst>
          </a:prstGeom>
          <a:solidFill>
            <a:srgbClr val="322622"/>
          </a:solidFill>
          <a:ln/>
        </p:spPr>
      </p:sp>
      <p:sp>
        <p:nvSpPr>
          <p:cNvPr id="17" name="Shape 15"/>
          <p:cNvSpPr/>
          <p:nvPr/>
        </p:nvSpPr>
        <p:spPr>
          <a:xfrm>
            <a:off x="6323076" y="1920240"/>
            <a:ext cx="5298948" cy="73152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6643116" y="2194560"/>
            <a:ext cx="548640" cy="402336"/>
          </a:xfrm>
          <a:prstGeom prst="roundRect">
            <a:avLst>
              <a:gd name="adj" fmla="val 90909"/>
            </a:avLst>
          </a:prstGeom>
          <a:solidFill>
            <a:srgbClr val="E07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643116" y="219456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疗愈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28916" y="2194560"/>
            <a:ext cx="41102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对疗愈与 EAP 赛道评委的专业价值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6670548" y="2880360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81444" y="2880360"/>
            <a:ext cx="4384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AD9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正念减压、表达性艺术治疗、巴林特小组及叙事学理论基础夯实，拒绝纯娱乐化团建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70548" y="3502152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81444" y="3502152"/>
            <a:ext cx="4384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AD9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明确凸显疗愈师在情绪深层转化及一对一陪伴中的主体地位，AI 不削弱疗愈师重要性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70548" y="4123944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81444" y="4123944"/>
            <a:ext cx="4384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AD9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首创针对高内耗行业的差异化定制疗愈课程，避免一刀切，极大提升组织干预效果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670548" y="4745736"/>
            <a:ext cx="292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7E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981444" y="4745736"/>
            <a:ext cx="43845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AD9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数据指标及处置路径严格遵循 IAOTH 国际伦理规范，保证全周期学术级严谨度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0" y="59893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895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+ 疗愈轨道　·　用数字科技温情守护职场心灵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" y="64739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MindBridge AI · 疗愈双轨路演方案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793224" y="64739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MindBridge AI + 疗愈轨道 (方案B)</dc:title>
  <dc:subject>企业员工心理安全与成长共生系统</dc:subject>
  <dc:creator>Antigravity AI (Google DeepMind)</dc:creator>
  <cp:lastModifiedBy>Antigravity AI (Google DeepMind)</cp:lastModifiedBy>
  <cp:revision>1</cp:revision>
  <dcterms:created xsi:type="dcterms:W3CDTF">2026-07-14T14:26:05Z</dcterms:created>
  <dcterms:modified xsi:type="dcterms:W3CDTF">2026-07-14T14:26:05Z</dcterms:modified>
</cp:coreProperties>
</file>