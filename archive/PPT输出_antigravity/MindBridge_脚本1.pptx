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我们带来的不是单纯的AI工具，也不是传统的EAP服务，而是一个AI预警与推荐 + 疗愈师深度陪伴的双轨系统。AI不替代疗愈，而是让疗愈服务在关键时刻可及。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双轨并行：AI负责广度识别与推荐，疗愈师负责深度转化。AI不做诊断，只做读数和吹哨，真正的疗愈由疗愈师完成。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六大高内耗行业按采购优先级排序，互联网与金融为最高优先级。2025年已有大型企业公开采购员工心理关爱服务，市场真实存在。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七大应用场景覆盖通用预防及六大行业，每个场景都精准定义了AI轨道与疗愈轨道各自的角色与协同时刻。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通用版按六种情绪类型快速匹配疗愈活动，每个活动都有明确的理论依据支撑，非随意拼凑。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行业版针对六大行业各自最核心的痛点，配置差异化首选活动与关键环节设计，体现非模板化。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AI树洞是24小时匿名倾诉平台。AI做三件事：倾听共情、关键词识别预警、资源自动推送。三级预警配合人工复核闭环，AI不自动定性任何员工。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推荐引擎三步转化：信号识别、方案匹配、触达执行。情绪标签按绿黄红三级映射到自助、团体、一对一活动，形成完整闭环。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预期效果覆盖心理安全、留任意向、疗愈覆盖、疗愈效果四大维度，均有明确基线与目标。五层评估体系从使用率到长期影响，工具与频次清晰，效果可衡量可验证。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双赢价值总结：对AI评委，方案真实可落地、隐私伦理严谨、AI定位清晰；对疗愈评委，理论基础扎实、疗愈师主体性明确、行业差异化、与IAOTH对齐。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Shape 1"/>
          <p:cNvSpPr/>
          <p:nvPr/>
        </p:nvSpPr>
        <p:spPr>
          <a:xfrm>
            <a:off x="4539996" y="1920240"/>
            <a:ext cx="1463040" cy="1463040"/>
          </a:xfrm>
          <a:prstGeom prst="ellipse">
            <a:avLst/>
          </a:prstGeom>
          <a:ln w="889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85916" y="1920240"/>
            <a:ext cx="1463040" cy="1463040"/>
          </a:xfrm>
          <a:prstGeom prst="ellipse">
            <a:avLst/>
          </a:prstGeom>
          <a:ln w="889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8172" y="2450592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637276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双轨交汇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73152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企业疗愈力与 EAP 创新挑战赛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 疗 愈 轨 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0" y="5257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9FB2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0" y="58978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不替代疗愈，而是让疗愈服务在关键时刻可及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 · 双轨定位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负责广度，疗愈负责深度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109728" cy="6583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25880"/>
            <a:ext cx="10780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痛点与痛处：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员工要么不敢求助，要么求助后得到的只是「治标不治本」的话术。本方案创造性提出 </a:t>
            </a:r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预警与推荐 + 疗愈师深度陪伴」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双轨模型。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534466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450592"/>
            <a:ext cx="1005840" cy="329184"/>
          </a:xfrm>
          <a:prstGeom prst="roundRect">
            <a:avLst>
              <a:gd name="adj" fmla="val 111111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4505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29968" y="2450592"/>
            <a:ext cx="3607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2926080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轻量级识别方式感知员工情绪，主动预警与智能推荐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429000"/>
            <a:ext cx="47960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核心任务：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树洞情绪识别、预警、个性化推荐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赛事对齐：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数字疗愈与 AI 辅助支持 (赛题方向 4)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技术定位：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24小时在线、轻量部署、全面匿名、消除心理防线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7356" y="2194560"/>
            <a:ext cx="534466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51676" y="2450592"/>
            <a:ext cx="1005840" cy="329184"/>
          </a:xfrm>
          <a:prstGeom prst="roundRect">
            <a:avLst>
              <a:gd name="adj" fmla="val 111111"/>
            </a:avLst>
          </a:prstGeom>
          <a:solidFill>
            <a:srgbClr val="FDF2E9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24505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0396" y="2450592"/>
            <a:ext cx="3607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926080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专业疗愈师主体介入，通过表达性治疗实现能量深层转化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1676" y="3429000"/>
            <a:ext cx="47960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核心任务：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能量疗愈、情绪疏导、深层转化与长期成长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赛事对齐：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疗愈师主体性与专业胜任力 (UNIHEAL持证)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落地交付：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正念呼吸、巴林特小组、奥尔夫音乐、沙盘等定制工作坊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303520"/>
            <a:ext cx="11055096" cy="658368"/>
          </a:xfrm>
          <a:prstGeom prst="roundRect">
            <a:avLst>
              <a:gd name="adj" fmla="val 13889"/>
            </a:avLst>
          </a:prstGeom>
          <a:solidFill>
            <a:srgbClr val="0B13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303520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不做诊断，只做「读数」和「吹哨」；真正的疗愈由专业疗愈师人对人、心对心完成。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 —— 谁最急需？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3465576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402336" cy="256032"/>
          </a:xfrm>
          <a:prstGeom prst="roundRect">
            <a:avLst>
              <a:gd name="adj" fmla="val 142857"/>
            </a:avLst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36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25296" y="149961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026664" y="1499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1883664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313432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将「线上秒回」列为第二大负担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1353312"/>
            <a:ext cx="3465576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4568" y="1536192"/>
            <a:ext cx="402336" cy="256032"/>
          </a:xfrm>
          <a:prstGeom prst="roundRect">
            <a:avLst>
              <a:gd name="adj" fmla="val 142857"/>
            </a:avLst>
          </a:prstGeom>
          <a:solidFill>
            <a:srgbClr val="E0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1536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0056" y="149961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821424" y="1499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44568" y="1883664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44568" y="2313432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业绩压力为主要负担（全行业第一）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56448" y="1353312"/>
            <a:ext cx="3465576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9328" y="1536192"/>
            <a:ext cx="402336" cy="256032"/>
          </a:xfrm>
          <a:prstGeom prst="roundRect">
            <a:avLst>
              <a:gd name="adj" fmla="val 142857"/>
            </a:avLst>
          </a:prstGeom>
          <a:solidFill>
            <a:srgbClr val="E0F2FE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1536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14816" y="149961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616184" y="1499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1883664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39328" y="2313432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3291840"/>
            <a:ext cx="3465576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474720"/>
            <a:ext cx="402336" cy="256032"/>
          </a:xfrm>
          <a:prstGeom prst="roundRect">
            <a:avLst>
              <a:gd name="adj" fmla="val 142857"/>
            </a:avLst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4747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25296" y="343814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026664" y="34381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808" y="382219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＞30%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9808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 30%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61688" y="3291840"/>
            <a:ext cx="3465576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44568" y="3474720"/>
            <a:ext cx="402336" cy="256032"/>
          </a:xfrm>
          <a:prstGeom prst="roundRect">
            <a:avLst>
              <a:gd name="adj" fmla="val 142857"/>
            </a:avLst>
          </a:prstGeom>
          <a:solidFill>
            <a:srgbClr val="E0F2FE"/>
          </a:solidFill>
          <a:ln/>
        </p:spPr>
      </p:sp>
      <p:sp>
        <p:nvSpPr>
          <p:cNvPr id="35" name="Text 33"/>
          <p:cNvSpPr/>
          <p:nvPr/>
        </p:nvSpPr>
        <p:spPr>
          <a:xfrm>
            <a:off x="4544568" y="34747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0056" y="343814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821424" y="34381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44568" y="382219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15.0%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544568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56448" y="3291840"/>
            <a:ext cx="3465576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39328" y="3474720"/>
            <a:ext cx="402336" cy="256032"/>
          </a:xfrm>
          <a:prstGeom prst="roundRect">
            <a:avLst>
              <a:gd name="adj" fmla="val 142857"/>
            </a:avLst>
          </a:prstGeom>
          <a:solidFill>
            <a:srgbClr val="E0F2FE"/>
          </a:solidFill>
          <a:ln/>
        </p:spPr>
      </p:sp>
      <p:sp>
        <p:nvSpPr>
          <p:cNvPr id="42" name="Text 40"/>
          <p:cNvSpPr/>
          <p:nvPr/>
        </p:nvSpPr>
        <p:spPr>
          <a:xfrm>
            <a:off x="8339328" y="34747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14816" y="343814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10616184" y="34381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339328" y="382219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140h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8339328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66928" y="5358384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 w="9525">
            <a:solidFill>
              <a:srgbClr val="4895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358384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市场支撑与需求真实性：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年南方电网数字集团、海南电网、长江电力等多家大型企业已公开采购员工心理关爱与疗愈服务，表明企业采购意向已进入实际采购期。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七大场景 —— 精真定义 AI 与疗愈的协同时刻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061704" y="694944"/>
            <a:ext cx="128016" cy="12801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9244584" y="612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158984" y="694944"/>
            <a:ext cx="128016" cy="12801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0341864" y="612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35331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1C254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13533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 / 行业痛点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62656" y="1353312"/>
            <a:ext cx="4165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轨道的角色 (智能识别与轻量推送)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47204" y="1353312"/>
            <a:ext cx="41650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疗愈轨道的角色 (专业疗愈师深度干预与转化)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181051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81051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通用预防型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62656" y="181051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24 小时倾诉 + 自动推送情绪调节资源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47204" y="181051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全员心理健康常态化教育 + 自助疗愈工具包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35915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35915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互联网 / 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62656" y="235915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识别持续焦虑及「35岁被替代」关键词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47204" y="235915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「情绪红绿灯」正念工作坊 + 叙事疗愈小组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290779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90779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🏦 金融 / 银行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62656" y="290779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监控并监测 KPI 高压下的情绪枯竭与波动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47204" y="290779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积极心理学培训 + 跨团队沟通疗愈小组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45643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45643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医护 / 护理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62656" y="345643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树洞倾听护士情绪，识别共情疲劳与高压信号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47204" y="345643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(EAP专属) + 困境盲盒工作坊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00507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00507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教育行业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62656" y="400507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追踪多重角色下的情绪耗竭与沟通焦虑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7204" y="400507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 认知重构工作坊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55371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455371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客服 / 服务业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62656" y="455371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捕捉客户负面情绪污染带来的心理崩溃风险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47204" y="455371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「心流插花」艺术疗愈 + 正念冥想与芳香疗愈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5102352"/>
            <a:ext cx="11055096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" y="510235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制造 / 汽车业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62656" y="510235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识别流水线重复劳作带来的社交隔离与疲劳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47204" y="5102352"/>
            <a:ext cx="41650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团队沙盘疗愈 + 情绪宣泄拳击课 + 心灵驿站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通用版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按情绪类型快速匹配疗愈活动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353312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典型情绪类型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79776" y="135331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员工典型临床 / 身心表现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54496" y="1353312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推荐疗愈活动与核心理论设计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43616" y="1353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单次时长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810512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1051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😰 焦虑紧张型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79776" y="181051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项目赶工恐慌、心跳加速、思维反刍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54496" y="1810512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「止步当下」正念呼吸工作坊 (MBSR)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43616" y="18105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分钟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368296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368296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😫 耗竭疲惫型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79776" y="2368296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身心俱疲、情感冷漠、情绪麻木、亚健康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4496" y="2368296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「能量唤醒与音疗」恢复工作坊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43616" y="236829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2926080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260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😔 情绪劳动型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79776" y="292608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强撑笑脸、隐忍委屈、情感透支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54496" y="292608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「色彩与面具」表达性艺术治疗工作坊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643616" y="29260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483864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48386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🌀 孤独无意义型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79776" y="3483864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价值感丧失、存在性焦虑、社交隔离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54496" y="3483864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「生命的重构」叙事疗愈深度陪伴小组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643616" y="348386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 × 4 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041648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04164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⚡️ 躯体紧张型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79776" y="404164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肩颈僵硬、压抑性头痛、易怒焦虑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54496" y="4041648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「身体觉知与释放」躯体疗法工作坊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643616" y="404164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599432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5994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混合 / 预防型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79776" y="459943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团队协作阻碍、心理安全感低、团队疏离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54496" y="4599432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「心理嘉年华与能量集市」游园会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43616" y="459943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440680"/>
            <a:ext cx="11055096" cy="530352"/>
          </a:xfrm>
          <a:prstGeom prst="roundRect">
            <a:avLst>
              <a:gd name="adj" fmla="val 13793"/>
            </a:avLst>
          </a:prstGeom>
          <a:solidFill>
            <a:srgbClr val="FDF2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44068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核心交付优势：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所有疗愈活动均基于科学心理学与表达性艺术治疗理论 (如正念减压疗法MBSR、巴林特小组、叙事心理学等)，拒绝纯娱乐化团建，保证专业性与可评估性。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行业版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六大行业精准痛点对标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35331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典型行业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88336" y="135331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行业员工最核心痛点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88736" y="135331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首选推荐活动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63456" y="13533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干预关键步骤与精细设计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81051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10512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互联网 / 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88336" y="1810512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「怕被替代、怕赶不上技术迭代」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1810512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63456" y="18105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可控与不可控要素矩阵拆解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395728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39572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🏦 金融 / 银行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88336" y="2395728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「业绩指标及决策压得喘不过气」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88736" y="2395728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积极心理与压力管理效能培训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63456" y="239572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「情绪暂停法」心理安全策略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2980944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8094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医护 / 护理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88336" y="2980944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「长期面对病患痛苦掏空了自己」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88736" y="2980944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医护专属巴林特小组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63456" y="298094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不评判、不打断、不指导的安全空间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566160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56616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教育行业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88336" y="356616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「教师、家长、行政多重角色耗竭」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88736" y="3566160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奥尔夫音乐协作疗愈工作坊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63456" y="35661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双人及团队简易乐器敲击合奏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151376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151376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客服 / 服务业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88336" y="4151376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「强撑笑脸和情绪劳动耗尽了我」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88736" y="4151376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「心流插花」专注艺术疗愈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63456" y="41513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花材触觉选择、自主命名与意义投射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73659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736592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制造 / 汽车业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688336" y="4736592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「流水线枯燥、孤独扛着双重压力」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888736" y="4736592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团队合作性心理沙盘疗愈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363456" y="47365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无声沙盘共创与团队能量图谱绘制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识别引擎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—— 轻量级情绪识别与三级预警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E0F2FE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AI 树洞？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1737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企业微信/钉钉/小程序的24h在线匿名倾诉工具。不记名、不留痕、彻底消除防备心。郑州高新区总工会AI树洞上线后已成功响应职工诉求超1300次。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2734056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05F9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共情式倾听与暖心回应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通过大模型情商框架承接员工的负面情绪宣泄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38328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" y="3575304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05F9E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9300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情绪倾向分析与实时分级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7673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智能分词与情绪建模，敏锐判定心理红线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224528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" y="4416552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05F9E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33425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疗愈方案自动且精准推送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6085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根据识别的情绪标签与层级实时推送适配资源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1344" y="13533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三级预警分类处置机制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81344" y="1682496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1682496"/>
            <a:ext cx="109728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hape 24"/>
          <p:cNvSpPr/>
          <p:nvPr/>
        </p:nvSpPr>
        <p:spPr>
          <a:xfrm>
            <a:off x="6455664" y="1819656"/>
            <a:ext cx="822960" cy="256032"/>
          </a:xfrm>
          <a:prstGeom prst="roundRect">
            <a:avLst>
              <a:gd name="adj" fmla="val 142857"/>
            </a:avLst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6455664" y="1819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绿色安全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15784" y="1792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识别特征：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「好累」「压力大」「睡不着」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55664" y="21214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干预动作：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自动推送针对性的正念呼吸音频或工间减压指导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81344" y="2734056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2734056"/>
            <a:ext cx="109728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Shape 30"/>
          <p:cNvSpPr/>
          <p:nvPr/>
        </p:nvSpPr>
        <p:spPr>
          <a:xfrm>
            <a:off x="6455664" y="2871216"/>
            <a:ext cx="822960" cy="256032"/>
          </a:xfrm>
          <a:prstGeom prst="roundRect">
            <a:avLst>
              <a:gd name="adj" fmla="val 142857"/>
            </a:avLst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28712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黄色预警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15784" y="2843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识别特征：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「快撑不住了」「想辞职」「天天失眠」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55664" y="31729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干预动作：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触发资源推送，并系统静默通知 HRBP 关怀其所在团队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81344" y="3785616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3785616"/>
            <a:ext cx="109728" cy="9601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55664" y="3922776"/>
            <a:ext cx="822960" cy="256032"/>
          </a:xfrm>
          <a:prstGeom prst="roundRect">
            <a:avLst>
              <a:gd name="adj" fmla="val 142857"/>
            </a:avLst>
          </a:prstGeom>
          <a:solidFill>
            <a:srgbClr val="FDF2E9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39227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红色警告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15784" y="38953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识别特征：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极端词汇、自残或绝望表述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55664" y="42245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干预动作：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立即转接 7×24 专业人工心理咨询师，并通知 EAP 专员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5413248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0B13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413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安全闭环原则：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采用「AI预警 + 人工复核」的协同模式 —— AI 负责实时敏感识别，但绝不自动给员工定性。所有的降级、干预方案均由疗愈师或 HRBP 复核后实施，切实保障员工隐私与尊严。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3380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36192"/>
            <a:ext cx="402336" cy="402336"/>
          </a:xfrm>
          <a:prstGeom prst="roundRect">
            <a:avLst>
              <a:gd name="adj" fmla="val 90909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情绪信号识别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95528" y="2011680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树洞捕捉用户倾诉与情绪信号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2249424"/>
            <a:ext cx="292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 + 预警等级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0312" y="1353312"/>
            <a:ext cx="310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04360" y="1353312"/>
            <a:ext cx="3380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5528" y="1536192"/>
            <a:ext cx="402336" cy="402336"/>
          </a:xfrm>
          <a:prstGeom prst="roundRect">
            <a:avLst>
              <a:gd name="adj" fmla="val 90909"/>
            </a:avLst>
          </a:prstGeom>
          <a:solidFill>
            <a:srgbClr val="4895E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52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17592" y="1554480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智能方案匹配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32960" y="2011680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按情绪、行业与员工画像算法匹配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2960" y="2249424"/>
            <a:ext cx="292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个性化推荐清单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57744" y="1353312"/>
            <a:ext cx="310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41792" y="1353312"/>
            <a:ext cx="3380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2960" y="1536192"/>
            <a:ext cx="402336" cy="402336"/>
          </a:xfrm>
          <a:prstGeom prst="roundRect">
            <a:avLst>
              <a:gd name="adj" fmla="val 90909"/>
            </a:avLst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44296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55024" y="1554480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闭环触达执行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70392" y="2011680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企业IM静默推送与人工二次复核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70392" y="2249424"/>
            <a:ext cx="292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落实干预交付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2670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三级活动资源映射示例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2999232"/>
            <a:ext cx="11055096" cy="365760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29992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048256" y="2999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绿色推送（全自助手册/冥想音频）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76088" y="2999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黄色推荐（小组团体工作坊）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03920" y="2999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红色介入（专业一对一心理疏导）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3419856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3419856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😰 焦虑紧张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048256" y="3419856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三分钟呼吸着陆法 (CBT自主音频)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76088" y="3419856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正念呼吸与压力释放团体工作坊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03920" y="3419856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疗愈师一对一深度焦虑压力疏导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3977640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39776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😫 耗竭疲惫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048256" y="39776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工间身体扫描音频与深度冥想引导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76088" y="39776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能量唤醒与音疗修复团体工作坊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03920" y="39776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疗愈师一对一能量与情绪危机修复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4535424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4535424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😔 抑郁低落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048256" y="453542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每日「三件好事」积极打卡小程序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76088" y="453542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叙事疗愈与生命重构深度陪伴小组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503920" y="453542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疗愈师一对一意义追寻与重构陪伴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评估方式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效果可衡量、可验证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四大核心预期效果 (对齐挑战赛指标)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007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心理安全感评分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1031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组织心理安全指数 (PSI) 量表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5.5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3.2 – 3.8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630168" y="17007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0168" y="17007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831336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人才留存率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31336" y="21031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核心骨干主动离职率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31336" y="23591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≤ 15.0%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31336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35.0%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66928" y="35295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5295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疗愈服务覆盖率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3931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树洞月活与覆盖深度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" y="41879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40.0%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68096" y="4882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0.0%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630168" y="35295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30168" y="35295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831336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情绪即时改善比例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31336" y="3931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活动后情绪改善问卷反馈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31336" y="41879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60.0%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831336" y="4882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0.0%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784848" y="135331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柯氏评估模型在心理健康的应用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784848" y="1700784"/>
            <a:ext cx="483717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12864" y="1865376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6912864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使用率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27848" y="179222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监测日常 AI 树洞使用率与情绪资源点击量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27848" y="208483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数据后台实时自动导出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12864" y="2532888"/>
            <a:ext cx="45811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40880" y="2697480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005F9E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2697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满意度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55864" y="262432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活动现场情绪温度计与即时五星满意度评价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55864" y="29169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现场纸质/二维码快捷反馈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40880" y="3364992"/>
            <a:ext cx="43251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68896" y="3529584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4895EF"/>
          </a:solidFill>
          <a:ln/>
        </p:spPr>
      </p:sp>
      <p:sp>
        <p:nvSpPr>
          <p:cNvPr id="43" name="Text 41"/>
          <p:cNvSpPr/>
          <p:nvPr/>
        </p:nvSpPr>
        <p:spPr>
          <a:xfrm>
            <a:off x="7168896" y="35295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行为改善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183880" y="345643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跟进疗愈活动后第3天及第7天的情绪随访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374904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自动推送随访问卷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68896" y="4197096"/>
            <a:ext cx="4069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96912" y="4361688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7296912" y="436168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心理指标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11896" y="4288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PSI 心理安全感简明量表测量心智改变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11896" y="4581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每季度全员抽样问卷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96912" y="5029200"/>
            <a:ext cx="3813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24928" y="5193792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7424928" y="5193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组织影响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39912" y="512064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考核高危流失率、病假率以及团队产出绩效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439912" y="54132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半年/年度组织综合报表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9436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商业价值与社会效益双赢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8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298948" cy="3566160"/>
          </a:xfrm>
          <a:prstGeom prst="roundRect">
            <a:avLst>
              <a:gd name="adj" fmla="val 3077"/>
            </a:avLst>
          </a:prstGeom>
          <a:solidFill>
            <a:srgbClr val="1B2A3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20240"/>
            <a:ext cx="5298948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194560"/>
            <a:ext cx="548640" cy="402336"/>
          </a:xfrm>
          <a:prstGeom prst="roundRect">
            <a:avLst>
              <a:gd name="adj" fmla="val 90909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1945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72768" y="2194560"/>
            <a:ext cx="4110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AI/SaaS 赛道评委的交付价值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880360"/>
            <a:ext cx="4384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树洞」技术架构极其轻量，极易通过企业微信等落地部署，具备卓越的商业复制性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68503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3685032"/>
            <a:ext cx="4384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针对隐私提供一整套脱敏哈希、无痕聊天与一键销毁等严密制度，彻底跨越合规红线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4489704"/>
            <a:ext cx="4384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边界明确，严格定位为「倾听与预警吹哨人」，绝不越俎代庖替代专业的心理干预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3076" y="1920240"/>
            <a:ext cx="5298948" cy="3566160"/>
          </a:xfrm>
          <a:prstGeom prst="roundRect">
            <a:avLst>
              <a:gd name="adj" fmla="val 3077"/>
            </a:avLst>
          </a:prstGeom>
          <a:solidFill>
            <a:srgbClr val="32262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3076" y="1920240"/>
            <a:ext cx="5298948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43116" y="2194560"/>
            <a:ext cx="548640" cy="402336"/>
          </a:xfrm>
          <a:prstGeom prst="roundRect">
            <a:avLst>
              <a:gd name="adj" fmla="val 90909"/>
            </a:avLst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643116" y="21945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28916" y="2194560"/>
            <a:ext cx="4110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对疗愈与 EAP 赛道评委的专业价值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70548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81444" y="2880360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正念减压、表达性艺术治疗、巴林特小组及叙事学理论基础夯实，拒绝纯娱乐化团建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0548" y="35021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81444" y="3502152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明确凸显疗愈师在情绪深层转化及一对一陪伴中的主体地位，AI 不削弱疗愈师重要性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0548" y="4123944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81444" y="4123944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首创针对高内耗行业的差异化定制疗愈课程，避免一刀切，极大提升组织干预效果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70548" y="4745736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81444" y="4745736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数据指标及处置路径严格遵循 IAOTH 国际伦理规范，保证全周期学术级严谨度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+ 疗愈轨道　·　用数字科技温情守护职场心灵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 AI + 疗愈轨道 (方案A)</dc:title>
  <dc:subject>企业员工心理安全与成长共生系统</dc:subject>
  <dc:creator>Antigravity AI (Google DeepMind)</dc:creator>
  <cp:lastModifiedBy>Antigravity AI (Google DeepMind)</cp:lastModifiedBy>
  <cp:revision>1</cp:revision>
  <dcterms:created xsi:type="dcterms:W3CDTF">2026-07-14T14:26:05Z</dcterms:created>
  <dcterms:modified xsi:type="dcterms:W3CDTF">2026-07-14T14:26:05Z</dcterms:modified>
</cp:coreProperties>
</file>