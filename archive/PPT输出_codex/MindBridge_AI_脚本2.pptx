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b7537f9c0c42b6" /><Relationship Type="http://schemas.openxmlformats.org/officeDocument/2006/relationships/extended-properties" Target="/docProps/app.xml" Id="Rdf7eceec56ae4790" /><Relationship Type="http://schemas.openxmlformats.org/officeDocument/2006/relationships/officeDocument" Target="/ppt/presentation.xml" Id="R93c4ba73d1144f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05fae271214286"/>
  </p:sldMasterIdLst>
  <p:notesMasterIdLst>
    <p:notesMasterId xmlns:r="http://schemas.openxmlformats.org/officeDocument/2006/relationships" r:id="Rbe90fff6c49d49c7"/>
  </p:notesMasterIdLst>
  <p:sldIdLst>
    <p:sldId xmlns:r="http://schemas.openxmlformats.org/officeDocument/2006/relationships" id="256" r:id="Rf53183325b184f57"/>
    <p:sldId xmlns:r="http://schemas.openxmlformats.org/officeDocument/2006/relationships" id="257" r:id="R850d8eb4ee6a43ca"/>
    <p:sldId xmlns:r="http://schemas.openxmlformats.org/officeDocument/2006/relationships" id="258" r:id="Re5363596b6ff4257"/>
    <p:sldId xmlns:r="http://schemas.openxmlformats.org/officeDocument/2006/relationships" id="259" r:id="R8049c0697af447e7"/>
    <p:sldId xmlns:r="http://schemas.openxmlformats.org/officeDocument/2006/relationships" id="260" r:id="Reaae51f4ac044270"/>
    <p:sldId xmlns:r="http://schemas.openxmlformats.org/officeDocument/2006/relationships" id="261" r:id="R34bdfcd2492f45e1"/>
    <p:sldId xmlns:r="http://schemas.openxmlformats.org/officeDocument/2006/relationships" id="262" r:id="Re5d1d95ffd144819"/>
    <p:sldId xmlns:r="http://schemas.openxmlformats.org/officeDocument/2006/relationships" id="263" r:id="Rcf766091cdfb4660"/>
    <p:sldId xmlns:r="http://schemas.openxmlformats.org/officeDocument/2006/relationships" id="264" r:id="R546a0f47867c4ca7"/>
    <p:sldId xmlns:r="http://schemas.openxmlformats.org/officeDocument/2006/relationships" id="265" r:id="R893b5a98d5fa4b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66dc50903a4b28" /><Relationship Type="http://schemas.openxmlformats.org/officeDocument/2006/relationships/slideMaster" Target="/ppt/slideMasters/slideMaster1.xml" Id="R1505fae271214286" /><Relationship Type="http://schemas.openxmlformats.org/officeDocument/2006/relationships/notesMaster" Target="/ppt/notesMasters/notesMaster1.xml" Id="Rbe90fff6c49d49c7" /><Relationship Type="http://schemas.openxmlformats.org/officeDocument/2006/relationships/presProps" Target="/ppt/presProps.xml" Id="R2fe0c0f5bb88442a" /><Relationship Type="http://schemas.openxmlformats.org/officeDocument/2006/relationships/tableStyles" Target="/ppt/tableStyles.xml" Id="R6a5c437f8d6c40a4" /><Relationship Type="http://schemas.openxmlformats.org/officeDocument/2006/relationships/slide" Target="/ppt/slides/slide1.xml" Id="Rf53183325b184f57" /><Relationship Type="http://schemas.openxmlformats.org/officeDocument/2006/relationships/slide" Target="/ppt/slides/slide2.xml" Id="R850d8eb4ee6a43ca" /><Relationship Type="http://schemas.openxmlformats.org/officeDocument/2006/relationships/slide" Target="/ppt/slides/slide3.xml" Id="Re5363596b6ff4257" /><Relationship Type="http://schemas.openxmlformats.org/officeDocument/2006/relationships/slide" Target="/ppt/slides/slide4.xml" Id="R8049c0697af447e7" /><Relationship Type="http://schemas.openxmlformats.org/officeDocument/2006/relationships/slide" Target="/ppt/slides/slide5.xml" Id="Reaae51f4ac044270" /><Relationship Type="http://schemas.openxmlformats.org/officeDocument/2006/relationships/slide" Target="/ppt/slides/slide6.xml" Id="R34bdfcd2492f45e1" /><Relationship Type="http://schemas.openxmlformats.org/officeDocument/2006/relationships/slide" Target="/ppt/slides/slide7.xml" Id="Re5d1d95ffd144819" /><Relationship Type="http://schemas.openxmlformats.org/officeDocument/2006/relationships/slide" Target="/ppt/slides/slide8.xml" Id="Rcf766091cdfb4660" /><Relationship Type="http://schemas.openxmlformats.org/officeDocument/2006/relationships/slide" Target="/ppt/slides/slide9.xml" Id="R546a0f47867c4ca7" /><Relationship Type="http://schemas.openxmlformats.org/officeDocument/2006/relationships/slide" Target="/ppt/slides/slide10.xml" Id="R893b5a98d5fa4b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91317ef8be4a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0f24bb85444ebf" /><Relationship Type="http://schemas.openxmlformats.org/officeDocument/2006/relationships/notesMaster" Target="/ppt/notesMasters/notesMaster1.xml" Id="R03fcfdaf360640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46be7d0fbb4b41" /><Relationship Type="http://schemas.openxmlformats.org/officeDocument/2006/relationships/notesMaster" Target="/ppt/notesMasters/notesMaster1.xml" Id="R3c8bbe2c9ad846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71dd9727eb4499" /><Relationship Type="http://schemas.openxmlformats.org/officeDocument/2006/relationships/notesMaster" Target="/ppt/notesMasters/notesMaster1.xml" Id="R81979cad6c1442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d4b2edb57f4a82" /><Relationship Type="http://schemas.openxmlformats.org/officeDocument/2006/relationships/notesMaster" Target="/ppt/notesMasters/notesMaster1.xml" Id="R2e70bdcf5da544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4374a45add423b" /><Relationship Type="http://schemas.openxmlformats.org/officeDocument/2006/relationships/notesMaster" Target="/ppt/notesMasters/notesMaster1.xml" Id="R90bcb0434c3e4e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77394fc0214600" /><Relationship Type="http://schemas.openxmlformats.org/officeDocument/2006/relationships/notesMaster" Target="/ppt/notesMasters/notesMaster1.xml" Id="Ra24b59cdaa004d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422f5b6c474ab0" /><Relationship Type="http://schemas.openxmlformats.org/officeDocument/2006/relationships/notesMaster" Target="/ppt/notesMasters/notesMaster1.xml" Id="R213fa55bad4d4b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85fd5dea8045d2" /><Relationship Type="http://schemas.openxmlformats.org/officeDocument/2006/relationships/notesMaster" Target="/ppt/notesMasters/notesMaster1.xml" Id="R312c1cd65cdb45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a791b161c34396" /><Relationship Type="http://schemas.openxmlformats.org/officeDocument/2006/relationships/notesMaster" Target="/ppt/notesMasters/notesMaster1.xml" Id="R55e9a0dcde3840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5f1b5be9174c3c" /><Relationship Type="http://schemas.openxmlformats.org/officeDocument/2006/relationships/notesMaster" Target="/ppt/notesMasters/notesMaster1.xml" Id="Rb1884fd9259b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ce0ee62084d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c248aa5fac42ea" /><Relationship Type="http://schemas.openxmlformats.org/officeDocument/2006/relationships/slideLayout" Target="/ppt/slideLayouts/slideLayout1.xml" Id="Re3a26641b37c47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a26641b37c47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15fbe36ef44dd" /><Relationship Type="http://schemas.openxmlformats.org/officeDocument/2006/relationships/image" Target="/ppt/media/image.png" Id="Ra3f2a4f7e1c44641" /><Relationship Type="http://schemas.openxmlformats.org/officeDocument/2006/relationships/notesSlide" Target="/ppt/notesSlides/notesSlide1.xml" Id="R6cb71431a22b48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db3eb542e4bca" /><Relationship Type="http://schemas.openxmlformats.org/officeDocument/2006/relationships/notesSlide" Target="/ppt/notesSlides/notesSlide2.xml" Id="R477950d8ec234a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7a69822bc41c4" /><Relationship Type="http://schemas.openxmlformats.org/officeDocument/2006/relationships/notesSlide" Target="/ppt/notesSlides/notesSlide3.xml" Id="R588b6bc07d4c49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157d6e98b4e69" /><Relationship Type="http://schemas.openxmlformats.org/officeDocument/2006/relationships/notesSlide" Target="/ppt/notesSlides/notesSlide4.xml" Id="R3a37018add2d45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d6aadf8584a39" /><Relationship Type="http://schemas.openxmlformats.org/officeDocument/2006/relationships/notesSlide" Target="/ppt/notesSlides/notesSlide5.xml" Id="Rd3c76a6c38bc4f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66d1f4b5e4c1a" /><Relationship Type="http://schemas.openxmlformats.org/officeDocument/2006/relationships/notesSlide" Target="/ppt/notesSlides/notesSlide6.xml" Id="R461e20b7c98f41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086e2971047c4" /><Relationship Type="http://schemas.openxmlformats.org/officeDocument/2006/relationships/notesSlide" Target="/ppt/notesSlides/notesSlide7.xml" Id="R291c489366364c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a9e478b684b47" /><Relationship Type="http://schemas.openxmlformats.org/officeDocument/2006/relationships/notesSlide" Target="/ppt/notesSlides/notesSlide8.xml" Id="R70cb729dcf8441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4a6dfeacd41b0" /><Relationship Type="http://schemas.openxmlformats.org/officeDocument/2006/relationships/notesSlide" Target="/ppt/notesSlides/notesSlide9.xml" Id="R9095e24108d842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012e52b874b62" /><Relationship Type="http://schemas.openxmlformats.org/officeDocument/2006/relationships/notesSlide" Target="/ppt/notesSlides/notesSlide10.xml" Id="R5729aa7a14f146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2a4f7e1c4464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81B7D-0A9D-4C98-A870-9B6A8CC5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5372100" cy="54292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DF8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EF3BD-B7A7-4007-8D4F-CD46242C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83B3A"/>
                </a:solidFill>
              </a:defRPr>
            </a:pPr>
            <a:r>
              <a:rPr sz="4650" b="1">
                <a:solidFill>
                  <a:srgbClr val="183B3A"/>
                </a:solidFill>
              </a:rPr>
              <a:t>MindBridge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6C0A4-0700-4772-8D00-11667136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D706B"/>
                </a:solidFill>
              </a:defRPr>
            </a:pPr>
            <a:r>
              <a:rPr sz="4350" b="1">
                <a:solidFill>
                  <a:srgbClr val="2D706B"/>
                </a:solidFill>
              </a:rPr>
              <a:t>+ 疗愈轨道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7D231-0B9E-412D-96DE-E527E48D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企业员工心理安全与成长共生系统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A6617-D5F7-4C06-BFB2-2FD3F2D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5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C42CD-B5C6-418F-89F4-206B4149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5755"/>
                </a:solidFill>
              </a:defRPr>
            </a:pPr>
            <a:r>
              <a:rPr sz="1500" b="1">
                <a:solidFill>
                  <a:srgbClr val="1E5755"/>
                </a:solidFill>
              </a:rPr>
              <a:t>国际疗愈师赛题 × AI应用创新赛道 融合方案</a:t>
            </a:r>
          </a:p>
        </p:txBody>
      </p:sp>
    </p:spTree>
    <p:extLst>
      <p:ext uri="{BB962C8B-B14F-4D97-AF65-F5344CB8AC3E}">
        <p14:creationId xmlns:p14="http://schemas.microsoft.com/office/powerpoint/2010/main" val="7999614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09545E-0CB4-4031-9980-27ADE930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58E"/>
                </a:solidFill>
              </a:defRPr>
            </a:pPr>
            <a:r>
              <a:rPr sz="1275" b="1">
                <a:solidFill>
                  <a:srgbClr val="E8B58E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BDF10-E414-4102-A16A-017CECF1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B3A"/>
                </a:solidFill>
              </a:defRPr>
            </a:pPr>
            <a:r>
              <a:rPr sz="3150" b="1">
                <a:solidFill>
                  <a:srgbClr val="183B3A"/>
                </a:solidFill>
              </a:rPr>
              <a:t>双轨并行——AI负责广度，疗愈轨道负责深度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5BD90-A2C9-4B45-B4AF-3DCC1C87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97781-9A4E-42E7-A158-7B8C8F82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员工要么不敢求助，要么求助后得到的只是“治标不治本”的话术。</a:t>
            </a:r>
          </a:p>
          <a:p xmlns:a="http://schemas.openxmlformats.org/drawingml/2006/main">
            <a:pPr algn="ctr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本方案创造性提出“AI预警与推荐 + 疗愈师深度陪伴”的双轨模型。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C75E1-FC10-4335-8E39-AB44BDEA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85AF1-4BD5-4314-86EF-B5924C50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7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B0EA7-9A59-441E-BD8C-419E16F7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AI轨道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57E07-A97A-4925-8AB0-A25AD916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倾听者 + 匹配师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817D6-ABB5-4824-B5F6-82D75353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875"/>
                </a:solidFill>
              </a:defRPr>
            </a:pPr>
            <a:r>
              <a:rPr sz="1650" b="0">
                <a:solidFill>
                  <a:srgbClr val="607875"/>
                </a:solidFill>
              </a:rPr>
              <a:t>AI树洞情绪识别、预警、个性化推荐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9498-1876-438A-B259-AA5D4825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5755"/>
                </a:solidFill>
              </a:defRPr>
            </a:pPr>
            <a:r>
              <a:rPr sz="1425" b="1">
                <a:solidFill>
                  <a:srgbClr val="1E5755"/>
                </a:solidFill>
              </a:rPr>
              <a:t>数字疗愈与AI辅助支持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E6964-FCC3-43A8-93BE-801F4AA1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71700"/>
            <a:ext cx="49530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17E1C-3096-424D-A7E9-128CE07A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B5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251E3-6C4B-415B-B8C1-A3E47F9E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疗愈轨道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2CB34-A42C-4431-AB9B-70AB4D15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38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转化师 + 陪伴者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CD339-415F-4152-A9D6-065149AF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909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875"/>
                </a:solidFill>
              </a:defRPr>
            </a:pPr>
            <a:r>
              <a:rPr sz="1650" b="0">
                <a:solidFill>
                  <a:srgbClr val="607875"/>
                </a:solidFill>
              </a:rPr>
              <a:t>能量疗愈、情绪疏导、深层转化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8FB46-2E1A-457C-9782-5936DF2B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29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5755"/>
                </a:solidFill>
              </a:defRPr>
            </a:pPr>
            <a:r>
              <a:rPr sz="1425" b="1">
                <a:solidFill>
                  <a:srgbClr val="1E5755"/>
                </a:solidFill>
              </a:rPr>
              <a:t>疗愈师主体性与专业胜任力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F6D25-2CCE-46F9-8FFD-9AA7FB00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81350"/>
            <a:ext cx="1257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6A8AE-A1FB-4B7B-B45B-1B0720DF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B3A"/>
                </a:solidFill>
              </a:defRPr>
            </a:pPr>
            <a:r>
              <a:rPr sz="1425" b="1">
                <a:solidFill>
                  <a:srgbClr val="183B3A"/>
                </a:solidFill>
              </a:rPr>
              <a:t>人工复核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C794F-626D-4443-9497-86350D79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E5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F1185-8D77-4BD4-B9D8-A21755A1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AI不做诊断，只做“读数”和“吹哨”。真正的疗愈由疗愈师完成。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8CDF2-556E-4055-ABE1-4345D10E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MindBridge AI + 疗愈轨道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A3F9F-3315-4E96-A1DD-D0E7339C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875"/>
                </a:solidFill>
              </a:defRPr>
            </a:pPr>
            <a:r>
              <a:rPr sz="975" b="1">
                <a:solidFill>
                  <a:srgbClr val="60787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631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A856CC-9AEF-4775-B80F-5727BD22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58E"/>
                </a:solidFill>
              </a:defRPr>
            </a:pPr>
            <a:r>
              <a:rPr sz="1275" b="1">
                <a:solidFill>
                  <a:srgbClr val="E8B58E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51D9B-A63F-444B-B752-1C7B4398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B3A"/>
                </a:solidFill>
              </a:defRPr>
            </a:pPr>
            <a:r>
              <a:rPr sz="3150" b="1">
                <a:solidFill>
                  <a:srgbClr val="183B3A"/>
                </a:solidFill>
              </a:rPr>
              <a:t>六大高内耗行业靶向 + 七大应用场景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2610E-5708-4290-B053-BA0E744E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E2A82-6D76-4F63-9A90-DE0A1D4E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B3A"/>
                </a:solidFill>
              </a:defRPr>
            </a:pPr>
            <a:r>
              <a:rPr sz="1650" b="1">
                <a:solidFill>
                  <a:srgbClr val="183B3A"/>
                </a:solidFill>
              </a:rPr>
              <a:t>六大高内耗行业总览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082A2-AA6B-4BE4-8498-9E594EBA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D0F95-01D6-45F3-AD65-88723DA1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3A"/>
                </a:solidFill>
              </a:defRPr>
            </a:pPr>
            <a:r>
              <a:rPr sz="1125" b="1">
                <a:solidFill>
                  <a:srgbClr val="183B3A"/>
                </a:solidFill>
              </a:rPr>
              <a:t>行业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933D7-F101-470C-9D89-19B47D25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8115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49BE6-D36B-48B3-A922-FEF76AA2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647825"/>
            <a:ext cx="668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核心数据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EE7B8-C88A-4C93-9D0C-82B20A39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81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5940C-6FBE-4897-8259-3FD6D145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4782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采购优先级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AF27F-EF47-4B5E-B9A4-764B8B5A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286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A7AD5-57E5-44B2-8DBD-0F554DA3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33575"/>
            <a:ext cx="2114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3A"/>
                </a:solidFill>
              </a:defRPr>
            </a:pPr>
            <a:r>
              <a:rPr sz="1125" b="1">
                <a:solidFill>
                  <a:srgbClr val="183B3A"/>
                </a:solidFill>
              </a:rPr>
              <a:t>互联网/IT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246E5-37C6-49EF-98EB-C527A14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66900"/>
            <a:ext cx="6858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9DEE2-E393-4346-BFA5-E1A20651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33575"/>
            <a:ext cx="6686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65.4%将“线上秒回”列为第二大负担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1D0FC-CB47-448E-86A1-59D1E8BC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66900"/>
            <a:ext cx="1828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A6BAA-AACF-40C7-AFC7-0C7DAFB3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33575"/>
            <a:ext cx="1657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★★★★★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4392C-4692-4C93-85E4-774FD4E4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286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9481-7A79-408B-A383-B8EBFD4B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09800"/>
            <a:ext cx="2114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3A"/>
                </a:solidFill>
              </a:defRPr>
            </a:pPr>
            <a:r>
              <a:rPr sz="1125" b="1">
                <a:solidFill>
                  <a:srgbClr val="183B3A"/>
                </a:solidFill>
              </a:rPr>
              <a:t>金融/银行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BBFFA-F659-415E-9D20-AD8692D2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43125"/>
            <a:ext cx="6858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07B02-2319-4206-980A-7E050EA4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09800"/>
            <a:ext cx="6686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42.9%业绩压力为主要负担（全行业第一）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F9D95-74C1-4D83-8A3C-80C24146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43125"/>
            <a:ext cx="1828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8A96D7-B9BA-45A9-9C97-D92B5C35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09800"/>
            <a:ext cx="1657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★★★★★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7EACBC-6E27-4602-89FD-91A5E95D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286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9F35F-E622-436C-A480-959D2B4A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86025"/>
            <a:ext cx="2114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3A"/>
                </a:solidFill>
              </a:defRPr>
            </a:pPr>
            <a:r>
              <a:rPr sz="1125" b="1">
                <a:solidFill>
                  <a:srgbClr val="183B3A"/>
                </a:solidFill>
              </a:rPr>
              <a:t>医护/护理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A27BE-E923-4EA8-9877-FF8B0D99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6858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F7EB1B-416E-47C4-998E-DBDBB61B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86025"/>
            <a:ext cx="6686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护理人员抑郁率达11%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50B6B8-29A0-41E1-BEA5-A1DB0E7E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19350"/>
            <a:ext cx="1828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85AD72-C5B9-45E4-9595-50EE72AC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86025"/>
            <a:ext cx="1657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★★★★☆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73577A-BA18-49A2-8E09-D8B05473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286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17D86A-7F0A-466B-9AA2-B9BFC1E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62250"/>
            <a:ext cx="2114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3A"/>
                </a:solidFill>
              </a:defRPr>
            </a:pPr>
            <a:r>
              <a:rPr sz="1125" b="1">
                <a:solidFill>
                  <a:srgbClr val="183B3A"/>
                </a:solidFill>
              </a:rPr>
              <a:t>教育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F612D0-8029-4A8D-A02D-F1D56F26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95575"/>
            <a:ext cx="6858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038700-5ACB-44C7-91D9-078B2C2A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762250"/>
            <a:ext cx="6686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部分教师抑郁检出率＞30%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FEAC99-7C2D-4CE5-ABA5-1C6906C4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95575"/>
            <a:ext cx="1828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0773E1-552D-42F8-AB4D-5633D81E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62250"/>
            <a:ext cx="1657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★★★★☆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883515-5A0B-4DDB-A814-FA69F47E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286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DF6590-6FB3-427E-9BAB-5C075ACB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38475"/>
            <a:ext cx="2114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3A"/>
                </a:solidFill>
              </a:defRPr>
            </a:pPr>
            <a:r>
              <a:rPr sz="1125" b="1">
                <a:solidFill>
                  <a:srgbClr val="183B3A"/>
                </a:solidFill>
              </a:rPr>
              <a:t>客服/服务业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7139D1-9FFD-4E9B-B40A-9C9D66A1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71800"/>
            <a:ext cx="6858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5FBA80-16B2-438D-BEFC-71B03E8D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38475"/>
            <a:ext cx="6686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餐饮服务员女性抑郁率15%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41387B-B73D-45FC-A156-6705A977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71800"/>
            <a:ext cx="1828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B52A31-5D2C-4DDC-8348-23418C39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38475"/>
            <a:ext cx="1657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★★★☆☆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007439-E157-4CAB-9539-CCEF329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2286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C6D866-10E6-4F81-9936-81C71DFD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14700"/>
            <a:ext cx="2114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3A"/>
                </a:solidFill>
              </a:defRPr>
            </a:pPr>
            <a:r>
              <a:rPr sz="1125" b="1">
                <a:solidFill>
                  <a:srgbClr val="183B3A"/>
                </a:solidFill>
              </a:rPr>
              <a:t>制造业/汽车业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8EB2CB-04BC-4162-ABD9-213B95FA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48025"/>
            <a:ext cx="6858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04B95B-F2F7-4016-A315-07873E26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14700"/>
            <a:ext cx="6686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新车上市月均加班140小时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CE69BB-C094-4972-8454-14220E3A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48025"/>
            <a:ext cx="1828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00BBEC-28D7-412E-A023-75FF74A5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14700"/>
            <a:ext cx="1657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★★★☆☆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674750-1CD4-4666-8C79-EA04B461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B3A"/>
                </a:solidFill>
              </a:defRPr>
            </a:pPr>
            <a:r>
              <a:rPr sz="1650" b="1">
                <a:solidFill>
                  <a:srgbClr val="183B3A"/>
                </a:solidFill>
              </a:rPr>
              <a:t>七大应用场景总览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C5090C-19F3-48AE-ACE4-CBE3517F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BB9059-5021-4768-88EB-765B1CE4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10025"/>
            <a:ext cx="1924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B3A"/>
                </a:solidFill>
              </a:defRPr>
            </a:pPr>
            <a:r>
              <a:rPr sz="1050" b="1">
                <a:solidFill>
                  <a:srgbClr val="183B3A"/>
                </a:solidFill>
              </a:rPr>
              <a:t>场景类型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3360E0-F612-4D3A-B051-75C71535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4335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9FD355-5B2F-4462-B423-B944E02E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010025"/>
            <a:ext cx="426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AI轨道角色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8BAF84-20D5-4A60-A6BE-CBD0B32C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4335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5C170C-9663-44F9-B627-96FDEA53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010025"/>
            <a:ext cx="426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疗愈轨道角色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DCF56E-BCB5-4D93-B7A8-E4EB452F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EBA71A-2CD4-403C-8B83-2C8EA009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76725"/>
            <a:ext cx="1924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B3A"/>
                </a:solidFill>
              </a:defRPr>
            </a:pPr>
            <a:r>
              <a:rPr sz="975" b="1">
                <a:solidFill>
                  <a:srgbClr val="183B3A"/>
                </a:solidFill>
              </a:rPr>
              <a:t>通用预防型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3F99BC-6ACF-4039-ABCF-E93BB65F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10050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C52B00-0289-4031-8F9E-58E19C15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276725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AI树洞24小时倾诉 + 自动推送资源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FEC99D-DF40-4749-9CE7-AA38F3A8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0050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2E58E5-E348-4EEC-8CC6-85637F32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276725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全员心理健康教育 + 自助工具包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B73ECE-0071-4BFE-B417-5EDD7E16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FCB0C7-770C-461D-A463-3D165FBF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33900"/>
            <a:ext cx="1924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B3A"/>
                </a:solidFill>
              </a:defRPr>
            </a:pPr>
            <a:r>
              <a:rPr sz="975" b="1">
                <a:solidFill>
                  <a:srgbClr val="183B3A"/>
                </a:solidFill>
              </a:rPr>
              <a:t>互联网/IT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EAE818-EC1B-4DF9-81C7-87DBBF0F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67225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143904-20ED-4A93-B055-CE971F83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533900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AI树洞识别焦虑、“被替代”关键词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D16FD0-A993-454A-A5EE-2C044699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67225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5361A5-F3F4-473B-80B8-54964638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533900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正念工作坊 + 叙事疗愈小组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D4EA9A-0B72-48AD-9260-8D221D21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C5F8C8-E021-4F29-B507-23305FE0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91075"/>
            <a:ext cx="1924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B3A"/>
                </a:solidFill>
              </a:defRPr>
            </a:pPr>
            <a:r>
              <a:rPr sz="975" b="1">
                <a:solidFill>
                  <a:srgbClr val="183B3A"/>
                </a:solidFill>
              </a:rPr>
              <a:t>金融/银行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0DFCA4-BC73-42BD-8CA3-DBA1D7AE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24400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E0E652D-3F01-49BC-90C3-7CE37F73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791075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AI树洞监测业绩高压倾诉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5A1E558-96C1-487A-B27F-56AECED7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4636E74-A358-4046-A9A3-7B3F6161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91075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积极心理培训 + 跨团队疗愈小组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F1AA337-816D-45D3-A533-9768D6ED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59D9CE5-C680-42AF-A923-50C721B2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48250"/>
            <a:ext cx="1924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B3A"/>
                </a:solidFill>
              </a:defRPr>
            </a:pPr>
            <a:r>
              <a:rPr sz="975" b="1">
                <a:solidFill>
                  <a:srgbClr val="183B3A"/>
                </a:solidFill>
              </a:rPr>
              <a:t>医护/护理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B3E74AF-E036-41C8-B8DF-F054C527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81575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51800E-A04C-4752-A3CC-DC123876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048250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AI树洞持续倾听 + 情绪耗竭信号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9D66F2-B17B-46B6-A90C-8E404DB9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81575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70DB992-A8F0-43A6-8FB0-3889F9DB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048250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巴林特小组 + 困境盲盒工作坊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FBF38D3-0391-4262-89FE-853E5672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F5644D3-CCE5-44A6-9F9E-EC46B4E3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05425"/>
            <a:ext cx="1924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B3A"/>
                </a:solidFill>
              </a:defRPr>
            </a:pPr>
            <a:r>
              <a:rPr sz="975" b="1">
                <a:solidFill>
                  <a:srgbClr val="183B3A"/>
                </a:solidFill>
              </a:rPr>
              <a:t>教育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FDA2C14-7AEC-4146-9008-E13E54A7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38750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CE09912-1740-4354-8A6F-705AE1C7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305425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AI树洞追踪情绪耗竭 + 沟通焦虑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AF5087D-24F6-4AA3-A313-0532E0F1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38750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0B351AE-5D97-41B4-81C1-E6E27514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305425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奥尔夫音乐疗愈 + ABC理论工作坊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92506B9-FBB2-44DB-A1F7-05049F8C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878349E-A086-4331-AA16-826A429A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62600"/>
            <a:ext cx="1924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B3A"/>
                </a:solidFill>
              </a:defRPr>
            </a:pPr>
            <a:r>
              <a:rPr sz="975" b="1">
                <a:solidFill>
                  <a:srgbClr val="183B3A"/>
                </a:solidFill>
              </a:rPr>
              <a:t>客服/服务业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76786B-E79F-4818-BAF8-8F5A6BE1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95925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4CBC09-3C12-4E1D-9634-AED6B4CF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562600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AI树洞识别情绪崩溃风险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6648659-8953-43B5-A392-774C968A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95925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6493DDB-AE57-469C-A682-9806BEA4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562600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心流插花 + 正念冥想+芳香疗愈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E4535D0-47F9-4600-9B3B-422A7176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0A05A17-EAAA-4B95-B074-EEB7C4AE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9775"/>
            <a:ext cx="1924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B3A"/>
                </a:solidFill>
              </a:defRPr>
            </a:pPr>
            <a:r>
              <a:rPr sz="975" b="1">
                <a:solidFill>
                  <a:srgbClr val="183B3A"/>
                </a:solidFill>
              </a:rPr>
              <a:t>制造业/汽车业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DC3CE64-5646-4E92-9912-4B5A7F26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53100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AE7C6B-5455-4BDC-B082-9E5CFA82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819775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AI树洞识别社交隔离 + 疲劳分析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8A30A04-3718-4F8C-8D83-5AEDA257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53100"/>
            <a:ext cx="443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23EF03-6DA4-4438-8856-1ACA4C56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819775"/>
            <a:ext cx="426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沙盘疗愈 + 拳击课 + 心灵驿站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D553951-9E60-4EEC-A89E-22ACFF4A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市场支撑：2025年已有南网数字集团、海南电网、长江电力等多家大型企业公开采购员工心理关爱服务。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CF1F45-1EB0-412B-B39C-8F4A622E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MindBridge AI + 疗愈轨道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C09EF24-87AA-48DC-B79D-B25D9500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875"/>
                </a:solidFill>
              </a:defRPr>
            </a:pPr>
            <a:r>
              <a:rPr sz="975" b="1">
                <a:solidFill>
                  <a:srgbClr val="60787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2070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2E9BF8-8604-4BB0-8F81-6DCABAFE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58E"/>
                </a:solidFill>
              </a:defRPr>
            </a:pPr>
            <a:r>
              <a:rPr sz="1275" b="1">
                <a:solidFill>
                  <a:srgbClr val="E8B58E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45598-D04D-4A60-BF7B-1E07710F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B3A"/>
                </a:solidFill>
              </a:defRPr>
            </a:pPr>
            <a:r>
              <a:rPr sz="3150" b="1">
                <a:solidFill>
                  <a:srgbClr val="183B3A"/>
                </a:solidFill>
              </a:rPr>
              <a:t>按情绪类型快速匹配疗愈活动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9A6A8-E11F-4151-B985-B01482A3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B8947-E6B8-4581-B302-A184DF31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089E7-1792-471F-8237-203721E9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954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3A"/>
                </a:solidFill>
              </a:defRPr>
            </a:pPr>
            <a:r>
              <a:rPr sz="1350" b="1">
                <a:solidFill>
                  <a:srgbClr val="183B3A"/>
                </a:solidFill>
              </a:rPr>
              <a:t>情绪类型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D0701-C473-4569-AA53-AFC710BF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28750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1864C-510C-46D9-B6CA-A0BC7CDD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4954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典型表现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39BCF-FBC8-4FAE-B627-79368673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287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B3BEF-0959-43EF-85BF-75D6B02A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954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推荐活动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20A52-799E-40FC-89A5-BFACB61F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828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1A80A-E236-4138-AF76-69C7AD0E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4954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时长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4335D-EB8F-4889-9A8C-590FD3CE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1F085-9861-418C-BB83-7003281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33575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3A"/>
                </a:solidFill>
              </a:defRPr>
            </a:pPr>
            <a:r>
              <a:rPr sz="1350" b="1">
                <a:solidFill>
                  <a:srgbClr val="183B3A"/>
                </a:solidFill>
              </a:rPr>
              <a:t>焦虑紧张型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4E706-7C33-493F-8B7D-DF505F43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669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7DE5F-FCCA-4F9C-AD04-3E22C9F2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3357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赶工恐慌、心跳加速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6F417-648D-4698-BD29-57883121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66900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3A536-E22A-44E6-A810-7CCF1A5C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33575"/>
            <a:ext cx="344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正念呼吸工作坊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37E5F-753B-4DEB-9816-A8BE178C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66900"/>
            <a:ext cx="182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0889E-4FC3-454A-A65B-26923B24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335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90分钟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19686-E7FC-4521-A390-B824B66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42561-DD9C-47A0-95C6-1A38FCBC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43175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3A"/>
                </a:solidFill>
              </a:defRPr>
            </a:pPr>
            <a:r>
              <a:rPr sz="1350" b="1">
                <a:solidFill>
                  <a:srgbClr val="183B3A"/>
                </a:solidFill>
              </a:rPr>
              <a:t>耗竭疲惫型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6D919-8A0D-45C8-B3A1-F47F7554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7BD87-C186-4D01-AA50-567021D3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4317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身心俱疲、情绪麻木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B0BB8-0618-4BED-9089-C126F019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0F2EF3-9B20-4A30-B9BF-D4A264B0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43175"/>
            <a:ext cx="344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能量唤醒工作坊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09B855-4142-4EE0-ACF1-1D10724D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76500"/>
            <a:ext cx="182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0917D0-F54D-4AAE-AD08-8B7D615E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431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2小时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A64615-0BCA-40A3-8191-765F5D0B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70FC7B-1637-492B-86A3-60E3C0DD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52775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3A"/>
                </a:solidFill>
              </a:defRPr>
            </a:pPr>
            <a:r>
              <a:rPr sz="1350" b="1">
                <a:solidFill>
                  <a:srgbClr val="183B3A"/>
                </a:solidFill>
              </a:rPr>
              <a:t>情绪劳动型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C77036-00AB-4C78-8593-57DFD721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861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E8097F-6356-401F-88FE-19F1B81C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5277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强撑笑脸、情感透支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ECED25-6EC0-4C12-90B0-0EA2C7F4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86100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3A91D0-9090-4028-9D70-7958F3F6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52775"/>
            <a:ext cx="344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艺术疗愈工作坊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B61E82-FF50-4C01-A428-C8CD52A4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86100"/>
            <a:ext cx="182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E5FE28-C80B-447A-872F-B34395D9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527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2小时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75E940-295D-49E4-99AA-6C87E4B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12AE10-FE2B-42AC-8DF5-C0288B19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62375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3A"/>
                </a:solidFill>
              </a:defRPr>
            </a:pPr>
            <a:r>
              <a:rPr sz="1350" b="1">
                <a:solidFill>
                  <a:srgbClr val="183B3A"/>
                </a:solidFill>
              </a:rPr>
              <a:t>孤独无意义型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FAD904-D9FA-437C-A5C0-7FF5BC90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957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F7AD4E-0984-4BA3-BEB2-C3A4B6D8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6237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价值感丧失、存在性焦虑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3005CA-D8AF-4878-93A9-EC94ABB3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95700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D583AE-42F7-4912-9342-E5C83694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62375"/>
            <a:ext cx="344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叙事疗愈深度小组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415AC1-2080-4CB9-94EC-3B360910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95700"/>
            <a:ext cx="182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587FB0-AAFA-4917-91E7-D0DE53E3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623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2h×4次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8B4C79-E1A8-4398-89A7-B9AA09C0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3A0990-4AE9-4F10-BA11-6ABA5370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71975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3A"/>
                </a:solidFill>
              </a:defRPr>
            </a:pPr>
            <a:r>
              <a:rPr sz="1350" b="1">
                <a:solidFill>
                  <a:srgbClr val="183B3A"/>
                </a:solidFill>
              </a:rPr>
              <a:t>躯体紧张型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DFF664-B158-4EE9-A815-2C9603BF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053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8C6E33-7AB9-4C14-B2B7-483AB6F4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37197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肩颈僵硬、压抑愤怒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187DDF-3E27-4961-9F6C-B98A906B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05300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F6D652-A360-42FC-A59C-7DD3D6F9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71975"/>
            <a:ext cx="344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身体觉知与释放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363377-1BD6-48DC-B425-D1DFD478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05300"/>
            <a:ext cx="182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0D34DD-BE53-426E-BE37-CFD05408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719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2小时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360233-A588-4191-87EB-50F17CD7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9E6757-AC57-4F54-ABD5-05454B55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81575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3A"/>
                </a:solidFill>
              </a:defRPr>
            </a:pPr>
            <a:r>
              <a:rPr sz="1350" b="1">
                <a:solidFill>
                  <a:srgbClr val="183B3A"/>
                </a:solidFill>
              </a:rPr>
              <a:t>混合型/预防型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D3C1E3-666B-4D22-A41E-2A52AEDC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149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9B4879-7649-49F0-8284-025FC3D0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98157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团队凝聚力下降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2F7565-12CC-4764-B4B6-8D38F6A1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14900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735635-FE6D-44C2-96E2-717C329B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981575"/>
            <a:ext cx="344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心理嘉年华游园会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73FB08-BFA9-4D4F-8D31-91005831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14900"/>
            <a:ext cx="182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35ED4E-DF00-45AE-9EAB-AB636D78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9815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半天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3E0323-8A3C-4B2A-99A0-51CD4E91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5EA4BE-02B5-4D06-9240-E92D7A34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E5755"/>
                </a:solidFill>
              </a:defRPr>
            </a:pPr>
            <a:r>
              <a:rPr sz="1425" b="1">
                <a:solidFill>
                  <a:srgbClr val="1E5755"/>
                </a:solidFill>
              </a:rPr>
              <a:t>核心亮点：每个活动均标注了理论依据（MBSR、表达性艺术治疗、叙事疗愈、躯体疗法等）。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48F615D-5214-4282-B47D-CCA165EE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MindBridge AI + 疗愈轨道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3C43D8-C1DF-4B67-A2E1-B1EDB89D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875"/>
                </a:solidFill>
              </a:defRPr>
            </a:pPr>
            <a:r>
              <a:rPr sz="975" b="1">
                <a:solidFill>
                  <a:srgbClr val="60787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7208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1BD7F8-D324-4871-93A4-30077E9F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58E"/>
                </a:solidFill>
              </a:defRPr>
            </a:pPr>
            <a:r>
              <a:rPr sz="1275" b="1">
                <a:solidFill>
                  <a:srgbClr val="E8B58E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FD29F-B580-4508-B2F9-4EE7FB7E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B3A"/>
                </a:solidFill>
              </a:defRPr>
            </a:pPr>
            <a:r>
              <a:rPr sz="3150" b="1">
                <a:solidFill>
                  <a:srgbClr val="183B3A"/>
                </a:solidFill>
              </a:rPr>
              <a:t>六大行业精准痛点对标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BB859-49FA-4A71-9086-C715C13E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37810-647C-4E90-83B7-A61EE752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8E690-C3AC-43B2-8D08-43AED05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76375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行业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4392A-AED7-4F56-BFEA-DDE8C61B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0970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22548-31F6-4D97-B4B0-849DDD85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4763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最核心痛点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7B376-D508-4539-ACB5-10A5766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0970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E96CC-4031-45AF-B50B-35BA2B20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476375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首选活动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6ABD7-5DA2-4201-ABCD-FD190D6C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09700"/>
            <a:ext cx="1828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DBC42-4107-4913-88E8-0C176F45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4763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关键环节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B32E2-F805-4E71-A85E-1EBA51E3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4BE9A-1B79-411A-9864-B3C42985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互联网/IT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ACF40-75A1-4853-8970-96B99B9C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4785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21C72-1747-455D-BDA6-F470F8FB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914525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“怕被替代、怕赶不上”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41FFE-B5A9-45DD-84B4-59FD97EE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4785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D95ED-366A-4D25-AD6F-CEFF80E0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91452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情绪红绿灯正念工作坊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3B34C-F194-436B-970F-26B64A9C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4785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DE120-72C9-44BA-942B-1D50DD4A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1452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可控与不可控拆解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D51EA-5C04-413C-B54D-3082BA46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B9B73-33C7-476E-8B23-B3247D0C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00325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金融/银行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A938D-7C32-4574-B119-923C6ACB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3365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F483E-0461-4B4D-9792-5D14E440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00325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“业绩压得喘不过气”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315A2B-1030-4978-9249-1597FCAD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3365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51F2B9-1B03-481C-A6D9-BDFB5F22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0032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积极心理与管理提升培训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66DC8-D0D7-409A-B6E0-3A108776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3365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1EF3B2-1715-4DBF-8D5B-F21562D8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情绪暂停法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CDB8F-3728-4038-AD6E-AAF251A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E137B3-1C78-425E-B823-E2A52254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86125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医护/护理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85DC16-DF90-4E43-A7BD-77782A70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1945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91A131-3513-490D-A593-650CF33F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86125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“面对痛苦掏空了自己”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9C4170-09CF-4F7F-A0CF-B0E4DF1A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1945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81953A-6F6F-4975-A9B8-36074E48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28612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巴林特小组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B83101-33D6-456E-8C96-E9FCBA64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1945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1E9F4-ACC7-4DFD-B739-A174A938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8612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不评判、不打断、不指导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859C8F-4A36-4217-83DD-B1C45212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13DB4B-1A45-4D45-A726-AEA70E3C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71925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教育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083629-8160-49C5-BED4-E268BF9E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0525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A2B25B-0C88-49A5-B79A-72A5AC01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971925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“多重角色耗竭”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5ABBE1-0A58-471B-99C9-2FD2220B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0525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C66145-31A6-478D-AD64-15DC61AF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7192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奥尔夫音乐疗愈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2952EC-34C6-446D-8636-116C5342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0525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46F1FC-0396-4D20-A36B-F9C712DA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简易乐器合奏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C70399-C3CE-4118-A21B-439697A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E8E39D-2E59-4D26-966B-AA4071BC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57725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客服/服务业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7D5C0B-2240-4E85-86AA-9AAFA784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9105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6DB398-894F-4FF7-8E21-08C46AD8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657725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“强撑笑脸耗尽了我”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294337-CF35-4222-ADEA-D98C11A4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9105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E7092C-831F-4155-A556-686A18E3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65772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心流插花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1D01E7-28B7-4AB8-AF5B-D5C6F4A9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9105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BA5F9C-E731-4DE0-A195-F45ABFB0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65772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花材选择+创作命名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AA0ABD-E898-4828-8121-2A1CA7FB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B4AB9E-A1A9-44AF-AB6F-5DC1A071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43525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制造业/汽车业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8421E8-5D3D-44FD-9C60-9ED3E4AC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7685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F6A321-65FE-452B-9C2C-A342C018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343525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“孤独扛着双重压力”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6C0F99-089D-4E61-805A-3B4284AD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7685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99BA19-654F-43E5-8DD7-E890E3CA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34352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沙盘疗愈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6C488A-53EA-4205-9A0F-E72E3FC6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7685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5342B0-895A-4C88-9196-DD4FB49C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团队沙盘共创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E612BA-DA45-4476-ABC0-0B255CDA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MindBridge AI + 疗愈轨道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0BE18A-77A0-41C5-964C-A4B25389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875"/>
                </a:solidFill>
              </a:defRPr>
            </a:pPr>
            <a:r>
              <a:rPr sz="975" b="1">
                <a:solidFill>
                  <a:srgbClr val="60787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51948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806CD-6B27-416E-8ADE-85DEEC9A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58E"/>
                </a:solidFill>
              </a:defRPr>
            </a:pPr>
            <a:r>
              <a:rPr sz="1275" b="1">
                <a:solidFill>
                  <a:srgbClr val="E8B58E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8A1DE-CD85-4D6B-B494-173ED6BB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B3A"/>
                </a:solidFill>
              </a:defRPr>
            </a:pPr>
            <a:r>
              <a:rPr sz="3150" b="1">
                <a:solidFill>
                  <a:srgbClr val="183B3A"/>
                </a:solidFill>
              </a:rPr>
              <a:t>以AI树洞为核心的轻量级识别方式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24FCF-DCBB-4052-A44B-E363966D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E9ECE-8554-4C03-9AF5-1CDF188B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76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462D4-4AA9-4B9C-823A-AFBB4FFC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3A"/>
                </a:solidFill>
              </a:defRPr>
            </a:pPr>
            <a:r>
              <a:rPr sz="1725" b="1">
                <a:solidFill>
                  <a:srgbClr val="183B3A"/>
                </a:solidFill>
              </a:rPr>
              <a:t>AI树洞是什么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38974-FCA3-4997-A92D-D5B7B26D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24小时在线的匿名倾诉平台，员工通过企业微信/钉钉/小程序即可进入，无需登录、不记录身份、不留痕迹。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6637F-8AA5-445B-AE20-9422B2B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33500"/>
            <a:ext cx="6267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4DE39-5C8A-460E-904F-C9B819C4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3A"/>
                </a:solidFill>
              </a:defRPr>
            </a:pPr>
            <a:r>
              <a:rPr sz="1725" b="1">
                <a:solidFill>
                  <a:srgbClr val="183B3A"/>
                </a:solidFill>
              </a:rPr>
              <a:t>真实案例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78A60-0BEC-4EF0-B2CF-65E26942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郑州高新区总工会心理健康智慧化平台，接入AI大模型，上线后累计响应职工诉求超1300次。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CE62D-6B4F-4EC6-8294-23C1B99C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B3A"/>
                </a:solidFill>
              </a:defRPr>
            </a:pPr>
            <a:r>
              <a:rPr sz="1650" b="1">
                <a:solidFill>
                  <a:srgbClr val="183B3A"/>
                </a:solidFill>
              </a:rPr>
              <a:t>技术实现（轻量级）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53051-48C6-40CE-B807-9C34F778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494B8-621E-4C4B-BD83-C551F8C4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004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B3A"/>
                </a:solidFill>
              </a:defRPr>
            </a:pPr>
            <a:r>
              <a:rPr sz="1200" b="1">
                <a:solidFill>
                  <a:srgbClr val="183B3A"/>
                </a:solidFill>
              </a:rPr>
              <a:t>层级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4934B-6C67-4618-BAD2-303EF5EE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337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86952-9B78-4849-BB80-E7937EB2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4004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技术组件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9EC1A-D219-4870-BB35-2FFD0F82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573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EBE7B-A69D-44E7-B527-2BE3B26A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400425"/>
            <a:ext cx="556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A280B-8F6C-4465-8FE3-F993037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296A7-CA61-4B0C-9BAF-061C7409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623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前端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2DDAE-CE63-4871-B217-5609AE39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957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B84C0-5D1D-4C9C-B4E4-0F71F77A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762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小程序/H5页面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DC293-B148-4511-A27E-E2FC2A0B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95700"/>
            <a:ext cx="573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9584A-6201-4467-B7FF-79D1F0B8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76237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扫码即入，无需登录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2A7DC-C983-4B5C-94F1-499E63E8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E6DD8-4774-4AC1-B507-BDB19F61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005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对话引擎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6FE88B-BB7C-4D31-997D-21AA9990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338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3F3D6E-2FE2-4256-A6BC-EAB55703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0052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DeepSeek/通义千问等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9272B-494F-44C1-A427-005A7CED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33850"/>
            <a:ext cx="573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8F4508-3335-4E95-933F-ACC31FDC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20052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共情式对话能力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3C44F-7CD6-4945-ADCD-8AD33C0D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219B26-3C66-421A-AC69-C53BDBC0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386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规则引擎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CAB58B-AC42-4ACF-B06B-6A514EBE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720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A1917B-1AC4-4C9F-A5CF-B6584ED3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638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轻量级关键词匹配库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0A918D-D99D-4FDB-B8FB-6E5B8AF0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72000"/>
            <a:ext cx="573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A54802-0E32-4E2B-B0FC-E38ED344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63867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识别情绪信号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3D2E97-D7E7-4DC5-A6A5-3273C2E1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7E95F5-33E7-484B-A26A-32CB6227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768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数据层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B30569-02BD-47E7-8674-DA573419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101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F3DE77-048E-4274-A5E7-60D25F9C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07682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匿名化存储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492A1D-1CD9-4A71-81CE-10FE7684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10150"/>
            <a:ext cx="573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770011-85EC-4616-BBDC-7A2303F2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07682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仅存储情绪标签统计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A123BE-8E37-4629-82AB-CBECD6B4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B3A"/>
                </a:solidFill>
              </a:defRPr>
            </a:pPr>
            <a:r>
              <a:rPr sz="1575" b="1">
                <a:solidFill>
                  <a:srgbClr val="183B3A"/>
                </a:solidFill>
              </a:rPr>
              <a:t>核心设计原则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6BDB44-7C99-420B-B576-2EF1269D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901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5755"/>
                </a:solidFill>
              </a:defRPr>
            </a:pPr>
            <a:r>
              <a:rPr sz="1275" b="1">
                <a:solidFill>
                  <a:srgbClr val="1E5755"/>
                </a:solidFill>
              </a:rPr>
              <a:t>不存储任何可识别身份的信息　｜　对话记录不保存原文，仅提取情绪标签　｜　员工可随时清空所有历史记录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258D3F-E469-4E93-B08D-AB3ABEEE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MindBridge AI + 疗愈轨道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33AFAF-7ABF-48CA-84C3-935A3AD2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875"/>
                </a:solidFill>
              </a:defRPr>
            </a:pPr>
            <a:r>
              <a:rPr sz="975" b="1">
                <a:solidFill>
                  <a:srgbClr val="60787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50672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A337FB-D4AC-4060-B830-C661BD4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58E"/>
                </a:solidFill>
              </a:defRPr>
            </a:pPr>
            <a:r>
              <a:rPr sz="1275" b="1">
                <a:solidFill>
                  <a:srgbClr val="E8B58E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FABE9-8C87-4A6A-8554-2E6B4F17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B3A"/>
                </a:solidFill>
              </a:defRPr>
            </a:pPr>
            <a:r>
              <a:rPr sz="3150" b="1">
                <a:solidFill>
                  <a:srgbClr val="183B3A"/>
                </a:solidFill>
              </a:rPr>
              <a:t>AI在树洞中做什么 + 三级预警机制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1F2D0-A97B-464E-84C9-D2990E8A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A9F95-60AA-4331-916A-289DCA27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B3A"/>
                </a:solidFill>
              </a:defRPr>
            </a:pPr>
            <a:r>
              <a:rPr sz="1575" b="1">
                <a:solidFill>
                  <a:srgbClr val="183B3A"/>
                </a:solidFill>
              </a:rPr>
              <a:t>AI的三大能力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B5026-9C6A-4802-A140-AB7962E6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CFB6C-81CF-470F-A8C9-B1D6D491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B3A"/>
                </a:solidFill>
              </a:defRPr>
            </a:pPr>
            <a:r>
              <a:rPr sz="1425" b="1">
                <a:solidFill>
                  <a:srgbClr val="183B3A"/>
                </a:solidFill>
              </a:rPr>
              <a:t>① 倾听与共情回应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90510-F46F-4B9A-B6F5-0C16E737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承接员工情绪，让倾诉本身成为疗愈的第一步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FBADD-28FF-4251-B4BC-54165180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02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DB084-1BC4-4F79-83E6-42724DA1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716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B3A"/>
                </a:solidFill>
              </a:defRPr>
            </a:pPr>
            <a:r>
              <a:rPr sz="1425" b="1">
                <a:solidFill>
                  <a:srgbClr val="183B3A"/>
                </a:solidFill>
              </a:rPr>
              <a:t>② 关键词识别与预警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BB329-43D4-4DA5-B54C-DB0B4684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526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扫描倾诉内容中的情绪关键词，判定预警等级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317E8-D49C-4F97-94ED-DDCA6291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002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F9025-E870-47C5-A588-32CDB26E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716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B3A"/>
                </a:solidFill>
              </a:defRPr>
            </a:pPr>
            <a:r>
              <a:rPr sz="1425" b="1">
                <a:solidFill>
                  <a:srgbClr val="183B3A"/>
                </a:solidFill>
              </a:rPr>
              <a:t>③ 资源自动推送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339DC-F0D1-4173-B106-AE463630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526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根据预警等级，自动推送匹配的疗愈资源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F16FF-7ABC-45BA-89D1-ABEE6E96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B3A"/>
                </a:solidFill>
              </a:defRPr>
            </a:pPr>
            <a:r>
              <a:rPr sz="1575" b="1">
                <a:solidFill>
                  <a:srgbClr val="183B3A"/>
                </a:solidFill>
              </a:rPr>
              <a:t>三级预警机制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48AFB-EE48-4C1A-981A-2CD3F6D1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E3219-1C48-4767-99AD-A326921A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517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3A"/>
                </a:solidFill>
              </a:defRPr>
            </a:pPr>
            <a:r>
              <a:rPr sz="1125" b="1">
                <a:solidFill>
                  <a:srgbClr val="183B3A"/>
                </a:solidFill>
              </a:rPr>
              <a:t>等级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CBC89-6864-49CB-8EF7-2F30BD9A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385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AB2FB-1016-4DEB-9E3C-6E3886DA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3051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关键词示例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7321A-0C44-4FDB-917C-198CDB04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385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1278D-705C-4A1D-958E-7F484824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305175"/>
            <a:ext cx="392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AI自动触发动作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BF45B-E588-4466-B13A-77E3D8D3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444A3-3ACF-4058-99BF-83A19969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0517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人工介入节点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C006A-1718-4822-A5F9-F3A7BEA5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6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C8CB6-2D97-459B-9394-A3784D97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48075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B3A"/>
                </a:solidFill>
              </a:defRPr>
            </a:pPr>
            <a:r>
              <a:rPr sz="1200" b="1">
                <a:solidFill>
                  <a:srgbClr val="183B3A"/>
                </a:solidFill>
              </a:rPr>
              <a:t>绿色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8C4FB0-CB6C-40EE-911E-F4FD780C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6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0504EB-88F2-4915-8E6F-A6E879E2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648075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“好累”“压力大”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347D7D-95CE-4A0B-9D2D-7049B99C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814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6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29B6A-A3FE-4E37-B21F-1C574BA4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48075"/>
            <a:ext cx="3924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自动推送正念音频/呼吸练习链接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BE0C2F-821A-4EB4-A4F4-61FB4659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81400"/>
            <a:ext cx="335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6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334916-42B2-4A9C-AEAC-ECC2CA14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48075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无需人工介入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516128-265A-46E0-A5E5-F3B29BC3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14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F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396A23-5C49-482E-A75A-D57EB4DC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00525"/>
            <a:ext cx="971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B3A"/>
                </a:solidFill>
              </a:defRPr>
            </a:pPr>
            <a:r>
              <a:rPr sz="1200" b="1">
                <a:solidFill>
                  <a:srgbClr val="183B3A"/>
                </a:solidFill>
              </a:rPr>
              <a:t>黄色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64D34C-10CC-43AD-8E30-B87F52EC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338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F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E5D520-4074-4471-A96F-4C26B2D8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00525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“快撑不住了”“想辞职”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79FE37-5A93-493B-BC47-D9BA1108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338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F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52BE5C-3528-488F-A788-3E00B892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200525"/>
            <a:ext cx="392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推送资源 + 提醒HRBP关注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3A6221-F2D2-447A-BF48-CADD2465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33850"/>
            <a:ext cx="335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F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E0E7A0-11FC-4FC9-BA1B-CAAE2055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00525"/>
            <a:ext cx="318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HRBP查看该员工近期整体状态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C68061-BBE9-4B3B-844C-9BB24DAC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14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B9C376-5212-4A3E-85F3-346B72AB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48225"/>
            <a:ext cx="971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B3A"/>
                </a:solidFill>
              </a:defRPr>
            </a:pPr>
            <a:r>
              <a:rPr sz="1200" b="1">
                <a:solidFill>
                  <a:srgbClr val="183B3A"/>
                </a:solidFill>
              </a:rPr>
              <a:t>红色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C9468E-B355-4F29-BF75-754E801F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815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EB3072-B8F9-436B-BA2E-6661B62C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848225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极端词汇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4B2A4C-851D-4D3F-AFFF-83DC4A02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815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F4A12B-05EE-47EB-B4BE-C843A0ED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848225"/>
            <a:ext cx="392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立即转接专业咨询师+ 通知EAP专员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9EBCE6-4E31-42EB-B278-D859FBA2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35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B5F6C4-6AED-486C-A782-9E973E1B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48225"/>
            <a:ext cx="318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EAP专员2小时内电话确认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D5EB8A-2A02-4386-AE08-BDD39A48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E5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FAA553-BFB8-424F-AB9B-0BECEDCF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关键设计：采用“AI预警+人工复核”闭环机制——AI预警后必须经人工复核，疗愈师或HRBP确认后再决定是否介入，AI不自动定性任何员工。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51A136-6955-4BEB-AE8C-9B7439BE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MindBridge AI + 疗愈轨道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DFEE96-4FEC-484A-B92F-119211B1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875"/>
                </a:solidFill>
              </a:defRPr>
            </a:pPr>
            <a:r>
              <a:rPr sz="975" b="1">
                <a:solidFill>
                  <a:srgbClr val="60787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2285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E5E233-D011-41A5-B434-E8B9FC5C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58E"/>
                </a:solidFill>
              </a:defRPr>
            </a:pPr>
            <a:r>
              <a:rPr sz="1275" b="1">
                <a:solidFill>
                  <a:srgbClr val="E8B58E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E229E-AF14-43DD-AA48-250DF864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B3A"/>
                </a:solidFill>
              </a:defRPr>
            </a:pPr>
            <a:r>
              <a:rPr sz="3150" b="1">
                <a:solidFill>
                  <a:srgbClr val="183B3A"/>
                </a:solidFill>
              </a:rPr>
              <a:t>把情绪信号翻译成可执行的疗愈方案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42BE0-BA67-489F-A546-32B79BAF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EC7D4-3437-4F8F-B1AE-98D99616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B3A"/>
                </a:solidFill>
              </a:defRPr>
            </a:pPr>
            <a:r>
              <a:rPr sz="1575" b="1">
                <a:solidFill>
                  <a:srgbClr val="183B3A"/>
                </a:solidFill>
              </a:rPr>
              <a:t>三步转化模型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195DC-9D75-404C-AB06-20E28237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3718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7C70C-9238-41A8-B010-E4FD7968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3A"/>
                </a:solidFill>
              </a:defRPr>
            </a:pPr>
            <a:r>
              <a:rPr sz="1350" b="1">
                <a:solidFill>
                  <a:srgbClr val="183B3A"/>
                </a:solidFill>
              </a:rPr>
              <a:t>① 信号识别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55FEF-CB45-4FDC-81E6-AB8DBF18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AI树洞捕捉情绪信号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779CE-7653-43E5-8048-C9732628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067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5755"/>
                </a:solidFill>
              </a:defRPr>
            </a:pPr>
            <a:r>
              <a:rPr sz="1050" b="1">
                <a:solidFill>
                  <a:srgbClr val="1E5755"/>
                </a:solidFill>
              </a:rPr>
              <a:t>情绪标签 + 预警等级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09C1F-E2BA-4810-8840-150E60F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81150"/>
            <a:ext cx="33718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1E8CC-B8DC-44A3-B86D-2493137E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3A"/>
                </a:solidFill>
              </a:defRPr>
            </a:pPr>
            <a:r>
              <a:rPr sz="1350" b="1">
                <a:solidFill>
                  <a:srgbClr val="183B3A"/>
                </a:solidFill>
              </a:rPr>
              <a:t>② 方案匹配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A0B78-A23F-4575-B7E3-066C6AFE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根据标签、画像、行业匹配资源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18F6D-7691-45B2-9EFC-A5FE7EAC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3067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5755"/>
                </a:solidFill>
              </a:defRPr>
            </a:pPr>
            <a:r>
              <a:rPr sz="1050" b="1">
                <a:solidFill>
                  <a:srgbClr val="1E5755"/>
                </a:solidFill>
              </a:rPr>
              <a:t>个性化推荐清单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B105B-240F-45C3-A501-D84D1A5B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718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6124F-6E08-40E5-B6F4-3799B671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3A"/>
                </a:solidFill>
              </a:defRPr>
            </a:pPr>
            <a:r>
              <a:rPr sz="1350" b="1">
                <a:solidFill>
                  <a:srgbClr val="183B3A"/>
                </a:solidFill>
              </a:rPr>
              <a:t>③ 触达执行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A4A1B-CFAC-4BC1-97FB-2D46817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IM自动推送 + 人工复核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70A8C-A3B7-46E8-A694-8CFECD9E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3067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5755"/>
                </a:solidFill>
              </a:defRPr>
            </a:pPr>
            <a:r>
              <a:rPr sz="1050" b="1">
                <a:solidFill>
                  <a:srgbClr val="1E5755"/>
                </a:solidFill>
              </a:rPr>
              <a:t>完整闭环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48C62-96E8-4912-9D3C-08D0A0A5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B3A"/>
                </a:solidFill>
              </a:defRPr>
            </a:pPr>
            <a:r>
              <a:rPr sz="1575" b="1">
                <a:solidFill>
                  <a:srgbClr val="183B3A"/>
                </a:solidFill>
              </a:rPr>
              <a:t>情绪标签→活动映射示例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B75FE-2B36-40A5-BBE5-F2A5AF33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79D79-BD86-4F6D-B05C-0E9EF015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765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B3A"/>
                </a:solidFill>
              </a:defRPr>
            </a:pPr>
            <a:r>
              <a:rPr sz="1050" b="1">
                <a:solidFill>
                  <a:srgbClr val="183B3A"/>
                </a:solidFill>
              </a:rPr>
              <a:t>情绪标签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B557B-DC06-466E-B80D-2857C890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0990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390E99-AC47-43B3-948B-4B2BE15B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76575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绿色推送（自助）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D8BAC3-B78E-4981-AC0F-743C0DF1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16D1C0-4671-4665-B4E0-53AC4660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076575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黄色推荐（团体）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DEB3F-1DA8-41EF-94A6-4E9339F9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F0744D-AF66-4619-B909-E3EB401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76575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红色介入（一对一）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953A4C-63D1-44EA-AE96-8D7F948C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85AAFA-908F-4AE4-BFD2-DFD5F2EF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8137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3A"/>
                </a:solidFill>
              </a:defRPr>
            </a:pPr>
            <a:r>
              <a:rPr sz="1125" b="1">
                <a:solidFill>
                  <a:srgbClr val="183B3A"/>
                </a:solidFill>
              </a:rPr>
              <a:t>焦虑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1B357E-4B1C-4F37-9375-3F437536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14700"/>
            <a:ext cx="3086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BE5E5B-AC6B-40BA-9985-3AF8A382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81375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三分钟呼吸着陆法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1EE5BB-13D8-4153-B768-4EBDA7C0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14700"/>
            <a:ext cx="3086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D26BBC-47CD-404F-BC4C-F217E1AC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381375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正念呼吸工作坊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90BE8D-A6C4-4E64-A639-ACCABD77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3086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E98D04-0A91-4B6C-B615-AAE132D9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81375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疗愈师一对一焦虑疏导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D614AA-97A8-43B1-941D-25475D83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CD4B70-A64F-4157-8451-A50CC55F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52850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3A"/>
                </a:solidFill>
              </a:defRPr>
            </a:pPr>
            <a:r>
              <a:rPr sz="1125" b="1">
                <a:solidFill>
                  <a:srgbClr val="183B3A"/>
                </a:solidFill>
              </a:rPr>
              <a:t>疲惫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2005AC-1DF4-4C87-82C8-C9352FCB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86175"/>
            <a:ext cx="3086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552AA7-5966-4088-81BD-529BF927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52850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工间身体扫描音频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30F050-9790-40A4-82C7-0DEFF366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86175"/>
            <a:ext cx="3086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DD2FB4-2C38-4203-B5A4-3C113388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752850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能量唤醒工作坊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36A65E-E6D6-4337-8E4E-2578488D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86175"/>
            <a:ext cx="3086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A2FD2C-2EFE-4901-A309-71BB87DB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52850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疗愈师一对一能量修复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64B367-11D3-404B-B336-9AE9FFF8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316C3A-A398-4F87-83B6-3C7C14B0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2432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3A"/>
                </a:solidFill>
              </a:defRPr>
            </a:pPr>
            <a:r>
              <a:rPr sz="1125" b="1">
                <a:solidFill>
                  <a:srgbClr val="183B3A"/>
                </a:solidFill>
              </a:rPr>
              <a:t>低落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619F8A-5C06-40D2-B0D7-D704900A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57650"/>
            <a:ext cx="3086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A9B8EA-D72B-4B90-9206-2850B6F1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24325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每日三件好事打卡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4E3816-3444-42C0-B7E3-F601B748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57650"/>
            <a:ext cx="3086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A34117-A18A-4398-AFD6-1C370C5D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124325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叙事疗愈深度小组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D52E78-13D3-422E-9608-6C2F77CB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57650"/>
            <a:ext cx="3086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C8AA0E-1F5F-47D4-8BA9-F7A4B223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124325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疗愈师一对一意义重构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EB8F37-776D-4410-83BF-3ED87959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B3A"/>
                </a:solidFill>
              </a:defRPr>
            </a:pPr>
            <a:r>
              <a:rPr sz="1575" b="1">
                <a:solidFill>
                  <a:srgbClr val="183B3A"/>
                </a:solidFill>
              </a:rPr>
              <a:t>个性化推荐逻辑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6CBFFA-1AE5-47F8-8E90-F5DB6FE5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7F5E81-DD14-4190-837C-A7860FAD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196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B3A"/>
                </a:solidFill>
              </a:defRPr>
            </a:pPr>
            <a:r>
              <a:rPr sz="1050" b="1">
                <a:solidFill>
                  <a:srgbClr val="183B3A"/>
                </a:solidFill>
              </a:rPr>
              <a:t>维度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7CF186-D746-4393-9269-871360C2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530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2B0DE7-D388-4ADF-A07F-CF2BE258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01967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数据来源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1BE772-D2B9-474E-80C7-13D77A3A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640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1D2F40-A769-476C-AFA6-720B2B8E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019675"/>
            <a:ext cx="622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推荐策略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5A66A6-0B6E-49C6-9B70-B40158D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714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6F7D5D-8E9D-4554-A7C6-371A6A35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05425"/>
            <a:ext cx="1543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B3A"/>
                </a:solidFill>
              </a:defRPr>
            </a:pPr>
            <a:r>
              <a:rPr sz="1050" b="1">
                <a:solidFill>
                  <a:srgbClr val="183B3A"/>
                </a:solidFill>
              </a:rPr>
              <a:t>员工画像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68679A-263D-4A9B-8204-6FB895C4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38750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675F87-2520-4C18-8D33-04B14C66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305425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岗位、部门、职级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E86ADC-2C94-4AFF-9D33-F1A78AE2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38750"/>
            <a:ext cx="640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A4CA6D-88E6-4B14-A8CE-F0AA9E16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305425"/>
            <a:ext cx="6229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程序员推线上资源；工人推线下活动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0ABBF1-5320-4F58-A917-DCF2A4EB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714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5E3E65-0A33-4F65-A2AB-1783CDB6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38800"/>
            <a:ext cx="1543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B3A"/>
                </a:solidFill>
              </a:defRPr>
            </a:pPr>
            <a:r>
              <a:rPr sz="1050" b="1">
                <a:solidFill>
                  <a:srgbClr val="183B3A"/>
                </a:solidFill>
              </a:rPr>
              <a:t>情绪轨迹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E7F649B-DF8B-4F80-ADAD-C423C4AC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721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F716A7-4C74-4957-AB11-0F0A6D58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638800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近30天情绪标签变化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03F1577-4700-4A44-83E4-04A17B28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72125"/>
            <a:ext cx="640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8F4390-BA5E-4BE3-BF95-F3268D3A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638800"/>
            <a:ext cx="6229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持续疲惫→“能量唤醒”；突发焦虑→“正念”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421EE1F-9501-438C-AE23-4340BCCB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714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C6E280-5FBB-4E1B-BF23-5E0F97EF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72175"/>
            <a:ext cx="1543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B3A"/>
                </a:solidFill>
              </a:defRPr>
            </a:pPr>
            <a:r>
              <a:rPr sz="1050" b="1">
                <a:solidFill>
                  <a:srgbClr val="183B3A"/>
                </a:solidFill>
              </a:rPr>
              <a:t>参与历史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53A2BD1-D773-49ED-BC3D-022073F1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905500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7E64ECF-3715-45B7-806D-E39680F2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972175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过往活动参与反馈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751B04-B6EA-4636-B185-0F47126B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905500"/>
            <a:ext cx="640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58F0645-FEEA-4B7D-A763-AE1FCFFB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972175"/>
            <a:ext cx="6229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正念好评者优先推送进阶叙事疗愈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8E73863-421E-4CF6-8393-780D2D04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MindBridge AI + 疗愈轨道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9A27DA-B542-477D-92FE-875BC21A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875"/>
                </a:solidFill>
              </a:defRPr>
            </a:pPr>
            <a:r>
              <a:rPr sz="975" b="1">
                <a:solidFill>
                  <a:srgbClr val="60787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83848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B375F6-169A-44B9-9BE7-FE9ECC7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58E"/>
                </a:solidFill>
              </a:defRPr>
            </a:pPr>
            <a:r>
              <a:rPr sz="1275" b="1">
                <a:solidFill>
                  <a:srgbClr val="E8B58E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A21B4-D509-46B7-981A-79B1E890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B3A"/>
                </a:solidFill>
              </a:defRPr>
            </a:pPr>
            <a:r>
              <a:rPr sz="3150" b="1">
                <a:solidFill>
                  <a:srgbClr val="183B3A"/>
                </a:solidFill>
              </a:rPr>
              <a:t>效果可衡量、可验证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5DE13-48E3-4271-8EBF-EE5F22D2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AF7F0-5CF1-4E6F-BC86-7A9A4EF8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B3A"/>
                </a:solidFill>
              </a:defRPr>
            </a:pPr>
            <a:r>
              <a:rPr sz="1575" b="1">
                <a:solidFill>
                  <a:srgbClr val="183B3A"/>
                </a:solidFill>
              </a:rPr>
              <a:t>预期效果总览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922BB-231F-46C3-ABF1-96F8C44B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83435-F6F4-4229-BD33-B2F0D4EA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B3A"/>
                </a:solidFill>
              </a:defRPr>
            </a:pPr>
            <a:r>
              <a:rPr sz="1200" b="1">
                <a:solidFill>
                  <a:srgbClr val="183B3A"/>
                </a:solidFill>
              </a:rPr>
              <a:t>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58DDE-9E34-4DFC-8A1C-D919CE70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811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335C6-6D63-4EFF-9FC5-046627F4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64782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60E37-F52A-4A76-AA22-74902757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811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254D1-9254-463C-AA7A-52AB0207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6478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A8D02-7D9A-4E98-8293-815B82FA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811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650CD-84BA-4E1C-9150-098C2BB4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6478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预期目标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63ECD-D4D9-4928-9506-188C6188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91A5E-18D1-44B4-88DB-3D8FF799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977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心理安全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15818-26B3-4CE0-9D60-F70F94E0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43100"/>
            <a:ext cx="400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197BD-74EF-4586-A4D5-41D0CA30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009775"/>
            <a:ext cx="3829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PSI得分（7分量表）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870ED-F9AB-4875-983A-EB2E3F2F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2438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1E1F4-A251-4BF0-B730-CA98C895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09775"/>
            <a:ext cx="2266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3.2–3.8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40CA0-DF10-45D8-8DB3-62EC54A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2438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60605-FD05-4633-A287-92AAA0F7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09775"/>
            <a:ext cx="2266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≥ 5.5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64029-B6D1-490E-B725-5CFD11BD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2E925-7701-432D-A0D9-563C94E2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38400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留任意向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F2B5F-CB12-447D-953D-F887CA1E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71725"/>
            <a:ext cx="400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FD106-CE4B-41BB-8E95-E8019C04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38400"/>
            <a:ext cx="3829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主动离职率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0E2E3-A442-4EB3-883E-CA1717F5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71725"/>
            <a:ext cx="2438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30A78A-E88F-4387-923F-43EC0AE2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38400"/>
            <a:ext cx="2266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35%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13EE2-6154-40F9-AAC4-EC14DA2E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71725"/>
            <a:ext cx="2438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2883F6-3C8B-45CD-AFF2-51245180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38400"/>
            <a:ext cx="2266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≤ 15%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94C91C-808D-4656-B43C-BB7A1C8A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1913A6-6FE2-4260-A81C-C028045E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6702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疗愈覆盖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20CCD6-CD21-498E-855B-E93C81B0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0350"/>
            <a:ext cx="400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D1ED7D-1AF4-499B-BE93-34BE5CF0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67025"/>
            <a:ext cx="3829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AI树洞使用率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C5C181-6BCD-4283-9BBC-96B6CF53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0350"/>
            <a:ext cx="2438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3BA6F9-9F9E-42B8-8AF3-7CE588E8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67025"/>
            <a:ext cx="2266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E1072-666F-426B-ACB5-CA23378D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0350"/>
            <a:ext cx="2438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0535A7-6E07-453C-9F51-D9606831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67025"/>
            <a:ext cx="2266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≥ 40%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A95FA1-0D99-4C72-9119-1BCE6A76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73BD2D-761F-479D-950C-7B5E9B88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95650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3A"/>
                </a:solidFill>
              </a:defRPr>
            </a:pPr>
            <a:r>
              <a:rPr sz="1275" b="1">
                <a:solidFill>
                  <a:srgbClr val="183B3A"/>
                </a:solidFill>
              </a:rPr>
              <a:t>疗愈效果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F8754F-EFA6-4BBD-80B9-8C3CB312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28975"/>
            <a:ext cx="400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16F93E-D72A-47C6-B6C0-13F941B9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95650"/>
            <a:ext cx="3829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情绪改善比例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596197-1E3E-4994-85B1-8E420239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28975"/>
            <a:ext cx="2438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0B8FF7-E787-4081-B016-ADBEE57B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95650"/>
            <a:ext cx="2266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F90CD3-54A3-43B5-BC23-59ACC2E0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8975"/>
            <a:ext cx="2438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4D2071-0C02-45E9-A5EC-264F3179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95650"/>
            <a:ext cx="2266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≥ 60%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974846-E6E7-4722-8499-9894B77D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B3A"/>
                </a:solidFill>
              </a:defRPr>
            </a:pPr>
            <a:r>
              <a:rPr sz="1575" b="1">
                <a:solidFill>
                  <a:srgbClr val="183B3A"/>
                </a:solidFill>
              </a:rPr>
              <a:t>四层评估体系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B58301-A249-43FD-867D-C7135AA3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1F320A-F0CB-4636-87FE-691ABF6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767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3A"/>
                </a:solidFill>
              </a:defRPr>
            </a:pPr>
            <a:r>
              <a:rPr sz="1125" b="1">
                <a:solidFill>
                  <a:srgbClr val="183B3A"/>
                </a:solidFill>
              </a:rPr>
              <a:t>层级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1E20FB-4651-485F-9B65-936B0980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10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259FDB-DD07-43C8-8309-7B8354A0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276725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评估内容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32F931-C277-43A7-8F2B-936FCAAB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10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FB1BDF-77F3-43EC-B4A2-1C0F3D6E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276725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工具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CC79B3-B647-4B3E-8CEB-972FBDC1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1005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755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6EAEC1-ED8F-409F-90F1-E39A7718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7672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875"/>
                </a:solidFill>
              </a:defRPr>
            </a:pPr>
            <a:r>
              <a:rPr sz="1125" b="0">
                <a:solidFill>
                  <a:srgbClr val="607875"/>
                </a:solidFill>
              </a:rPr>
              <a:t>频次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DFAAAF-C4DF-4674-A8F1-F5DBE94E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011D75-AF0A-4802-977F-338AEBFE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0057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B3A"/>
                </a:solidFill>
              </a:defRPr>
            </a:pPr>
            <a:r>
              <a:rPr sz="1200" b="1">
                <a:solidFill>
                  <a:srgbClr val="183B3A"/>
                </a:solidFill>
              </a:rPr>
              <a:t>L0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0FE622-374D-4E57-9FA3-3F9CF8BE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339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D43116-3D54-43AF-A0D4-2FBAA7E3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60057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使用率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94DD3C-C541-4C46-BE03-830BBE65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339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7B3967-87A8-46DB-9EB5-9E03BB5E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0057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系统后台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062AAA-397B-442B-9E8C-071C6BB6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3390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43073A-836F-4C06-94FB-EC1A73E6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0057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实时/周度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E0F5F0-E1BB-4768-87B8-AA33CA66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48F986B-185D-4EC0-8354-D799E6F8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625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B3A"/>
                </a:solidFill>
              </a:defRPr>
            </a:pPr>
            <a:r>
              <a:rPr sz="1200" b="1">
                <a:solidFill>
                  <a:srgbClr val="183B3A"/>
                </a:solidFill>
              </a:rPr>
              <a:t>L1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8C2DB4-ACF6-44B6-9CA2-1BAFBA92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958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D019A2-6FCD-49E0-B5DD-3754BF6F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625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即时反馈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6C8D5F-743A-4FC6-8A1C-046F9260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958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9B760A9-4A15-4344-B380-AFAC7B20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9625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情绪温度计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533D7C8-5942-4870-9ED8-47B85FF1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9585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2B46F23-3DF4-4B10-9F73-30E37632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9625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每场活动后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28674A6-B3F0-44D0-B023-991F3A24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2BA537D-2A1D-4C93-AB75-499967EC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2447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B3A"/>
                </a:solidFill>
              </a:defRPr>
            </a:pPr>
            <a:r>
              <a:rPr sz="1200" b="1">
                <a:solidFill>
                  <a:srgbClr val="183B3A"/>
                </a:solidFill>
              </a:rPr>
              <a:t>L2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FCF832-572E-44B9-8758-D3C83E96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578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AB2BBB-8B2A-4CD1-BC45-00F35DD4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32447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短期效果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7BCEFAE-BFD8-4F02-BB86-1FD8F7EC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578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59F99D5-FCF3-4B0C-B047-E1DC9872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32447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简讯随访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1D31FF-07EA-41E8-8262-7330D8BF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25780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E962DF3-3053-4280-ACA7-6781F6B9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32447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第3/7天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D4CA62C-FC33-43CB-9C4F-3BD861FF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175E6B4-BF55-4A77-9B51-910DC0A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864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B3A"/>
                </a:solidFill>
              </a:defRPr>
            </a:pPr>
            <a:r>
              <a:rPr sz="1200" b="1">
                <a:solidFill>
                  <a:srgbClr val="183B3A"/>
                </a:solidFill>
              </a:rPr>
              <a:t>L3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FD9C665-9CE7-4DFC-B566-01F8AFDF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197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939014-9665-4D54-9E5B-59DB9AD9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6864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中期效果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4F6F6FC-CFF8-42E6-BB39-46084004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197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44C1CBC-D0AF-4494-916D-76D44CF3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6864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PSI问卷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7FF19FB-491C-42CD-8450-05C916EF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1975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DB5AF97-5E09-4320-861A-80BD0571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6864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月度/季度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A5E6128-23EE-4C33-BBF2-1D66E171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2FDAF92-24B6-45DB-B708-DACE6533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4837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B3A"/>
                </a:solidFill>
              </a:defRPr>
            </a:pPr>
            <a:r>
              <a:rPr sz="1200" b="1">
                <a:solidFill>
                  <a:srgbClr val="183B3A"/>
                </a:solidFill>
              </a:rPr>
              <a:t>L4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6651416-AAC0-4F0A-9F1E-AA95A5F5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9817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EE79E80-4564-4D72-8DD6-C606442E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604837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长期影响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E7C792D-380E-41AF-B5B6-C52E3A14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9817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5587A0C-386F-4412-B84C-83600A8D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04837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离职率+绩效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0269DDF-EC8F-4069-B660-118F3672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98170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4"/>
          </a:solidFill>
          <a:ln xmlns:a="http://schemas.openxmlformats.org/drawingml/2006/main" w="6668">
            <a:solidFill>
              <a:srgbClr val="CAD9D4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2094186-34BC-4DD7-A2A7-03FAFC2D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04837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75"/>
                </a:solidFill>
              </a:defRPr>
            </a:pPr>
            <a:r>
              <a:rPr sz="1200" b="0">
                <a:solidFill>
                  <a:srgbClr val="607875"/>
                </a:solidFill>
              </a:rPr>
              <a:t>半年/年度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01AA035-F232-4DA8-AB9F-16A2D821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MindBridge AI + 疗愈轨道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EE5015A-D0A6-494D-9BDC-9BC0F172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875"/>
                </a:solidFill>
              </a:defRPr>
            </a:pPr>
            <a:r>
              <a:rPr sz="975" b="1">
                <a:solidFill>
                  <a:srgbClr val="60787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923465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57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E05EE4-495E-4EFC-9AA9-F4AD49DB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AI发现信号，AI推荐方案，疗愈创造改变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47EB3-27A9-41C5-B6F1-A7DCF087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B6864"/>
          </a:solidFill>
          <a:ln xmlns:a="http://schemas.openxmlformats.org/drawingml/2006/main" w="9525">
            <a:solidFill>
              <a:srgbClr val="5E8E8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DE7A3-4CB1-4626-B78E-2D0D95D1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B58E"/>
                </a:solidFill>
              </a:defRPr>
            </a:pPr>
            <a:r>
              <a:rPr sz="2025" b="1">
                <a:solidFill>
                  <a:srgbClr val="E8B58E"/>
                </a:solidFill>
              </a:rPr>
              <a:t>对AI评委的价值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D437D-E3B1-4589-B889-3C14A81A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ECC8D-7281-40AA-9B76-B996DA43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AI树洞+轻量级推荐引擎，非实验室设想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1E53F-5543-4DCF-9147-38B60A68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626F5-37D3-40EE-9B8B-0CC68437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隐私与伦理设计严谨（匿名化、人工复核、可退出）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78771-439B-4E13-A912-C5AC5A8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5CC9B-C34A-4F79-BDC0-EEE8E4BB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AI定位清晰：不做诊断只做“吹哨”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FC883-4779-495B-BAB0-84FB805C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66850"/>
            <a:ext cx="52197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356F6B"/>
          </a:solidFill>
          <a:ln xmlns:a="http://schemas.openxmlformats.org/drawingml/2006/main" w="9525">
            <a:solidFill>
              <a:srgbClr val="5E8E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18C5C-2574-439B-BF3E-DC676883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B58E"/>
                </a:solidFill>
              </a:defRPr>
            </a:pPr>
            <a:r>
              <a:rPr sz="2025" b="1">
                <a:solidFill>
                  <a:srgbClr val="E8B58E"/>
                </a:solidFill>
              </a:rPr>
              <a:t>对疗愈评委的价值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90109-BF21-4811-8181-144C1FA7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24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B3CFA-E397-4505-B760-D2FA18A2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2410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工作坊有清晰疗愈理论基础（巴林特、奥尔夫、叙事、MBSR）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E6041-F301-4172-A12E-24ACCC14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81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D65B1-D176-4404-A294-50AB654A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疗愈师角色被充分定义，AI不替代疗愈师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05AC5-291A-44E7-B880-5E1B6F64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DE41B-1021-45BE-A9DF-0721DB81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671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六大行业差异化活动设计，非模板化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B3E10-63C2-404B-B3BC-4B1A01B7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CEFAE-C236-4F89-826E-6D72368D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与IAOTH认证与伦理对齐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BED1B-19ED-4052-8785-71BDBB1C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5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6DBCBF-E36A-404C-B331-56600EE1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875"/>
                </a:solidFill>
              </a:defRPr>
            </a:pPr>
            <a:r>
              <a:rPr sz="975" b="0">
                <a:solidFill>
                  <a:srgbClr val="607875"/>
                </a:solidFill>
              </a:rPr>
              <a:t>MindBridge AI + 疗愈轨道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FEEBF-4F10-4D80-9B48-A83671D1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875"/>
                </a:solidFill>
              </a:defRPr>
            </a:pPr>
            <a:r>
              <a:rPr sz="975" b="1">
                <a:solidFill>
                  <a:srgbClr val="60787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5574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2026-07-14T15:21:09.3880000Z</dcterms:created>
  <dcterms:modified xsi:type="dcterms:W3CDTF">2026-07-14T15:21:09.3880000Z</dcterms:modified>
</coreProperties>
</file>