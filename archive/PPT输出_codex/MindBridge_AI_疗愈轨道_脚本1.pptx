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65f6ef14d94521" /><Relationship Type="http://schemas.openxmlformats.org/officeDocument/2006/relationships/extended-properties" Target="/docProps/app.xml" Id="R2c2632b3c7354389" /><Relationship Type="http://schemas.openxmlformats.org/officeDocument/2006/relationships/officeDocument" Target="/ppt/presentation.xml" Id="R2ba7283d161e48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7e03dbbbbe4864"/>
  </p:sldMasterIdLst>
  <p:notesMasterIdLst>
    <p:notesMasterId xmlns:r="http://schemas.openxmlformats.org/officeDocument/2006/relationships" r:id="R387ceeba52e74d5a"/>
  </p:notesMasterIdLst>
  <p:sldIdLst>
    <p:sldId xmlns:r="http://schemas.openxmlformats.org/officeDocument/2006/relationships" id="256" r:id="Rc648d04748a14682"/>
    <p:sldId xmlns:r="http://schemas.openxmlformats.org/officeDocument/2006/relationships" id="257" r:id="Rbccd808fabfb4973"/>
    <p:sldId xmlns:r="http://schemas.openxmlformats.org/officeDocument/2006/relationships" id="258" r:id="Rb3fd4e0107aa460b"/>
    <p:sldId xmlns:r="http://schemas.openxmlformats.org/officeDocument/2006/relationships" id="259" r:id="R5f41d054d0eb4560"/>
    <p:sldId xmlns:r="http://schemas.openxmlformats.org/officeDocument/2006/relationships" id="260" r:id="R59471a9e75bd4b95"/>
    <p:sldId xmlns:r="http://schemas.openxmlformats.org/officeDocument/2006/relationships" id="261" r:id="R7e7314f785144a4c"/>
    <p:sldId xmlns:r="http://schemas.openxmlformats.org/officeDocument/2006/relationships" id="262" r:id="Rf27fe53f6f384842"/>
    <p:sldId xmlns:r="http://schemas.openxmlformats.org/officeDocument/2006/relationships" id="263" r:id="R0dd166f120e8417b"/>
    <p:sldId xmlns:r="http://schemas.openxmlformats.org/officeDocument/2006/relationships" id="264" r:id="Rc6163148b889472e"/>
    <p:sldId xmlns:r="http://schemas.openxmlformats.org/officeDocument/2006/relationships" id="265" r:id="Rbfd72e5f16d641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d5feaab78d4c5f" /><Relationship Type="http://schemas.openxmlformats.org/officeDocument/2006/relationships/slideMaster" Target="/ppt/slideMasters/slideMaster1.xml" Id="R147e03dbbbbe4864" /><Relationship Type="http://schemas.openxmlformats.org/officeDocument/2006/relationships/notesMaster" Target="/ppt/notesMasters/notesMaster1.xml" Id="R387ceeba52e74d5a" /><Relationship Type="http://schemas.openxmlformats.org/officeDocument/2006/relationships/presProps" Target="/ppt/presProps.xml" Id="R3e5f7c0273a84656" /><Relationship Type="http://schemas.openxmlformats.org/officeDocument/2006/relationships/tableStyles" Target="/ppt/tableStyles.xml" Id="Rf3395cbbfa9f4a62" /><Relationship Type="http://schemas.openxmlformats.org/officeDocument/2006/relationships/slide" Target="/ppt/slides/slide1.xml" Id="Rc648d04748a14682" /><Relationship Type="http://schemas.openxmlformats.org/officeDocument/2006/relationships/slide" Target="/ppt/slides/slide2.xml" Id="Rbccd808fabfb4973" /><Relationship Type="http://schemas.openxmlformats.org/officeDocument/2006/relationships/slide" Target="/ppt/slides/slide3.xml" Id="Rb3fd4e0107aa460b" /><Relationship Type="http://schemas.openxmlformats.org/officeDocument/2006/relationships/slide" Target="/ppt/slides/slide4.xml" Id="R5f41d054d0eb4560" /><Relationship Type="http://schemas.openxmlformats.org/officeDocument/2006/relationships/slide" Target="/ppt/slides/slide5.xml" Id="R59471a9e75bd4b95" /><Relationship Type="http://schemas.openxmlformats.org/officeDocument/2006/relationships/slide" Target="/ppt/slides/slide6.xml" Id="R7e7314f785144a4c" /><Relationship Type="http://schemas.openxmlformats.org/officeDocument/2006/relationships/slide" Target="/ppt/slides/slide7.xml" Id="Rf27fe53f6f384842" /><Relationship Type="http://schemas.openxmlformats.org/officeDocument/2006/relationships/slide" Target="/ppt/slides/slide8.xml" Id="R0dd166f120e8417b" /><Relationship Type="http://schemas.openxmlformats.org/officeDocument/2006/relationships/slide" Target="/ppt/slides/slide9.xml" Id="Rc6163148b889472e" /><Relationship Type="http://schemas.openxmlformats.org/officeDocument/2006/relationships/slide" Target="/ppt/slides/slide10.xml" Id="Rbfd72e5f16d641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97f78756cc43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2f86894f7f4d22" /><Relationship Type="http://schemas.openxmlformats.org/officeDocument/2006/relationships/notesMaster" Target="/ppt/notesMasters/notesMaster1.xml" Id="R40ca9503cb214c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2e013c639c41d1" /><Relationship Type="http://schemas.openxmlformats.org/officeDocument/2006/relationships/notesMaster" Target="/ppt/notesMasters/notesMaster1.xml" Id="R43505a5ba17f4d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1d4bfabcc042b1" /><Relationship Type="http://schemas.openxmlformats.org/officeDocument/2006/relationships/notesMaster" Target="/ppt/notesMasters/notesMaster1.xml" Id="R6a17f6fddd4b44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f26c3a88664532" /><Relationship Type="http://schemas.openxmlformats.org/officeDocument/2006/relationships/notesMaster" Target="/ppt/notesMasters/notesMaster1.xml" Id="R5b8ccdcf435249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5f0b4eeab74012" /><Relationship Type="http://schemas.openxmlformats.org/officeDocument/2006/relationships/notesMaster" Target="/ppt/notesMasters/notesMaster1.xml" Id="Rdd4b62eb072844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e55b8c65ef4acb" /><Relationship Type="http://schemas.openxmlformats.org/officeDocument/2006/relationships/notesMaster" Target="/ppt/notesMasters/notesMaster1.xml" Id="Re81861a27ca340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559b8b2b494bf4" /><Relationship Type="http://schemas.openxmlformats.org/officeDocument/2006/relationships/notesMaster" Target="/ppt/notesMasters/notesMaster1.xml" Id="Ra1cd444d29524e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645657e9a44582" /><Relationship Type="http://schemas.openxmlformats.org/officeDocument/2006/relationships/notesMaster" Target="/ppt/notesMasters/notesMaster1.xml" Id="R1c72d4b707354d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e621ee6a674f28" /><Relationship Type="http://schemas.openxmlformats.org/officeDocument/2006/relationships/notesMaster" Target="/ppt/notesMasters/notesMaster1.xml" Id="R2f1522ca7e124c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4794d0c1574a97" /><Relationship Type="http://schemas.openxmlformats.org/officeDocument/2006/relationships/notesMaster" Target="/ppt/notesMasters/notesMaster1.xml" Id="R1e8bf278f5ec47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b529e28ec4a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70e552e4fd4d07" /><Relationship Type="http://schemas.openxmlformats.org/officeDocument/2006/relationships/slideLayout" Target="/ppt/slideLayouts/slideLayout1.xml" Id="Rb2aa63e7aafa41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a63e7aafa41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31e86504d4d24" /><Relationship Type="http://schemas.openxmlformats.org/officeDocument/2006/relationships/image" Target="/ppt/media/image.png" Id="R766128f123f146ed" /><Relationship Type="http://schemas.openxmlformats.org/officeDocument/2006/relationships/notesSlide" Target="/ppt/notesSlides/notesSlide1.xml" Id="Rffc66e3700ac45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a31934a8e4212" /><Relationship Type="http://schemas.openxmlformats.org/officeDocument/2006/relationships/notesSlide" Target="/ppt/notesSlides/notesSlide2.xml" Id="R7512848b042746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3388e5b484a36" /><Relationship Type="http://schemas.openxmlformats.org/officeDocument/2006/relationships/notesSlide" Target="/ppt/notesSlides/notesSlide3.xml" Id="R8bef0247ed5843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14f6d4b584005" /><Relationship Type="http://schemas.openxmlformats.org/officeDocument/2006/relationships/notesSlide" Target="/ppt/notesSlides/notesSlide4.xml" Id="Re54141a5a1e045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628721c454c02" /><Relationship Type="http://schemas.openxmlformats.org/officeDocument/2006/relationships/image" Target="/ppt/media/image2.png" Id="Rf2e1099b6a3f47e0" /><Relationship Type="http://schemas.openxmlformats.org/officeDocument/2006/relationships/notesSlide" Target="/ppt/notesSlides/notesSlide5.xml" Id="R23b30951c6f84a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0d432abd64b7f" /><Relationship Type="http://schemas.openxmlformats.org/officeDocument/2006/relationships/notesSlide" Target="/ppt/notesSlides/notesSlide6.xml" Id="Rb07f5f7544ab4a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f4f694ca04c14" /><Relationship Type="http://schemas.openxmlformats.org/officeDocument/2006/relationships/notesSlide" Target="/ppt/notesSlides/notesSlide7.xml" Id="Rb434262db3c74a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bb88dea71453a" /><Relationship Type="http://schemas.openxmlformats.org/officeDocument/2006/relationships/notesSlide" Target="/ppt/notesSlides/notesSlide8.xml" Id="R3191fff427da4f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3727c66724ae9" /><Relationship Type="http://schemas.openxmlformats.org/officeDocument/2006/relationships/notesSlide" Target="/ppt/notesSlides/notesSlide9.xml" Id="R491764f065ad49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dce1f66a44b75" /><Relationship Type="http://schemas.openxmlformats.org/officeDocument/2006/relationships/notesSlide" Target="/ppt/notesSlides/notesSlide10.xml" Id="R0a56d63dfb1946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128f123f146e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F7E43-7909-4FB0-AA0F-991DC0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5334000" cy="542925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DF8">
              <a:alpha val="86667"/>
            </a:srgbClr>
          </a:solidFill>
          <a:ln xmlns:a="http://schemas.openxmlformats.org/drawingml/2006/main"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56132-8545-4D14-8CDD-E6A4D7D1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3143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D2DC0-CD6E-47A0-B3E9-CDBD1EEF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2026 企业疗愈力与 EAP 创新挑战赛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A8FA8-3BFF-4438-9F45-029032F5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83B3A"/>
                </a:solidFill>
              </a:defRPr>
            </a:pPr>
            <a:r>
              <a:rPr sz="4800" b="1">
                <a:solidFill>
                  <a:srgbClr val="183B3A"/>
                </a:solidFill>
              </a:rPr>
              <a:t>MindBridge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3B9D8-76A7-4B0C-A970-F809D482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2D706B"/>
                </a:solidFill>
              </a:defRPr>
            </a:pPr>
            <a:r>
              <a:rPr sz="4500" b="1">
                <a:solidFill>
                  <a:srgbClr val="2D706B"/>
                </a:solidFill>
              </a:rPr>
              <a:t>+ 疗愈轨道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70BB5-A7A3-4B1B-A38A-729D93D6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企业员工心理安全与成长共生系统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A8C78-10D1-4669-B798-8F8ABE55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5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A4DB1-CB73-472F-8156-5E75CC86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875"/>
                </a:solidFill>
              </a:defRPr>
            </a:pPr>
            <a:r>
              <a:rPr sz="1650" b="0">
                <a:solidFill>
                  <a:srgbClr val="607875"/>
                </a:solidFill>
              </a:rPr>
              <a:t>AI 负责听见信号</a:t>
            </a:r>
          </a:p>
          <a:p xmlns:a="http://schemas.openxmlformats.org/drawingml/2006/main">
            <a:pPr algn="l">
              <a:defRPr sz="1650" b="0">
                <a:solidFill>
                  <a:srgbClr val="607875"/>
                </a:solidFill>
              </a:defRPr>
            </a:pPr>
            <a:r>
              <a:rPr sz="1650" b="0">
                <a:solidFill>
                  <a:srgbClr val="607875"/>
                </a:solidFill>
              </a:rPr>
              <a:t>疗愈师负责陪伴改变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71010-6B04-47B0-9427-67256E54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数字疗愈 · AI 辅助员工支持系统</a:t>
            </a:r>
          </a:p>
        </p:txBody>
      </p:sp>
    </p:spTree>
    <p:extLst>
      <p:ext uri="{BB962C8B-B14F-4D97-AF65-F5344CB8AC3E}">
        <p14:creationId xmlns:p14="http://schemas.microsoft.com/office/powerpoint/2010/main" val="775683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E70E9B-1FC8-4BF1-B1A9-6D3B3DD1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8E"/>
                </a:solidFill>
              </a:defRPr>
            </a:pPr>
            <a:r>
              <a:rPr sz="1350" b="1">
                <a:solidFill>
                  <a:srgbClr val="E8B58E"/>
                </a:solidFill>
              </a:rPr>
              <a:t>02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9917BD1-204B-42AF-AEB9-B8F47825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A"/>
                </a:solidFill>
              </a:defRPr>
            </a:pPr>
            <a:r>
              <a:rPr sz="3300" b="1">
                <a:solidFill>
                  <a:srgbClr val="183B3A"/>
                </a:solidFill>
              </a:rPr>
              <a:t>当员工不敢求助，支持系统就需要主动靠近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CD4AF-57BF-45EA-927B-F7ACB3F2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双轨并行：AI 扩大可及性，疗愈师提供深度与安全边界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CFD79-448D-4F13-A94E-ADF9D42E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4F87D-533B-46B8-BCF1-AD843D34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238500" cy="3905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12600-10E8-45B7-9DE1-A9D4D17B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3A"/>
                </a:solidFill>
              </a:defRPr>
            </a:pPr>
            <a:r>
              <a:rPr sz="1800" b="1">
                <a:solidFill>
                  <a:srgbClr val="183B3A"/>
                </a:solidFill>
              </a:rPr>
              <a:t>真实阻力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E9C38-BBE8-41D0-962A-5AF31151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5755"/>
                </a:solidFill>
              </a:defRPr>
            </a:pPr>
            <a:r>
              <a:rPr sz="2025" b="1">
                <a:solidFill>
                  <a:srgbClr val="1E5755"/>
                </a:solidFill>
              </a:rPr>
              <a:t>“说出来会被贴标签吗？”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7D9F5-210B-4087-8BA8-ADC2CB73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875"/>
                </a:solidFill>
              </a:defRPr>
            </a:pPr>
            <a:r>
              <a:rPr sz="1650" b="0">
                <a:solidFill>
                  <a:srgbClr val="607875"/>
                </a:solidFill>
              </a:rPr>
              <a:t>不敢求助</a:t>
            </a:r>
          </a:p>
          <a:p xmlns:a="http://schemas.openxmlformats.org/drawingml/2006/main">
            <a:pPr algn="l">
              <a:defRPr sz="1650" b="0">
                <a:solidFill>
                  <a:srgbClr val="607875"/>
                </a:solidFill>
              </a:defRPr>
            </a:pPr>
            <a:r>
              <a:rPr sz="1650" b="0">
                <a:solidFill>
                  <a:srgbClr val="607875"/>
                </a:solidFill>
              </a:rPr>
              <a:t>匿名入口不足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89251-4079-4871-9C5C-3D8B35DC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875"/>
                </a:solidFill>
              </a:defRPr>
            </a:pPr>
            <a:r>
              <a:rPr sz="1650" b="0">
                <a:solidFill>
                  <a:srgbClr val="607875"/>
                </a:solidFill>
              </a:rPr>
              <a:t>求助之后</a:t>
            </a:r>
          </a:p>
          <a:p xmlns:a="http://schemas.openxmlformats.org/drawingml/2006/main">
            <a:pPr algn="l">
              <a:defRPr sz="1650" b="0">
                <a:solidFill>
                  <a:srgbClr val="607875"/>
                </a:solidFill>
              </a:defRPr>
            </a:pPr>
            <a:r>
              <a:rPr sz="1650" b="0">
                <a:solidFill>
                  <a:srgbClr val="607875"/>
                </a:solidFill>
              </a:rPr>
              <a:t>缺少持续陪伴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28187-35EE-4B21-AD2A-EC013E31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3333750" cy="39052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E3958-06A7-4F09-8C09-D503E9BA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43100"/>
            <a:ext cx="1143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D7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70208-CE72-47AD-BA0F-A08C752E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AI 轨道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7EF9E-641F-4240-B263-5B7493B1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B3A"/>
                </a:solidFill>
              </a:defRPr>
            </a:pPr>
            <a:r>
              <a:rPr sz="2100" b="1">
                <a:solidFill>
                  <a:srgbClr val="183B3A"/>
                </a:solidFill>
              </a:rPr>
              <a:t>倾听者 + 匹配师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DB92D-CC73-4481-8332-8C2177D5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571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875"/>
                </a:solidFill>
              </a:defRPr>
            </a:pPr>
            <a:r>
              <a:rPr sz="1725" b="0">
                <a:solidFill>
                  <a:srgbClr val="607875"/>
                </a:solidFill>
              </a:rPr>
              <a:t>24 小时匿名倾诉</a:t>
            </a:r>
          </a:p>
          <a:p xmlns:a="http://schemas.openxmlformats.org/drawingml/2006/main">
            <a:pPr algn="l">
              <a:defRPr sz="1725" b="0">
                <a:solidFill>
                  <a:srgbClr val="607875"/>
                </a:solidFill>
              </a:defRPr>
            </a:pPr>
            <a:r>
              <a:rPr sz="1725" b="0">
                <a:solidFill>
                  <a:srgbClr val="607875"/>
                </a:solidFill>
              </a:rPr>
              <a:t>情绪信号识别</a:t>
            </a:r>
          </a:p>
          <a:p xmlns:a="http://schemas.openxmlformats.org/drawingml/2006/main">
            <a:pPr algn="l">
              <a:defRPr sz="1725" b="0">
                <a:solidFill>
                  <a:srgbClr val="607875"/>
                </a:solidFill>
              </a:defRPr>
            </a:pPr>
            <a:r>
              <a:rPr sz="1725" b="0">
                <a:solidFill>
                  <a:srgbClr val="607875"/>
                </a:solidFill>
              </a:rPr>
              <a:t>个性化资源推荐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39A8B-E74A-468B-B04E-E456B20F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53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5755"/>
                </a:solidFill>
              </a:defRPr>
            </a:pPr>
            <a:r>
              <a:rPr sz="1500" b="1">
                <a:solidFill>
                  <a:srgbClr val="1E5755"/>
                </a:solidFill>
              </a:rPr>
              <a:t>只读数 · 只吹哨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7B9AD-719B-43DD-8231-4E6BB220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57350"/>
            <a:ext cx="3638550" cy="39052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8E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E4B5F-50E8-4CB3-8302-8EB8459D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43100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B5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48B70-36FC-4EB7-ABD4-EDCF179C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疗愈轨道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24113-7C4A-420F-8E10-F76084B2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B3A"/>
                </a:solidFill>
              </a:defRPr>
            </a:pPr>
            <a:r>
              <a:rPr sz="2100" b="1">
                <a:solidFill>
                  <a:srgbClr val="183B3A"/>
                </a:solidFill>
              </a:rPr>
              <a:t>转化师 + 陪伴者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B5A37A-0B44-410B-B2E3-D3985237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24200"/>
            <a:ext cx="285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875"/>
                </a:solidFill>
              </a:defRPr>
            </a:pPr>
            <a:r>
              <a:rPr sz="1725" b="0">
                <a:solidFill>
                  <a:srgbClr val="607875"/>
                </a:solidFill>
              </a:rPr>
              <a:t>人工复核与风险介入</a:t>
            </a:r>
          </a:p>
          <a:p xmlns:a="http://schemas.openxmlformats.org/drawingml/2006/main">
            <a:pPr algn="l">
              <a:defRPr sz="1725" b="0">
                <a:solidFill>
                  <a:srgbClr val="607875"/>
                </a:solidFill>
              </a:defRPr>
            </a:pPr>
            <a:r>
              <a:rPr sz="1725" b="0">
                <a:solidFill>
                  <a:srgbClr val="607875"/>
                </a:solidFill>
              </a:rPr>
              <a:t>团体工作坊</a:t>
            </a:r>
          </a:p>
          <a:p xmlns:a="http://schemas.openxmlformats.org/drawingml/2006/main">
            <a:pPr algn="l">
              <a:defRPr sz="1725" b="0">
                <a:solidFill>
                  <a:srgbClr val="607875"/>
                </a:solidFill>
              </a:defRPr>
            </a:pPr>
            <a:r>
              <a:rPr sz="1725" b="0">
                <a:solidFill>
                  <a:srgbClr val="607875"/>
                </a:solidFill>
              </a:rPr>
              <a:t>一对一深度陪伴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523EA-6073-45D3-BFD8-69E3062A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53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5755"/>
                </a:solidFill>
              </a:defRPr>
            </a:pPr>
            <a:r>
              <a:rPr sz="1500" b="1">
                <a:solidFill>
                  <a:srgbClr val="1E5755"/>
                </a:solidFill>
              </a:rPr>
              <a:t>不替代 · 不标签化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5D6090-BEFF-4342-8115-84986132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1028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5D3F0C-7403-482F-9501-5A6B6452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3A"/>
                </a:solidFill>
              </a:defRPr>
            </a:pPr>
            <a:r>
              <a:rPr sz="1350" b="1">
                <a:solidFill>
                  <a:srgbClr val="183B3A"/>
                </a:solidFill>
              </a:rPr>
              <a:t>人工</a:t>
            </a:r>
          </a:p>
          <a:p xmlns:a="http://schemas.openxmlformats.org/drawingml/2006/main">
            <a:pPr algn="ctr">
              <a:defRPr sz="1350" b="1">
                <a:solidFill>
                  <a:srgbClr val="183B3A"/>
                </a:solidFill>
              </a:defRPr>
            </a:pPr>
            <a:r>
              <a:rPr sz="1350" b="1">
                <a:solidFill>
                  <a:srgbClr val="183B3A"/>
                </a:solidFill>
              </a:rPr>
              <a:t>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BA3F75-85B3-4BEF-999F-BD6DCC6B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MindBridge AI × 疗愈轨道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4F98F-6712-45FA-A00A-DCB9E59C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875"/>
                </a:solidFill>
              </a:defRPr>
            </a:pPr>
            <a:r>
              <a:rPr sz="1050" b="1">
                <a:solidFill>
                  <a:srgbClr val="60787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5277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529F5-605E-4947-8F24-5CF81AC5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8E"/>
                </a:solidFill>
              </a:defRPr>
            </a:pPr>
            <a:r>
              <a:rPr sz="1350" b="1">
                <a:solidFill>
                  <a:srgbClr val="E8B58E"/>
                </a:solidFill>
              </a:rPr>
              <a:t>03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DF4E494B-00A3-4EE5-937B-6FEB731E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A"/>
                </a:solidFill>
              </a:defRPr>
            </a:pPr>
            <a:r>
              <a:rPr sz="3300" b="1">
                <a:solidFill>
                  <a:srgbClr val="183B3A"/>
                </a:solidFill>
              </a:rPr>
              <a:t>从六类高内耗组织切入，先解决最迫切的压力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BD014-FA9B-4618-9D3D-5C0AAB30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直接人群是高压岗位员工；HRBP、EAP 专员与疗愈师共同承接人工复核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88EDF-58D8-4D92-9CE2-BD8DE922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25A53-F560-4D0F-A09B-76A424D8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3718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9A9F8-70F2-4759-BCDF-8AB711A9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876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EF52A-2AC3-48A0-A115-CFE31F2A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优先试点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54456-C19D-426A-AE2C-9F205A4F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互联网 / 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D2908-ADDD-48F3-8147-69363263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赶工、裁员焦虑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73905-AF06-46B5-A217-A1761D11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33718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72BD5-CEFF-4CDE-89DA-E4648FC9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876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35A9D-78F7-46F3-B191-6985A266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优先试点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DC48A-3BFC-413B-85B9-54B695F0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05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金融 / 银行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BCE65-01D3-46CD-A8B9-A2B1D049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KPI 与决策疲劳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81364-61E0-4914-9178-ABFAC60D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3718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B6BC8-D001-4A7D-8868-049E7535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876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FD0D3-1B88-4F92-8B1B-109D9E32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重点拓展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85DCC-9E29-4EAA-8B12-7D78095C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医护 / 护理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629C6-AE2D-40A9-9819-97C21CEA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共情疲劳、生死压力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C737B-20E9-409C-8EEA-95919943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3718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9107D-725C-4320-B9B6-0C82DA0C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876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AC2A9-3638-49CE-A02C-D8B01BC1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重点拓展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4F31C-2E84-44CE-8A9F-9958F953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教育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073AC7-25B4-4B2D-83CA-4E1B31D3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多重角色与沟通焦虑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CB313A-AA07-40EA-AD7F-73390BA3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43300"/>
            <a:ext cx="33718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66C1D6-B996-4C42-99FA-5E1C5956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876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5294F7-2FC5-46D7-8DE9-CC016B05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71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规模复制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642302-0E46-494C-B43B-55B88907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客服 / 服务业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B71E39-5101-4EC5-AF1A-473C6C42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0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情绪劳动与负面污染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5D2C7E-E5D0-4D71-9064-21B4E733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33718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9D4846-081A-4976-A723-65AC720E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876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4AFFBB-A598-48DF-A64E-7AA3AF6A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规模复制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5D5128-F658-4DF5-88B0-2B67D1D5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71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制造 / 汽车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736C19-B4FC-4C15-A334-90BA0E26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10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疲劳、隔离与安全焦虑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6B7824-4AE3-4B05-B50F-ECE01A03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5755"/>
                </a:solidFill>
              </a:defRPr>
            </a:pPr>
            <a:r>
              <a:rPr sz="1650" b="1">
                <a:solidFill>
                  <a:srgbClr val="1E5755"/>
                </a:solidFill>
              </a:rPr>
              <a:t>切入原则：问题真实、压力高频、采购责任明确，便于形成 90 天可验证试点。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042D79-F474-4837-B711-0AB83990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MindBridge AI × 疗愈轨道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D32DBD-ED0D-42EF-A464-45AB9F1A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875"/>
                </a:solidFill>
              </a:defRPr>
            </a:pPr>
            <a:r>
              <a:rPr sz="1050" b="1">
                <a:solidFill>
                  <a:srgbClr val="60787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7820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E8F095-124B-4284-84EB-6C4A90E1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8E"/>
                </a:solidFill>
              </a:defRPr>
            </a:pPr>
            <a:r>
              <a:rPr sz="1350" b="1">
                <a:solidFill>
                  <a:srgbClr val="E8B58E"/>
                </a:solidFill>
              </a:rPr>
              <a:t>04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9A4F850-2819-41C4-A3F4-969925BA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A"/>
                </a:solidFill>
              </a:defRPr>
            </a:pPr>
            <a:r>
              <a:rPr sz="3300" b="1">
                <a:solidFill>
                  <a:srgbClr val="183B3A"/>
                </a:solidFill>
              </a:rPr>
              <a:t>一套数字底座，长出六种行业化疗愈方案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14DB1-7009-4D95-82F6-7A36392C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通用预防入口保持一致，疗愈活动根据行业语言与压力来源定制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E06F7-AE9A-44FD-89CE-4E626935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5A7F8-1838-4C10-8F9D-178B223E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667000" cy="41529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E5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B55FF-34CA-4C0A-8609-CE572FC2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通用底座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4B0FC-2D6F-45D2-8955-759DF762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95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AI 树洞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24h 匿名倾诉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绿 / 黄 / 红预警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人工复核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资源推送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效果随访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FBE2A-B31E-4643-A0F8-9A3E38C1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38300"/>
            <a:ext cx="3619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133AB-36C6-4836-956E-6366A326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2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3A"/>
                </a:solidFill>
              </a:defRPr>
            </a:pPr>
            <a:r>
              <a:rPr sz="1725" b="1">
                <a:solidFill>
                  <a:srgbClr val="183B3A"/>
                </a:solidFill>
              </a:rPr>
              <a:t>互联网 /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74610-8013-4737-891E-1BB6BFB2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09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875"/>
                </a:solidFill>
              </a:defRPr>
            </a:pPr>
            <a:r>
              <a:rPr sz="1425" b="0">
                <a:solidFill>
                  <a:srgbClr val="607875"/>
                </a:solidFill>
              </a:rPr>
              <a:t>正念工作坊 + 身份重塑叙事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EB78B-C07B-4FFD-A28B-EC5CE0C4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38300"/>
            <a:ext cx="3619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5D640-7C48-4C46-B223-381A21FC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2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3A"/>
                </a:solidFill>
              </a:defRPr>
            </a:pPr>
            <a:r>
              <a:rPr sz="1725" b="1">
                <a:solidFill>
                  <a:srgbClr val="183B3A"/>
                </a:solidFill>
              </a:rPr>
              <a:t>金融 / 银行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EE4E5-E6B8-4803-9A58-D6AC9119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09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875"/>
                </a:solidFill>
              </a:defRPr>
            </a:pPr>
            <a:r>
              <a:rPr sz="1425" b="0">
                <a:solidFill>
                  <a:srgbClr val="607875"/>
                </a:solidFill>
              </a:rPr>
              <a:t>积极心理培训 + 跨团队小组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1683F-EBFD-481D-893C-88556738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19425"/>
            <a:ext cx="3619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6F03B-20B0-4B93-8AB4-06180197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9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3A"/>
                </a:solidFill>
              </a:defRPr>
            </a:pPr>
            <a:r>
              <a:rPr sz="1725" b="1">
                <a:solidFill>
                  <a:srgbClr val="183B3A"/>
                </a:solidFill>
              </a:rPr>
              <a:t>医护 / 护理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A8D6F-928A-42BA-85D8-4CBD8A30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909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875"/>
                </a:solidFill>
              </a:defRPr>
            </a:pPr>
            <a:r>
              <a:rPr sz="1425" b="0">
                <a:solidFill>
                  <a:srgbClr val="607875"/>
                </a:solidFill>
              </a:rPr>
              <a:t>巴林特小组 + 困境盲盒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96E05-100F-4A07-8441-0D96F403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19425"/>
            <a:ext cx="3619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048D2-2B54-464A-AB21-51EB4B15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9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3A"/>
                </a:solidFill>
              </a:defRPr>
            </a:pPr>
            <a:r>
              <a:rPr sz="1725" b="1">
                <a:solidFill>
                  <a:srgbClr val="183B3A"/>
                </a:solidFill>
              </a:rPr>
              <a:t>教育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AE38D-D1CE-4C3E-B14B-A9060C3D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909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875"/>
                </a:solidFill>
              </a:defRPr>
            </a:pPr>
            <a:r>
              <a:rPr sz="1425" b="0">
                <a:solidFill>
                  <a:srgbClr val="607875"/>
                </a:solidFill>
              </a:rPr>
              <a:t>奥尔夫音乐 + ABC 工作坊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44C27-B861-4940-B809-91A4B40C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00550"/>
            <a:ext cx="3619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6E313-2BA6-4521-A82E-49B0E9DD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91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3A"/>
                </a:solidFill>
              </a:defRPr>
            </a:pPr>
            <a:r>
              <a:rPr sz="1725" b="1">
                <a:solidFill>
                  <a:srgbClr val="183B3A"/>
                </a:solidFill>
              </a:rPr>
              <a:t>客服 / 服务业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DF119-D532-4D46-BFF6-9444F238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72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875"/>
                </a:solidFill>
              </a:defRPr>
            </a:pPr>
            <a:r>
              <a:rPr sz="1425" b="0">
                <a:solidFill>
                  <a:srgbClr val="607875"/>
                </a:solidFill>
              </a:rPr>
              <a:t>心流插花 + 芳香正念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1295A-3F78-43EA-83F5-3AE1C981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3619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7D72A-8DC8-4BA2-BA21-9D35F377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91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3A"/>
                </a:solidFill>
              </a:defRPr>
            </a:pPr>
            <a:r>
              <a:rPr sz="1725" b="1">
                <a:solidFill>
                  <a:srgbClr val="183B3A"/>
                </a:solidFill>
              </a:rPr>
              <a:t>制造 / 汽车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3D87F-7A18-4D27-BAA4-E06359EA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72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875"/>
                </a:solidFill>
              </a:defRPr>
            </a:pPr>
            <a:r>
              <a:rPr sz="1425" b="0">
                <a:solidFill>
                  <a:srgbClr val="607875"/>
                </a:solidFill>
              </a:rPr>
              <a:t>沙盘共创 + 心灵驿站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78F2D-2508-4DBA-A42A-1A967C81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MindBridge AI × 疗愈轨道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2D105F-838C-4568-8496-833098FC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875"/>
                </a:solidFill>
              </a:defRPr>
            </a:pPr>
            <a:r>
              <a:rPr sz="1050" b="1">
                <a:solidFill>
                  <a:srgbClr val="60787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1971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7E9B8-BE23-4E19-AEE9-299F40C6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8E"/>
                </a:solidFill>
              </a:defRPr>
            </a:pPr>
            <a:r>
              <a:rPr sz="1350" b="1">
                <a:solidFill>
                  <a:srgbClr val="E8B58E"/>
                </a:solidFill>
              </a:rPr>
              <a:t>05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21E1BA0-5D9F-4493-A98B-23F98151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A"/>
                </a:solidFill>
              </a:defRPr>
            </a:pPr>
            <a:r>
              <a:rPr sz="3300" b="1">
                <a:solidFill>
                  <a:srgbClr val="183B3A"/>
                </a:solidFill>
              </a:rPr>
              <a:t>先匹配当下情绪，再递进到真正需要的支持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DBBC1-2353-4B64-BFE2-EE1CF858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疗愈师拥有方案选择权；员工保有知情、同意与退出权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94058-B68C-4124-9FA7-A411A7AC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1099b6a3f47e0"/>
          <a:srcRect xmlns:a="http://schemas.openxmlformats.org/drawingml/2006/main" l="15091" t="0" r="150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562100"/>
            <a:ext cx="5010150" cy="403860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34B7C-E23D-4EEA-89F6-A308B4C2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9FC67-8F3E-493D-9544-BE6D208E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B3A"/>
                </a:solidFill>
              </a:defRPr>
            </a:pPr>
            <a:r>
              <a:rPr sz="1875" b="1">
                <a:solidFill>
                  <a:srgbClr val="183B3A"/>
                </a:solidFill>
              </a:rPr>
              <a:t>即时自助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21D12-EB6C-4E99-AEDB-AE1B1847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09750"/>
            <a:ext cx="1238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98331-3574-48D4-9BE8-13B4051B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47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3–5 分钟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D7695-F4B3-4BD2-AD47-1ECC6277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875"/>
                </a:solidFill>
              </a:defRPr>
            </a:pPr>
            <a:r>
              <a:rPr sz="1425" b="0">
                <a:solidFill>
                  <a:srgbClr val="607875"/>
                </a:solidFill>
              </a:rPr>
              <a:t>呼吸着陆 · 身体扫描 · 情绪暂停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E4D66-7153-4EC9-9683-8EFD164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845A7-C817-44EE-82C9-A26BC5AF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B3A"/>
                </a:solidFill>
              </a:defRPr>
            </a:pPr>
            <a:r>
              <a:rPr sz="1875" b="1">
                <a:solidFill>
                  <a:srgbClr val="183B3A"/>
                </a:solidFill>
              </a:rPr>
              <a:t>团体疗愈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74EE0-13CA-4A17-8C83-A3DAEC14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48000"/>
            <a:ext cx="1238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030A5-CCEE-4EAC-B3D8-61A80B3C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86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90–120 分钟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CE50E-C997-4042-A351-990FD532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875"/>
                </a:solidFill>
              </a:defRPr>
            </a:pPr>
            <a:r>
              <a:rPr sz="1425" b="0">
                <a:solidFill>
                  <a:srgbClr val="607875"/>
                </a:solidFill>
              </a:rPr>
              <a:t>正念 · 艺术 · 巴林特 · 叙事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45D2A-DE8E-4B73-B45A-93098E9C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4A697-554B-4504-AAB5-037F2D36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B3A"/>
                </a:solidFill>
              </a:defRPr>
            </a:pPr>
            <a:r>
              <a:rPr sz="1875" b="1">
                <a:solidFill>
                  <a:srgbClr val="183B3A"/>
                </a:solidFill>
              </a:rPr>
              <a:t>深度陪伴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66FAA-6EBC-42D4-B795-94EC91DE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86250"/>
            <a:ext cx="1676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7AFEC-2095-49D3-AB1B-9B6534C0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243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1 对 1 / 4 次小组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66FBC-86BA-49BC-8757-96D748FA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875"/>
                </a:solidFill>
              </a:defRPr>
            </a:pPr>
            <a:r>
              <a:rPr sz="1425" b="0">
                <a:solidFill>
                  <a:srgbClr val="607875"/>
                </a:solidFill>
              </a:rPr>
              <a:t>焦虑疏导 · 意义重构 · 身心整合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9E63D-326A-430A-9FAA-534A8C80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5755"/>
                </a:solidFill>
              </a:defRPr>
            </a:pPr>
            <a:r>
              <a:rPr sz="1350" b="1">
                <a:solidFill>
                  <a:srgbClr val="1E5755"/>
                </a:solidFill>
              </a:rPr>
              <a:t>理论依据：MBSR、表达性艺术治疗、叙事疗愈、躯体觉察等。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07C198-2F5B-4A39-B4BE-51295F72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MindBridge AI × 疗愈轨道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EAD3E-09F1-4C27-9F50-9FB7FE19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875"/>
                </a:solidFill>
              </a:defRPr>
            </a:pPr>
            <a:r>
              <a:rPr sz="1050" b="1">
                <a:solidFill>
                  <a:srgbClr val="60787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2390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31CD27-A32E-4464-98CA-77AE9BC5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8E"/>
                </a:solidFill>
              </a:defRPr>
            </a:pPr>
            <a:r>
              <a:rPr sz="1350" b="1">
                <a:solidFill>
                  <a:srgbClr val="E8B58E"/>
                </a:solidFill>
              </a:rPr>
              <a:t>06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78E30B4E-FBD3-40D6-9850-A723527C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A"/>
                </a:solidFill>
              </a:defRPr>
            </a:pPr>
            <a:r>
              <a:rPr sz="3300" b="1">
                <a:solidFill>
                  <a:srgbClr val="183B3A"/>
                </a:solidFill>
              </a:rPr>
              <a:t>AI 树洞把“开不了口”变成一个匿名入口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3CAC2-7913-47D7-B9FB-71E029D7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企业微信 / 钉钉 / 小程序接入；AI 不诊断，只回应、识别与推荐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DA438-6257-44BA-890B-16A7B4F7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13371-B25E-4B85-A551-606A22A7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429000" cy="43243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1EE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49DD0-DAB5-4979-ADF7-CD1F0EC1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2667000" cy="39052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46AAA-F996-495D-B02A-06B1D02A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A"/>
                </a:solidFill>
              </a:defRPr>
            </a:pPr>
            <a:r>
              <a:rPr sz="1800" b="1">
                <a:solidFill>
                  <a:srgbClr val="183B3A"/>
                </a:solidFill>
              </a:rPr>
              <a:t>AI 树洞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79FFE-3FA4-47C2-A0AB-6AC3EB38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45DDD-4E5A-4712-A806-82242F9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717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3B3A"/>
                </a:solidFill>
              </a:defRPr>
            </a:pPr>
            <a:r>
              <a:rPr sz="1275" b="0">
                <a:solidFill>
                  <a:srgbClr val="183B3A"/>
                </a:solidFill>
              </a:rPr>
              <a:t>最近真的很累，</a:t>
            </a:r>
          </a:p>
          <a:p xmlns:a="http://schemas.openxmlformats.org/drawingml/2006/main">
            <a:pPr algn="l">
              <a:defRPr sz="1275" b="0">
                <a:solidFill>
                  <a:srgbClr val="183B3A"/>
                </a:solidFill>
              </a:defRPr>
            </a:pPr>
            <a:r>
              <a:rPr sz="1275" b="0">
                <a:solidFill>
                  <a:srgbClr val="183B3A"/>
                </a:solidFill>
              </a:rPr>
              <a:t>感觉一直追不上。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16855-4999-4082-8261-8C2FA906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21526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665ED-159C-4FA3-A88C-A6CA3C3C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3A"/>
                </a:solidFill>
              </a:defRPr>
            </a:pPr>
            <a:r>
              <a:rPr sz="1050" b="0">
                <a:solidFill>
                  <a:srgbClr val="183B3A"/>
                </a:solidFill>
              </a:rPr>
              <a:t>听起来你已经撑了很久。</a:t>
            </a:r>
          </a:p>
          <a:p xmlns:a="http://schemas.openxmlformats.org/drawingml/2006/main">
            <a:pPr algn="l">
              <a:defRPr sz="1050" b="0">
                <a:solidFill>
                  <a:srgbClr val="183B3A"/>
                </a:solidFill>
              </a:defRPr>
            </a:pPr>
            <a:r>
              <a:rPr sz="1050" b="0">
                <a:solidFill>
                  <a:srgbClr val="183B3A"/>
                </a:solidFill>
              </a:rPr>
              <a:t>先做一次 3 分钟呼吸练习，</a:t>
            </a:r>
          </a:p>
          <a:p xmlns:a="http://schemas.openxmlformats.org/drawingml/2006/main">
            <a:pPr algn="l">
              <a:defRPr sz="1050" b="0">
                <a:solidFill>
                  <a:srgbClr val="183B3A"/>
                </a:solidFill>
              </a:defRPr>
            </a:pPr>
            <a:r>
              <a:rPr sz="1050" b="0">
                <a:solidFill>
                  <a:srgbClr val="183B3A"/>
                </a:solidFill>
              </a:rPr>
              <a:t>好吗？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85B22-FA6C-4FCF-929A-67880B99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8953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E0CE8-D3D9-4A50-A811-1BCBCB7B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完全匿名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EE3DA-B1B2-4F05-B560-470CD396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05350"/>
            <a:ext cx="800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203C0-B3E5-4D06-9E2A-4058C07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可退出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69738-F08A-4EB1-8BDB-B4B88E89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52600"/>
            <a:ext cx="6858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7B725-8272-4611-B686-3F7F27A9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24050"/>
            <a:ext cx="6858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E9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BD488-08D8-4B78-88DC-1D62036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145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绿色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05509-D233-42F9-AB5C-29BE36D9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24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3A"/>
                </a:solidFill>
              </a:defRPr>
            </a:pPr>
            <a:r>
              <a:rPr sz="1725" b="1">
                <a:solidFill>
                  <a:srgbClr val="183B3A"/>
                </a:solidFill>
              </a:rPr>
              <a:t>日常压力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A1A46-30E5-4432-ACF6-FC02579B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860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自动推送自助资源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AA8B7-FE62-4C3D-8F48-15627A32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1800"/>
            <a:ext cx="6858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96356-2774-4113-BADA-AA825740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43250"/>
            <a:ext cx="6858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6A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5C120-3596-4AFD-A761-A0F117C7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337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黄色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ACFBCD-EA05-4D9A-93D9-B46C73C7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43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3A"/>
                </a:solidFill>
              </a:defRPr>
            </a:pPr>
            <a:r>
              <a:rPr sz="1725" b="1">
                <a:solidFill>
                  <a:srgbClr val="183B3A"/>
                </a:solidFill>
              </a:rPr>
              <a:t>持续高压 / 高频倾诉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A8589-3B7D-4A43-918F-F5C293C4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052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人工复核后推荐团体支持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B48F0C-563C-49C9-ADAF-DDC9C7A6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91000"/>
            <a:ext cx="6858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47990E-61DD-45A5-B703-D71E320B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62450"/>
            <a:ext cx="6858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96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56483-A35D-42E4-A57D-1E0A4610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529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红色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C2312-5523-48E1-863B-84D2EE9D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62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3A"/>
                </a:solidFill>
              </a:defRPr>
            </a:pPr>
            <a:r>
              <a:rPr sz="1725" b="1">
                <a:solidFill>
                  <a:srgbClr val="183B3A"/>
                </a:solidFill>
              </a:rPr>
              <a:t>极端风险信号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F9970D-228F-4C64-B1FB-29105617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244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立即转接专业咨询与 EAP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A2BF0F-8A8A-4229-9563-8172FD97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24500"/>
            <a:ext cx="6858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E5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5AAD55-8A7D-47C2-9B4F-518F2572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19750"/>
            <a:ext cx="655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安全边界：所有预警均需人工复核，不自动定性任何员工。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08B5D9-19F6-4D49-BE4D-8DF3C9B9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MindBridge AI × 疗愈轨道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609FCE-1FCC-4F55-9632-C5C79831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875"/>
                </a:solidFill>
              </a:defRPr>
            </a:pPr>
            <a:r>
              <a:rPr sz="1050" b="1">
                <a:solidFill>
                  <a:srgbClr val="60787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8412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FF9E6E-B0F9-4D76-9C37-30C4723D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8E"/>
                </a:solidFill>
              </a:defRPr>
            </a:pPr>
            <a:r>
              <a:rPr sz="1350" b="1">
                <a:solidFill>
                  <a:srgbClr val="E8B58E"/>
                </a:solidFill>
              </a:rPr>
              <a:t>07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2D437603-F524-413F-A2C2-889A38C2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A"/>
                </a:solidFill>
              </a:defRPr>
            </a:pPr>
            <a:r>
              <a:rPr sz="3300" b="1">
                <a:solidFill>
                  <a:srgbClr val="183B3A"/>
                </a:solidFill>
              </a:rPr>
              <a:t>把情绪信号翻译成下一步可执行的疗愈行动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85727-B07B-462A-ABB6-BFDC0615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每一步都留下人工判断节点与效果反馈，形成可追踪闭环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FD3F5-CD22-458E-84E1-9D03067D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3D7AC-19F6-4292-B97C-858729A7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457450" cy="31432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5E1E4-F6DF-4E9C-9DC6-EF7FCC88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706B"/>
                </a:solidFill>
              </a:defRPr>
            </a:pPr>
            <a:r>
              <a:rPr sz="2250" b="1">
                <a:solidFill>
                  <a:srgbClr val="2D706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5B92F-73CE-4FFA-A5F3-D474217A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信号识别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AAF06-4B4E-4386-BCA9-B7550E31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875"/>
                </a:solidFill>
              </a:defRPr>
            </a:pPr>
            <a:r>
              <a:rPr sz="1575" b="0">
                <a:solidFill>
                  <a:srgbClr val="607875"/>
                </a:solidFill>
              </a:rPr>
              <a:t>匿名倾诉 → 情绪标签 + 预警等级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3EA06-FBAC-46BB-A8E5-4613E54A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D706B"/>
                </a:solidFill>
              </a:defRPr>
            </a:pPr>
            <a:r>
              <a:rPr sz="2550" b="1">
                <a:solidFill>
                  <a:srgbClr val="2D706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0D221-9AD5-42E8-8B43-90F77A68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457450" cy="31432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292DD-F998-4FEC-B73C-F4066679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383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B58E"/>
                </a:solidFill>
              </a:defRPr>
            </a:pPr>
            <a:r>
              <a:rPr sz="2250" b="1">
                <a:solidFill>
                  <a:srgbClr val="E8B58E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0827D-4F4E-4D8E-BE9A-4F94A9DF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方案匹配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014DE-16F4-4E09-8F72-C6227FBC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385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875"/>
                </a:solidFill>
              </a:defRPr>
            </a:pPr>
            <a:r>
              <a:rPr sz="1575" b="0">
                <a:solidFill>
                  <a:srgbClr val="607875"/>
                </a:solidFill>
              </a:rPr>
              <a:t>结合情绪、行业与参与历史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4D874-A860-4124-86C9-2A8C91A9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D706B"/>
                </a:solidFill>
              </a:defRPr>
            </a:pPr>
            <a:r>
              <a:rPr sz="2550" b="1">
                <a:solidFill>
                  <a:srgbClr val="2D706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970A7-DCE7-4171-B11C-DCDC638E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57450" cy="31432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1C4EC-53BB-4B61-A0E0-7E432BE0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706B"/>
                </a:solidFill>
              </a:defRPr>
            </a:pPr>
            <a:r>
              <a:rPr sz="2250" b="1">
                <a:solidFill>
                  <a:srgbClr val="2D706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2EBEF-EC79-47AE-8E06-42C1593D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触达执行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4ADF0-E3A7-49CB-B838-CE42FCDD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875"/>
                </a:solidFill>
              </a:defRPr>
            </a:pPr>
            <a:r>
              <a:rPr sz="1575" b="0">
                <a:solidFill>
                  <a:srgbClr val="607875"/>
                </a:solidFill>
              </a:rPr>
              <a:t>IM 推送 + 人工复核 + 疗愈介入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A70FB-B483-47FF-A4E4-2A817C7B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D706B"/>
                </a:solidFill>
              </a:defRPr>
            </a:pPr>
            <a:r>
              <a:rPr sz="2550" b="1">
                <a:solidFill>
                  <a:srgbClr val="2D706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7300A-37AE-4AB2-BA0E-122FCE8F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57450" cy="31432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C6E862-CDCC-489D-BDC5-3AFC1519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83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B58E"/>
                </a:solidFill>
              </a:defRPr>
            </a:pPr>
            <a:r>
              <a:rPr sz="2250" b="1">
                <a:solidFill>
                  <a:srgbClr val="E8B58E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F44DF-330B-4ED1-88D8-48752572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效果回流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CB9F82-7D98-4D30-8565-42BBFFB9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875"/>
                </a:solidFill>
              </a:defRPr>
            </a:pPr>
            <a:r>
              <a:rPr sz="1575" b="0">
                <a:solidFill>
                  <a:srgbClr val="607875"/>
                </a:solidFill>
              </a:rPr>
              <a:t>第 3 天 / 第 7 天随访</a:t>
            </a:r>
          </a:p>
          <a:p xmlns:a="http://schemas.openxmlformats.org/drawingml/2006/main">
            <a:pPr algn="l">
              <a:defRPr sz="1575" b="0">
                <a:solidFill>
                  <a:srgbClr val="607875"/>
                </a:solidFill>
              </a:defRPr>
            </a:pPr>
            <a:r>
              <a:rPr sz="1575" b="0">
                <a:solidFill>
                  <a:srgbClr val="607875"/>
                </a:solidFill>
              </a:rPr>
              <a:t>优化下一次推荐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D2FD8-CCC9-4157-94F5-40889E56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295900"/>
            <a:ext cx="4095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E362F-C1A4-4C1C-B78A-46C00CCC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334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755"/>
                </a:solidFill>
              </a:defRPr>
            </a:pPr>
            <a:r>
              <a:rPr sz="1200" b="1">
                <a:solidFill>
                  <a:srgbClr val="1E5755"/>
                </a:solidFill>
              </a:rPr>
              <a:t>员工可以拒绝推荐，也可以随时退出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5428C-4780-40D9-9698-BFA07E82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MindBridge AI × 疗愈轨道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82E3EB-946B-4E13-84C1-13DE838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875"/>
                </a:solidFill>
              </a:defRPr>
            </a:pPr>
            <a:r>
              <a:rPr sz="1050" b="1">
                <a:solidFill>
                  <a:srgbClr val="60787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85766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F0C66-E217-4541-A673-CDF23754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8E"/>
                </a:solidFill>
              </a:defRPr>
            </a:pPr>
            <a:r>
              <a:rPr sz="1350" b="1">
                <a:solidFill>
                  <a:srgbClr val="E8B58E"/>
                </a:solidFill>
              </a:rPr>
              <a:t>08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221A2DE-1B14-4A22-895E-67752BE5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A"/>
                </a:solidFill>
              </a:defRPr>
            </a:pPr>
            <a:r>
              <a:rPr sz="3300" b="1">
                <a:solidFill>
                  <a:srgbClr val="183B3A"/>
                </a:solidFill>
              </a:rPr>
              <a:t>用 90 天试点验证闭环，再逐步嵌入组织机制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9C9EA-6067-40FD-BEC4-C08D221D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从一个高压部门起步，降低采购与伦理风险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6CFEB-DEDC-4694-A6EA-176DA64A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42199-D79F-4630-ADD9-016098A7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E07CF-36AC-4B1E-95C8-11AA9D11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4574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D7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5CD8B-F244-492B-8185-994FED4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第 1–2 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DE0AC-C653-4C32-B5AC-4E622A3E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预备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E1BB2-7405-4696-8D1E-5EFDD899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4574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8B30B-80C4-4B07-A2A8-699A44A9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3A"/>
                </a:solidFill>
              </a:defRPr>
            </a:pPr>
            <a:r>
              <a:rPr sz="1500" b="0">
                <a:solidFill>
                  <a:srgbClr val="183B3A"/>
                </a:solidFill>
              </a:rPr>
              <a:t>部署树洞、知情同意</a:t>
            </a:r>
          </a:p>
          <a:p xmlns:a="http://schemas.openxmlformats.org/drawingml/2006/main">
            <a:pPr algn="l">
              <a:defRPr sz="1500" b="0">
                <a:solidFill>
                  <a:srgbClr val="183B3A"/>
                </a:solidFill>
              </a:defRPr>
            </a:pPr>
            <a:r>
              <a:rPr sz="1500" b="0">
                <a:solidFill>
                  <a:srgbClr val="183B3A"/>
                </a:solidFill>
              </a:rPr>
              <a:t>基线测量、疗愈师伦理培训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E5B3C-1628-4BB8-B8E2-627CEF3E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24574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B5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D353B-C2E1-42F6-BC15-78D42C52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第 3–6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418C7-7C33-47FB-95EF-A7E27657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融入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5141A-4905-466F-A1E3-F3A249E5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24574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002C9-86B4-4595-8BBE-0A02453E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3A"/>
                </a:solidFill>
              </a:defRPr>
            </a:pPr>
            <a:r>
              <a:rPr sz="1500" b="0">
                <a:solidFill>
                  <a:srgbClr val="183B3A"/>
                </a:solidFill>
              </a:rPr>
              <a:t>周度趋势、资源推送</a:t>
            </a:r>
          </a:p>
          <a:p xmlns:a="http://schemas.openxmlformats.org/drawingml/2006/main">
            <a:pPr algn="l">
              <a:defRPr sz="1500" b="0">
                <a:solidFill>
                  <a:srgbClr val="183B3A"/>
                </a:solidFill>
              </a:defRPr>
            </a:pPr>
            <a:r>
              <a:rPr sz="1500" b="0">
                <a:solidFill>
                  <a:srgbClr val="183B3A"/>
                </a:solidFill>
              </a:rPr>
              <a:t>每两周一次团体工作坊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E219E-D66D-4A34-96BD-00D41E39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4574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D7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7A686-B2CD-4AE7-9325-596CE42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第 7–12 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EE2A56-B45C-40D5-9316-4B5777C0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D5DDA-FE17-4B57-86B3-577C38B3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24574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A4070-ED7F-4907-92B1-591C9E84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3A"/>
                </a:solidFill>
              </a:defRPr>
            </a:pPr>
            <a:r>
              <a:rPr sz="1500" b="0">
                <a:solidFill>
                  <a:srgbClr val="183B3A"/>
                </a:solidFill>
              </a:rPr>
              <a:t>人工复核、个案随访</a:t>
            </a:r>
          </a:p>
          <a:p xmlns:a="http://schemas.openxmlformats.org/drawingml/2006/main">
            <a:pPr algn="l">
              <a:defRPr sz="1500" b="0">
                <a:solidFill>
                  <a:srgbClr val="183B3A"/>
                </a:solidFill>
              </a:defRPr>
            </a:pPr>
            <a:r>
              <a:rPr sz="1500" b="0">
                <a:solidFill>
                  <a:srgbClr val="183B3A"/>
                </a:solidFill>
              </a:rPr>
              <a:t>对照基线评估改善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DB83A-1C3F-4895-AD80-47943AC6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24574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B5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3C2B7-D86B-4711-9890-3F69F221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第 4–6 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CE91A-EEEC-4D08-BEB9-B35C7D04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嵌入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7348A-D30F-47A1-9869-2F16C6D2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24574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8A44A-F549-4DB0-94E2-52141493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3A"/>
                </a:solidFill>
              </a:defRPr>
            </a:pPr>
            <a:r>
              <a:rPr sz="1500" b="0">
                <a:solidFill>
                  <a:srgbClr val="183B3A"/>
                </a:solidFill>
              </a:rPr>
              <a:t>标准化指南</a:t>
            </a:r>
          </a:p>
          <a:p xmlns:a="http://schemas.openxmlformats.org/drawingml/2006/main">
            <a:pPr algn="l">
              <a:defRPr sz="1500" b="0">
                <a:solidFill>
                  <a:srgbClr val="183B3A"/>
                </a:solidFill>
              </a:defRPr>
            </a:pPr>
            <a:r>
              <a:rPr sz="1500" b="0">
                <a:solidFill>
                  <a:srgbClr val="183B3A"/>
                </a:solidFill>
              </a:rPr>
              <a:t>内部疗愈大使</a:t>
            </a:r>
          </a:p>
          <a:p xmlns:a="http://schemas.openxmlformats.org/drawingml/2006/main">
            <a:pPr algn="l">
              <a:defRPr sz="1500" b="0">
                <a:solidFill>
                  <a:srgbClr val="183B3A"/>
                </a:solidFill>
              </a:defRPr>
            </a:pPr>
            <a:r>
              <a:rPr sz="1500" b="0">
                <a:solidFill>
                  <a:srgbClr val="183B3A"/>
                </a:solidFill>
              </a:rPr>
              <a:t>纳入 EAP / ESG 运营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38D753-6AEE-431D-88BE-C9B7EF73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E5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F7E79-1E05-4566-9986-89F4604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1024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试点交付物：AI 树洞原型 + 情绪资源包 + 2 场疗愈工作坊 + 周报 / 结项评估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EFEFA5-DB3C-4903-960D-3F7D2962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MindBridge AI × 疗愈轨道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7265AF-2CA8-4036-B2C4-A2381D03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875"/>
                </a:solidFill>
              </a:defRPr>
            </a:pPr>
            <a:r>
              <a:rPr sz="1050" b="1">
                <a:solidFill>
                  <a:srgbClr val="60787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00546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D7A27D-51EF-4E4B-A87F-FE260893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8E"/>
                </a:solidFill>
              </a:defRPr>
            </a:pPr>
            <a:r>
              <a:rPr sz="1350" b="1">
                <a:solidFill>
                  <a:srgbClr val="E8B58E"/>
                </a:solidFill>
              </a:rPr>
              <a:t>09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5313AD3-021A-436B-9C14-CB6A4BF4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A"/>
                </a:solidFill>
              </a:defRPr>
            </a:pPr>
            <a:r>
              <a:rPr sz="3300" b="1">
                <a:solidFill>
                  <a:srgbClr val="183B3A"/>
                </a:solidFill>
              </a:rPr>
              <a:t>把疗愈效果变成可验证的组织价值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75427-ED1A-416A-B9EB-F36251F3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875"/>
                </a:solidFill>
              </a:defRPr>
            </a:pPr>
            <a:r>
              <a:rPr sz="1500" b="0">
                <a:solidFill>
                  <a:srgbClr val="607875"/>
                </a:solidFill>
              </a:rPr>
              <a:t>目标值作为试点假设，经基线测量后与企业共同校准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6F8E6-0F7B-4C6B-9A20-E1967780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A979A-A1CE-4417-81E1-DA96851D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4574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D4178-009F-4149-8AE6-2AB64472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83B3A"/>
                </a:solidFill>
              </a:defRPr>
            </a:pPr>
            <a:r>
              <a:rPr sz="2400" b="1">
                <a:solidFill>
                  <a:srgbClr val="183B3A"/>
                </a:solidFill>
              </a:rPr>
              <a:t>≥ 40%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B80CF-1B18-4778-BC9C-32B48DD7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树洞使用率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DC32B-1013-4C6E-9494-A419E1FF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00200"/>
            <a:ext cx="24574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38D30-EDF1-49C4-9D48-1794B68C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83B3A"/>
                </a:solidFill>
              </a:defRPr>
            </a:pPr>
            <a:r>
              <a:rPr sz="2400" b="1">
                <a:solidFill>
                  <a:srgbClr val="183B3A"/>
                </a:solidFill>
              </a:rPr>
              <a:t>≥ 60%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2846A-10B6-46F2-80C2-5335373D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参与者情绪改善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12432-4F0C-42EB-8DA6-EBE203B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24574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D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FD6DF-A18F-4ADA-A859-90704BA5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83B3A"/>
                </a:solidFill>
              </a:defRPr>
            </a:pPr>
            <a:r>
              <a:rPr sz="2400" b="1">
                <a:solidFill>
                  <a:srgbClr val="183B3A"/>
                </a:solidFill>
              </a:rPr>
              <a:t>≥ 5.5 / 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94E1E-179F-4D91-9CD4-488709CA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心理安全评分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B2AD7-600C-44E7-BDC5-0015501D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00200"/>
            <a:ext cx="24574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5E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0CBCC-22D4-497C-9844-2032EBBF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907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83B3A"/>
                </a:solidFill>
              </a:defRPr>
            </a:pPr>
            <a:r>
              <a:rPr sz="2400" b="1">
                <a:solidFill>
                  <a:srgbClr val="183B3A"/>
                </a:solidFill>
              </a:rPr>
              <a:t>≤ 15%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7D2B1-DEBE-42D1-A204-BFB58953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050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875"/>
                </a:solidFill>
              </a:defRPr>
            </a:pPr>
            <a:r>
              <a:rPr sz="1350" b="0">
                <a:solidFill>
                  <a:srgbClr val="607875"/>
                </a:solidFill>
              </a:rPr>
              <a:t>主动离职率目标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A229D-64D5-4CC5-A74C-B53765A9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3A"/>
                </a:solidFill>
              </a:defRPr>
            </a:pPr>
            <a:r>
              <a:rPr sz="2025" b="1">
                <a:solidFill>
                  <a:srgbClr val="183B3A"/>
                </a:solidFill>
              </a:rPr>
              <a:t>四层证据链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6B10F-D197-4BD2-87EA-CF2BE5A2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924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61469-FF6D-45CC-8D13-2E0B3D56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5755"/>
                </a:solidFill>
              </a:defRPr>
            </a:pPr>
            <a:r>
              <a:rPr sz="1500" b="1">
                <a:solidFill>
                  <a:srgbClr val="1E5755"/>
                </a:solidFill>
              </a:rPr>
              <a:t>L0 使用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0114A-5B75-4339-896E-C73F5A1C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后台周报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9A988-5937-4185-A92B-9627B4DA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00450"/>
            <a:ext cx="1924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50370-834F-45BA-B7B3-B0EFAEF2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52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5755"/>
                </a:solidFill>
              </a:defRPr>
            </a:pPr>
            <a:r>
              <a:rPr sz="1500" b="1">
                <a:solidFill>
                  <a:srgbClr val="1E5755"/>
                </a:solidFill>
              </a:rPr>
              <a:t>L1 体验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A9689-B41A-4F83-8ECE-34E5AAEF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33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活动后温度计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36675-C172-433E-BB64-5A6BDB5E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00450"/>
            <a:ext cx="1924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78C31-6242-484B-B7B8-5D43B129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52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5755"/>
                </a:solidFill>
              </a:defRPr>
            </a:pPr>
            <a:r>
              <a:rPr sz="1500" b="1">
                <a:solidFill>
                  <a:srgbClr val="1E5755"/>
                </a:solidFill>
              </a:rPr>
              <a:t>L2 改善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B357FA-B676-456A-8C1E-0484EDC5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33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第 3 / 7 天随访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F8468-17F5-41D3-87E7-E5F93381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00450"/>
            <a:ext cx="1924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AD9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C7259-2C51-4FDF-814E-DF4CD712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5755"/>
                </a:solidFill>
              </a:defRPr>
            </a:pPr>
            <a:r>
              <a:rPr sz="1500" b="1">
                <a:solidFill>
                  <a:srgbClr val="1E5755"/>
                </a:solidFill>
              </a:rPr>
              <a:t>L3 组织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D3167B-4C1E-49F7-9ED7-57F43E9E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75"/>
                </a:solidFill>
              </a:defRPr>
            </a:pPr>
            <a:r>
              <a:rPr sz="1275" b="0">
                <a:solidFill>
                  <a:srgbClr val="607875"/>
                </a:solidFill>
              </a:rPr>
              <a:t>季度 PSI + 留任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013542-1423-41FC-9C2B-B44E0CE5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E5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8BFA01-79D9-465E-A2B4-9951695A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33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ESG / SDGs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E6D229-242B-4902-9485-8D32CB72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10000"/>
            <a:ext cx="1905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SDG 3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健康与福祉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SDG 8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体面工作与经济增长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ESG · S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员工福祉与心理安全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CEBBB1-2875-421A-B9C4-78962EE6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5755"/>
                </a:solidFill>
              </a:defRPr>
            </a:pPr>
            <a:r>
              <a:rPr sz="1350" b="1">
                <a:solidFill>
                  <a:srgbClr val="1E5755"/>
                </a:solidFill>
              </a:rPr>
              <a:t>隐私原则：数据最小化、匿名聚合、权限分级、人工复核、员工可退出。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C37759-B202-4BCA-ACD4-F038A340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875"/>
                </a:solidFill>
              </a:defRPr>
            </a:pPr>
            <a:r>
              <a:rPr sz="1050" b="0">
                <a:solidFill>
                  <a:srgbClr val="607875"/>
                </a:solidFill>
              </a:rPr>
              <a:t>MindBridge AI × 疗愈轨道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32097C-6A9A-4FA9-A56F-C6B927A4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875"/>
                </a:solidFill>
              </a:defRPr>
            </a:pPr>
            <a:r>
              <a:rPr sz="1050" b="1">
                <a:solidFill>
                  <a:srgbClr val="60787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94930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57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3AF69D-93C5-46EC-9B4F-2FA1B792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3524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B5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1B4C0-97EF-4B44-8E94-945EA3D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建议：从 1 个高压部门启动 90 天试点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73BFC-6ABF-4FC5-8417-7BB5456F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85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AI 发现信号，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疗愈创造改变。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20AE8-823D-4EEE-9F85-15FBC8C1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CEBE7"/>
                </a:solidFill>
              </a:defRPr>
            </a:pPr>
            <a:r>
              <a:rPr sz="1950" b="0">
                <a:solidFill>
                  <a:srgbClr val="DCEBE7"/>
                </a:solidFill>
              </a:rPr>
              <a:t>让员工在最需要的时刻被听见，</a:t>
            </a:r>
          </a:p>
          <a:p xmlns:a="http://schemas.openxmlformats.org/drawingml/2006/main">
            <a:pPr algn="l">
              <a:defRPr sz="1950" b="0">
                <a:solidFill>
                  <a:srgbClr val="DCEBE7"/>
                </a:solidFill>
              </a:defRPr>
            </a:pPr>
            <a:r>
              <a:rPr sz="1950" b="0">
                <a:solidFill>
                  <a:srgbClr val="DCEBE7"/>
                </a:solidFill>
              </a:rPr>
              <a:t>让专业支持在正确的边界内抵达。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8C996-F418-432E-A1CC-7439F4A4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66800"/>
            <a:ext cx="4248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A625F"/>
          </a:solidFill>
          <a:ln xmlns:a="http://schemas.openxmlformats.org/drawingml/2006/main" w="9525">
            <a:solidFill>
              <a:srgbClr val="5E8E8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2437F-FB3A-46BE-BBB3-E983BCE9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B58E"/>
                </a:solidFill>
              </a:defRPr>
            </a:pPr>
            <a:r>
              <a:rPr sz="1650" b="1">
                <a:solidFill>
                  <a:srgbClr val="E8B58E"/>
                </a:solidFill>
              </a:rPr>
              <a:t>40% 创新性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D6F09-51F7-4DC9-9F5F-F014567E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573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AI 预警 + 疗愈师陪伴的双轨闭环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69FE5-38C9-42A7-9B8B-27928D93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4248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356F6B"/>
          </a:solidFill>
          <a:ln xmlns:a="http://schemas.openxmlformats.org/drawingml/2006/main" w="9525">
            <a:solidFill>
              <a:srgbClr val="5E8E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54305-7B8E-4527-B529-ADF15AE9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41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B58E"/>
                </a:solidFill>
              </a:defRPr>
            </a:pPr>
            <a:r>
              <a:rPr sz="1650" b="1">
                <a:solidFill>
                  <a:srgbClr val="E8B58E"/>
                </a:solidFill>
              </a:rPr>
              <a:t>30% 专业逻辑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BB6F3-E49E-4326-A47E-81B2A6D6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242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人工复核、分级介入、四层评估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ED297-9648-41EB-AD0B-6BB49D4F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4248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A625F"/>
          </a:solidFill>
          <a:ln xmlns:a="http://schemas.openxmlformats.org/drawingml/2006/main" w="9525">
            <a:solidFill>
              <a:srgbClr val="5E8E8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C4249-99FB-42DF-85C0-05F2B336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910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B58E"/>
                </a:solidFill>
              </a:defRPr>
            </a:pPr>
            <a:r>
              <a:rPr sz="1650" b="1">
                <a:solidFill>
                  <a:srgbClr val="E8B58E"/>
                </a:solidFill>
              </a:rPr>
              <a:t>30% ESG 契合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A56D6-2971-4A8E-8F2D-FC07DE7A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910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员工福祉、心理安全、可持续留任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47230-C478-4C4A-85A4-613A4989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5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B22DF-BC00-4456-90F0-9E319EBF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MindBridge AI + 疗愈轨道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D4069-9AD5-4E20-BAF2-E676C83D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CD8"/>
                </a:solidFill>
              </a:defRPr>
            </a:pPr>
            <a:r>
              <a:rPr sz="1275" b="0">
                <a:solidFill>
                  <a:srgbClr val="C7DCD8"/>
                </a:solidFill>
              </a:rPr>
              <a:t>数字疗愈 · AI 辅助员工支持系统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6F04F-CC55-4194-8597-B8CB3B69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7DCD8"/>
                </a:solidFill>
              </a:defRPr>
            </a:pPr>
            <a:r>
              <a:rPr sz="1050" b="1">
                <a:solidFill>
                  <a:srgbClr val="C7DCD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4750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2026-07-14T15:08:21.6980000Z</dcterms:created>
  <dcterms:modified xsi:type="dcterms:W3CDTF">2026-07-14T15:08:21.6980000Z</dcterms:modified>
</coreProperties>
</file>