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4754880" cy="475488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4023360" cy="402336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474720" cy="347472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60120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6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疗愈轨道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E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负责广度 · 疗愈轨道负责深度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6766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预警与推荐 + 疗愈师深度陪伴 —— 让疗愈服务在关键时刻可及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国际疗愈师赛题 × AI 应用创新赛道  融合方案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负责广度，疗愈轨道负责深度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员工要么不敢求助，要么求助后只得到「治标不治本」的话术。我们创造性提出「AI 预警与推荐 + 疗愈师深度陪伴」双轨模型。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7BA05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697480"/>
            <a:ext cx="5212080" cy="320040"/>
          </a:xfrm>
          <a:prstGeom prst="rect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AI树洞情绪识别、预警、个性化推荐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对齐：数字疗愈与 AI 辅助支持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19456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2697480"/>
            <a:ext cx="5212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06840" y="2194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对齐：疗愈师主体性与专业胜任力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15000" y="3246120"/>
            <a:ext cx="777240" cy="777240"/>
          </a:xfrm>
          <a:prstGeom prst="ellipse">
            <a:avLst/>
          </a:prstGeom>
          <a:solidFill>
            <a:srgbClr val="E1943B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3246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54681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不做诊断，只做「读数」和「吹哨」；真正的疗愈由疗愈师完成。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市场靶向 × 应用场景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六大高内耗行业靶向 + 七大应用场景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53492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11548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25265" y="2011680"/>
            <a:ext cx="23505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68419" y="2011680"/>
            <a:ext cx="9660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互联网/IT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25265" y="251460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 视「线上秒回」为第二负担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68419" y="251460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306324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金融/银行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25265" y="306324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 业绩压力居全行业首位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68419" y="306324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" y="361188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医护/护理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25265" y="361188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护理人员抑郁率达 11%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68419" y="361188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16052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25265" y="416052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部分教师抑郁检出率 ＞30%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68419" y="416052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7824" y="470916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客服/服务业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25265" y="470916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餐饮女性服务员抑郁率 15%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68419" y="470916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" y="5257800"/>
            <a:ext cx="534924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5257800"/>
            <a:ext cx="115483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制造/汽车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25265" y="5257800"/>
            <a:ext cx="2350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新车上市月均加班 140h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68419" y="5257800"/>
            <a:ext cx="9660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5508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七大应用场景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2011680"/>
            <a:ext cx="5120640" cy="3767328"/>
          </a:xfrm>
          <a:prstGeom prst="roundRect">
            <a:avLst>
              <a:gd name="adj" fmla="val 291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201168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2386584"/>
            <a:ext cx="51206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2011680"/>
            <a:ext cx="1328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22920" y="201168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72472" y="201168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501384" y="2514600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通用预防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22920" y="2514600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24h倾诉+推资源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2472" y="2514600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心理教育+工具包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2980944"/>
            <a:ext cx="512064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501384" y="2980944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22920" y="2980944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识别被替代焦虑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72472" y="2980944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正念+叙事小组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01384" y="3447288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22920" y="3447288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监测业绩高压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872472" y="3447288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积极心理+跨团队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3913632"/>
            <a:ext cx="512064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0" name="Text 48"/>
          <p:cNvSpPr/>
          <p:nvPr/>
        </p:nvSpPr>
        <p:spPr>
          <a:xfrm>
            <a:off x="6501384" y="3913632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22920" y="3913632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情绪耗竭识别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872472" y="3913632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巴林特+困境盲盒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01384" y="4379976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22920" y="4379976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追踪耗竭焦虑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872472" y="4379976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奥尔夫+ABC理论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55080" y="4846320"/>
            <a:ext cx="5120640" cy="46634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7" name="Text 55"/>
          <p:cNvSpPr/>
          <p:nvPr/>
        </p:nvSpPr>
        <p:spPr>
          <a:xfrm>
            <a:off x="6501384" y="4846320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122920" y="4846320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识别崩溃风险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872472" y="4846320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插花+芳香疗愈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01384" y="5312664"/>
            <a:ext cx="132892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122920" y="5312664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社交隔离+疲劳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872472" y="5312664"/>
            <a:ext cx="14569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沙盘+拳击+驿站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1520" y="626364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A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市场支撑：2025 年南网数字集团、海南电网、长江电力等已公开采购员工心理关爱服务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通用版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按情绪类型快速匹配疗愈活动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44200" cy="4069080"/>
          </a:xfrm>
          <a:prstGeom prst="roundRect">
            <a:avLst>
              <a:gd name="adj" fmla="val 269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5798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83080"/>
            <a:ext cx="193033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情绪类型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0762" y="1783080"/>
            <a:ext cx="359753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0903" y="1783080"/>
            <a:ext cx="28565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推荐活动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40065" y="1783080"/>
            <a:ext cx="118935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28600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焦虑紧张型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0762" y="228600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赶工恐慌、心跳加速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0903" y="228600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正念呼吸工作坊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40065" y="228600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10744200" cy="5943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288036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耗竭疲惫型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0762" y="288036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身心俱疲、情绪麻木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0903" y="288036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能量唤醒工作坊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140065" y="288036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" y="347472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情绪劳动型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0762" y="347472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强撑笑脸、情感透支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0903" y="347472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艺术疗愈工作坊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140065" y="347472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10744200" cy="5943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406908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孤独无意义型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0762" y="406908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价值感丧失、存在性焦虑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0903" y="406908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叙事疗愈深度小组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140065" y="406908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2h×4次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" y="466344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躯体紧张型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00762" y="466344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肩颈僵硬、压抑愤怒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0903" y="466344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身体觉知与释放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40065" y="466344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" y="5257800"/>
            <a:ext cx="10744200" cy="59436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5257800"/>
            <a:ext cx="19303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 / 预防型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100762" y="5257800"/>
            <a:ext cx="359753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团队凝聚力下降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0903" y="5257800"/>
            <a:ext cx="285655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心理嘉年华游园会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140065" y="5257800"/>
            <a:ext cx="118935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" y="5760720"/>
            <a:ext cx="10744200" cy="6858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760720"/>
            <a:ext cx="10378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核心亮点：每个活动均标注理论依据（MBSR、表达性艺术治疗、叙事疗愈、躯体疗法等）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行业版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六大行业精准痛点对标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44200" cy="4453128"/>
          </a:xfrm>
          <a:prstGeom prst="roundRect">
            <a:avLst>
              <a:gd name="adj" fmla="val 2464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5798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83080"/>
            <a:ext cx="16448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15303" y="1783080"/>
            <a:ext cx="27016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最核心痛点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9588" y="1783080"/>
            <a:ext cx="28778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首选活动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80008" y="1783080"/>
            <a:ext cx="2349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关键环节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286000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15303" y="2286000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「怕被替代、怕赶不上」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09588" y="2286000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80008" y="2286000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可控与不可控拆解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2944368"/>
            <a:ext cx="107442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2944368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15303" y="2944368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「业绩压得喘不过气」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9588" y="2944368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积极心理与管理提升培训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80008" y="2944368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情绪暂停法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7824" y="3602736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15303" y="3602736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「面对痛苦掏空了自己」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09588" y="3602736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80008" y="3602736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不评判、不打断、不指导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4261104"/>
            <a:ext cx="107442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4261104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815303" y="4261104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「多重角色耗竭」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09588" y="4261104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80008" y="4261104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简易乐器合奏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77824" y="4919472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15303" y="4919472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「强撑笑脸耗尽了我」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09588" y="4919472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心流插花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80008" y="4919472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花材选择 + 创作命名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1520" y="5577840"/>
            <a:ext cx="107442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" y="5577840"/>
            <a:ext cx="16448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815303" y="5577840"/>
            <a:ext cx="270167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「孤独扛着双重压力」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809588" y="5577840"/>
            <a:ext cx="28778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沙盘疗愈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980008" y="5577840"/>
            <a:ext cx="2349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团队沙盘共创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· 方式一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AI 树洞为核心的轻量级识别方式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794760" cy="4480560"/>
          </a:xfrm>
          <a:prstGeom prst="roundRect">
            <a:avLst>
              <a:gd name="adj" fmla="val 289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548640" cy="548640"/>
          </a:xfrm>
          <a:prstGeom prst="ellipse">
            <a:avLst/>
          </a:prstGeom>
          <a:solidFill>
            <a:srgbClr val="AEC7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树洞是什么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小时在线匿名倾诉平台。扫码即入，无需登录、不记录身份、不留痕迹。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3794760"/>
            <a:ext cx="3246120" cy="960120"/>
          </a:xfrm>
          <a:prstGeom prst="roundRect">
            <a:avLst>
              <a:gd name="adj" fmla="val 11429"/>
            </a:avLst>
          </a:prstGeom>
          <a:solidFill>
            <a:srgbClr val="ED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913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郑州高新区总工会智慧平台，接入 AI 大模型，累计响应超 1300 次。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核心设计原则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51937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5193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不存储任何可识别身份信息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55595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5559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对话不保存原文，仅提取情绪标签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5840" y="592531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5925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员工可随时清空历史记录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783080"/>
            <a:ext cx="6675120" cy="3355848"/>
          </a:xfrm>
          <a:prstGeom prst="roundRect">
            <a:avLst>
              <a:gd name="adj" fmla="val 327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783080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2157984"/>
            <a:ext cx="667512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946904" y="1783080"/>
            <a:ext cx="1112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2192" y="1783080"/>
            <a:ext cx="21666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技术组件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11447" y="1783080"/>
            <a:ext cx="25179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46904" y="2286000"/>
            <a:ext cx="1112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52192" y="2286000"/>
            <a:ext cx="216664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 / H5 页面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811447" y="2286000"/>
            <a:ext cx="251796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扫码即入，无需登录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00600" y="2999232"/>
            <a:ext cx="6675120" cy="7132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4946904" y="2999232"/>
            <a:ext cx="1112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对话引擎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2192" y="2999232"/>
            <a:ext cx="216664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通义千问等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811447" y="2999232"/>
            <a:ext cx="251796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共情式对话能力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46904" y="3712464"/>
            <a:ext cx="1112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52192" y="3712464"/>
            <a:ext cx="216664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轻量级关键词匹配库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811447" y="3712464"/>
            <a:ext cx="251796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识别情绪信号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00600" y="4425696"/>
            <a:ext cx="6675120" cy="713232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6" name="Text 34"/>
          <p:cNvSpPr/>
          <p:nvPr/>
        </p:nvSpPr>
        <p:spPr>
          <a:xfrm>
            <a:off x="4946904" y="4425696"/>
            <a:ext cx="1112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352192" y="4425696"/>
            <a:ext cx="216664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匿名化存储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811447" y="4425696"/>
            <a:ext cx="251796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仅存储情绪标签统计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00600" y="489204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7492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 = 快落地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74920" y="54406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无需硬件、无需重系统改造，SaaS / 小程序形态 1–2 周即可上线，部署成本低、员工接受度高。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· 方式二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在树洞中做什么 + 三级预警机制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的三大能力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744200" cy="2039112"/>
          </a:xfrm>
          <a:prstGeom prst="roundRect">
            <a:avLst>
              <a:gd name="adj" fmla="val 5381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8658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011680"/>
            <a:ext cx="29306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的能力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01084" y="2011680"/>
            <a:ext cx="72283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具体内容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514600"/>
            <a:ext cx="29306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倾听与共情回应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01084" y="2514600"/>
            <a:ext cx="72283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承接员工情绪，让倾诉本身成为疗愈的第一步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026664"/>
            <a:ext cx="10744200" cy="51206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026664"/>
            <a:ext cx="29306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关键词识别与预警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01084" y="3026664"/>
            <a:ext cx="72283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扫描倾诉内容中的情绪关键词，判定预警等级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7824" y="3538728"/>
            <a:ext cx="29306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资源自动推送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01084" y="3538728"/>
            <a:ext cx="72283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根据预警等级，自动推送匹配的疗愈资源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三级预警机制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10744200" cy="2148840"/>
          </a:xfrm>
          <a:prstGeom prst="roundRect">
            <a:avLst>
              <a:gd name="adj" fmla="val 5106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16052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535424"/>
            <a:ext cx="107442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160520"/>
            <a:ext cx="9219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092386" y="4160520"/>
            <a:ext cx="24167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关键词示例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1793" y="4160520"/>
            <a:ext cx="33510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自动触发动作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45478" y="4160520"/>
            <a:ext cx="2883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人工介入节点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7824" y="4663440"/>
            <a:ext cx="9219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092386" y="4663440"/>
            <a:ext cx="24167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「好累」「压力大」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1793" y="4663440"/>
            <a:ext cx="33510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推送正念音频 / 呼吸练习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45478" y="4663440"/>
            <a:ext cx="2883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无需人工介入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5212080"/>
            <a:ext cx="1074420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" y="5212080"/>
            <a:ext cx="9219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092386" y="5212080"/>
            <a:ext cx="24167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1793" y="5212080"/>
            <a:ext cx="33510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推送资源 + 提醒 HRBP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45478" y="5212080"/>
            <a:ext cx="2883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 查看近期整体状态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7824" y="5760720"/>
            <a:ext cx="9219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092386" y="5760720"/>
            <a:ext cx="24167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极端词汇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01793" y="5760720"/>
            <a:ext cx="335107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转接咨询师 + 通知 EAP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45478" y="5760720"/>
            <a:ext cx="2883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EAP 专员 2h 内电话确认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31520" y="6309360"/>
            <a:ext cx="10744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关键设计：「AI 预警 + 人工复核」闭环 —— AI 不自动定性任何员工，确认后再决定是否介入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把情绪信号翻译成可执行的疗愈方案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92808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信号识别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167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情绪标签+等级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0" y="169164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1892808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93792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方案匹配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93792" y="2167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个性化清单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62672" y="169164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10144" y="169164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8744" y="1892808"/>
            <a:ext cx="457200" cy="457200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744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33104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触达执行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33104" y="2167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完整闭环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2788920"/>
            <a:ext cx="5349240" cy="2313432"/>
          </a:xfrm>
          <a:prstGeom prst="roundRect">
            <a:avLst>
              <a:gd name="adj" fmla="val 47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788920"/>
            <a:ext cx="53492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163824"/>
            <a:ext cx="53492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" y="2788920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04288" y="2788920"/>
            <a:ext cx="3630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绿→黄→红 分层推荐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" y="3291840"/>
            <a:ext cx="1133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04288" y="3291840"/>
            <a:ext cx="3630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呼吸着陆 / 正念工作坊 / 一对一疏导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3895344"/>
            <a:ext cx="534924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3895344"/>
            <a:ext cx="1133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304288" y="3895344"/>
            <a:ext cx="3630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身体扫描 / 能量唤醒 / 一对一修复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7824" y="4498848"/>
            <a:ext cx="1133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低落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304288" y="4498848"/>
            <a:ext cx="36301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三件好事 / 叙事小组 / 意义重构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55080" y="2788920"/>
            <a:ext cx="5120640" cy="2313432"/>
          </a:xfrm>
          <a:prstGeom prst="roundRect">
            <a:avLst>
              <a:gd name="adj" fmla="val 47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278892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3163824"/>
            <a:ext cx="512064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501384" y="2788920"/>
            <a:ext cx="100665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00651" y="2788920"/>
            <a:ext cx="12359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9200" y="2788920"/>
            <a:ext cx="2000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推荐策略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01384" y="3291840"/>
            <a:ext cx="100665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员工画像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00651" y="3291840"/>
            <a:ext cx="123594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岗位/部门/职级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29200" y="3291840"/>
            <a:ext cx="20002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程序员推线上；工人推线下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895344"/>
            <a:ext cx="5120640" cy="603504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501384" y="3895344"/>
            <a:ext cx="100665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情绪轨迹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00651" y="3895344"/>
            <a:ext cx="123594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近30天标签变化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329200" y="3895344"/>
            <a:ext cx="20002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持续疲惫→能量；突发→正念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01384" y="4498848"/>
            <a:ext cx="100665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参与历史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800651" y="4498848"/>
            <a:ext cx="123594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过往活动反馈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329200" y="4498848"/>
            <a:ext cx="20002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正念好评→进阶叙事疗愈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1520" y="525780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个性化推荐逻辑：三维度动态调整，让每一次推送都「因人而异」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31520" y="5806440"/>
            <a:ext cx="10744200" cy="658368"/>
          </a:xfrm>
          <a:prstGeom prst="roundRect">
            <a:avLst>
              <a:gd name="adj" fmla="val 16667"/>
            </a:avLst>
          </a:prstGeom>
          <a:solidFill>
            <a:srgbClr val="356B36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5806440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信号识别 → 方案匹配 → 触达执行：AI 推荐引擎是连接「识别」与「疗愈行动」的翻译器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预期效果与评估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效果可衡量、可验证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预期效果总览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257800" cy="3136392"/>
          </a:xfrm>
          <a:prstGeom prst="roundRect">
            <a:avLst>
              <a:gd name="adj" fmla="val 3499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0312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78024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103120"/>
            <a:ext cx="116437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4805" y="2103120"/>
            <a:ext cx="13544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81826" y="2103120"/>
            <a:ext cx="7842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58725" y="2103120"/>
            <a:ext cx="78429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2606040"/>
            <a:ext cx="116437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4805" y="2606040"/>
            <a:ext cx="135441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PSI得分(7分)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81826" y="2606040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3.2–3.8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58725" y="2606040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5.5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264408"/>
            <a:ext cx="52578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3264408"/>
            <a:ext cx="116437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留任意向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34805" y="3264408"/>
            <a:ext cx="135441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主动离职率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81826" y="3264408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58725" y="3264408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15%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24" y="3922776"/>
            <a:ext cx="116437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疗愈覆盖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34805" y="3922776"/>
            <a:ext cx="135441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AI树洞使用率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81826" y="3922776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58725" y="3922776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581144"/>
            <a:ext cx="5257800" cy="658368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4581144"/>
            <a:ext cx="1164373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疗愈效果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34805" y="4581144"/>
            <a:ext cx="135441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情绪改善比例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81826" y="4581144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58725" y="4581144"/>
            <a:ext cx="78429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60%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四层评估体系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210312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210312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2478024"/>
            <a:ext cx="5257800" cy="12801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2103120"/>
            <a:ext cx="38146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38301" y="2103120"/>
            <a:ext cx="1459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评估内容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90901" y="2103120"/>
            <a:ext cx="119036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73870" y="2103120"/>
            <a:ext cx="10555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64224" y="260604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38301" y="260604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790901" y="260604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273870" y="260604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实时/周度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3154680"/>
            <a:ext cx="525780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43" name="Text 41"/>
          <p:cNvSpPr/>
          <p:nvPr/>
        </p:nvSpPr>
        <p:spPr>
          <a:xfrm>
            <a:off x="6364224" y="315468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038301" y="315468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790901" y="315468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情绪温度计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273870" y="315468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每场活动后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64224" y="370332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038301" y="370332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790901" y="370332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简讯随访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273870" y="370332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第3/7天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17920" y="4251960"/>
            <a:ext cx="5257800" cy="548640"/>
          </a:xfrm>
          <a:prstGeom prst="rect">
            <a:avLst/>
          </a:prstGeom>
          <a:solidFill>
            <a:srgbClr val="EDF1E6"/>
          </a:solidFill>
          <a:ln/>
        </p:spPr>
      </p:sp>
      <p:sp>
        <p:nvSpPr>
          <p:cNvPr id="52" name="Text 50"/>
          <p:cNvSpPr/>
          <p:nvPr/>
        </p:nvSpPr>
        <p:spPr>
          <a:xfrm>
            <a:off x="6364224" y="425196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038301" y="425196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中期效果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790901" y="425196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PSI问卷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0273870" y="425196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月度/季度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364224" y="4800600"/>
            <a:ext cx="381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038301" y="4800600"/>
            <a:ext cx="1459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长期影响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790901" y="4800600"/>
            <a:ext cx="119036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离职率+绩效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0273870" y="4800600"/>
            <a:ext cx="10555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半年/年度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572000" cy="4572000"/>
          </a:xfrm>
          <a:prstGeom prst="ellipse">
            <a:avLst/>
          </a:prstGeom>
          <a:solidFill>
            <a:srgbClr val="244C2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356B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3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286000"/>
            <a:ext cx="146304" cy="146304"/>
          </a:xfrm>
          <a:prstGeom prst="ellipse">
            <a:avLst/>
          </a:prstGeom>
          <a:solidFill>
            <a:srgbClr val="7BA05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评委的价值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AI树洞 + 轻量级推荐引擎，非实验室设想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401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隐私与伦理设计严谨（匿名化、人工复核、可退出）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968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A0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44752" y="39684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定位清晰：不做诊断，只做「吹哨」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5400000">
              <a:srgbClr val="6E6A6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286000"/>
            <a:ext cx="146304" cy="146304"/>
          </a:xfrm>
          <a:prstGeom prst="ellipse">
            <a:avLst/>
          </a:prstGeom>
          <a:solidFill>
            <a:srgbClr val="E194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2148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对疗愈评委的价值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76872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工作坊有清晰疗愈理论基础（巴林特、奥尔夫、叙事、MBSR）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401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76872" y="3401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疗愈师角色被充分定义，AI 不替代疗愈师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968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76872" y="396849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六大行业差异化活动设计，非模板化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4535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194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76872" y="4535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IAOTH 认证与伦理对齐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623560"/>
            <a:ext cx="10744200" cy="822960"/>
          </a:xfrm>
          <a:prstGeom prst="roundRect">
            <a:avLst>
              <a:gd name="adj" fmla="val 13333"/>
            </a:avLst>
          </a:prstGeom>
          <a:solidFill>
            <a:srgbClr val="356B3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62356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2026-07-14T14:23:07Z</dcterms:created>
  <dcterms:modified xsi:type="dcterms:W3CDTF">2026-07-14T14:23:07Z</dcterms:modified>
</cp:coreProperties>
</file>