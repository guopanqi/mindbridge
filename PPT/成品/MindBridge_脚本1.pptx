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4023360" cy="40233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601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预警与推荐 + 疗愈师深度陪伴 —— 让疗愈服务在关键时刻可及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× AI 应用创新赛道  融合方案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负责广度，疗愈轨道负责深度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员工要么不敢求助，要么求助后只得到「治标不治本」的话术。我们创造性提出「AI 预警与推荐 + 疗愈师深度陪伴」双轨模型。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7BA05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AI树洞情绪识别、预警、个性化推荐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对齐：数字疗愈与 AI 辅助支持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5212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0684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对齐：疗愈师主体性与专业胜任力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68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哪些行业最急需？—— 六大高内耗行业分析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44200" cy="4123944"/>
          </a:xfrm>
          <a:prstGeom prst="roundRect">
            <a:avLst>
              <a:gd name="adj" fmla="val 266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5798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83080"/>
            <a:ext cx="20515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22013" y="1783080"/>
            <a:ext cx="57632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77835" y="1783080"/>
            <a:ext cx="205158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采购优先级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286000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22013" y="2286000"/>
            <a:ext cx="576321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将「线上秒回」列为第二大负担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77835" y="2286000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889504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89504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2013" y="2889504"/>
            <a:ext cx="576321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业绩压力为主要负担（全行业第一）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77835" y="2889504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" y="3493008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22013" y="3493008"/>
            <a:ext cx="576321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77835" y="3493008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096512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096512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22013" y="4096512"/>
            <a:ext cx="576321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＞30%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7835" y="4096512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" y="4700016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22013" y="4700016"/>
            <a:ext cx="576321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餐饮服务员女性抑郁率 15%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77835" y="4700016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" y="5303520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303520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22013" y="5303520"/>
            <a:ext cx="576321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 小时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77835" y="5303520"/>
            <a:ext cx="205158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1520" y="5806440"/>
            <a:ext cx="10744200" cy="658368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806440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市场支撑：2025 年南网数字集团、海南电网、长江电力等多家大型企业已公开采购员工心理关爱服务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精准定义 AI 与疗愈的协同时刻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44200" cy="4727448"/>
          </a:xfrm>
          <a:prstGeom prst="roundRect">
            <a:avLst>
              <a:gd name="adj" fmla="val 232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1226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37360"/>
            <a:ext cx="1819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89932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轨道的角色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05978" y="1737360"/>
            <a:ext cx="40234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疗愈轨道的角色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24028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89932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AI树洞24h倾诉 + 自动推送资源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05978" y="224028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全员心理健康教育 + 自助工具包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843784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84378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89932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识别焦虑、「被替代」关键词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05978" y="284378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正念工作坊 + 叙事疗愈小组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3447288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89932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监测业绩高压倾诉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05978" y="3447288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积极心理培训 + 跨团队疗愈小组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050792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050792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89932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持续倾听 + 情绪耗竭信号识别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5978" y="4050792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+ 困境盲盒工作坊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" y="4654296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89932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追踪情绪耗竭 + 沟通焦虑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05978" y="4654296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ABC理论工作坊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1074420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5257800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89932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识别情绪崩溃风险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05978" y="5257800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 + 正念冥想 + 芳香疗愈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7824" y="5861304"/>
            <a:ext cx="18195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89932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识别社交隔离 + 疲劳分析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05978" y="5861304"/>
            <a:ext cx="402343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 + 拳击课 + 心灵驿站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通用版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按情绪类型快速匹配疗愈活动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44200" cy="4069080"/>
          </a:xfrm>
          <a:prstGeom prst="roundRect">
            <a:avLst>
              <a:gd name="adj" fmla="val 269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5798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83080"/>
            <a:ext cx="193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0762" y="1783080"/>
            <a:ext cx="35975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0903" y="1783080"/>
            <a:ext cx="2856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40065" y="1783080"/>
            <a:ext cx="11893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28600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0762" y="228600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赶工恐慌、心跳加速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0903" y="228600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40065" y="228600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10744200" cy="5943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288036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0762" y="288036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身心俱疲、情绪麻木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0903" y="288036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40065" y="288036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347472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0762" y="347472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强撑笑脸、情感透支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0903" y="347472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40065" y="347472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10744200" cy="5943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406908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0762" y="406908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价值感丧失、存在性焦虑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0903" y="406908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40065" y="406908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2h×4次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466344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00762" y="466344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肩颈僵硬、压抑愤怒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0903" y="466344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0065" y="466344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5257800"/>
            <a:ext cx="10744200" cy="5943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525780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100762" y="525780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团队凝聚力下降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0903" y="525780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40065" y="525780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5760720"/>
            <a:ext cx="10744200" cy="6858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760720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核心亮点：每个活动均标注理论依据（MBSR、表达性艺术治疗、叙事疗愈、躯体疗法等）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行业版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六大行业精准痛点对标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44200" cy="4453128"/>
          </a:xfrm>
          <a:prstGeom prst="roundRect">
            <a:avLst>
              <a:gd name="adj" fmla="val 246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5798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83080"/>
            <a:ext cx="16448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15303" y="1783080"/>
            <a:ext cx="27016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最核心痛点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9588" y="1783080"/>
            <a:ext cx="2877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80008" y="1783080"/>
            <a:ext cx="2349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286000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15303" y="2286000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「怕被替代、怕赶不上」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9588" y="2286000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80008" y="2286000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可控与不可控拆解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2944368"/>
            <a:ext cx="107442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2944368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15303" y="2944368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「业绩压得喘不过气」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9588" y="2944368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积极心理与管理提升培训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80008" y="2944368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7824" y="3602736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15303" y="3602736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「面对痛苦掏空了自己」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09588" y="3602736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80008" y="3602736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不评判、不打断、不指导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4261104"/>
            <a:ext cx="107442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4261104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815303" y="4261104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「多重角色耗竭」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09588" y="4261104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80008" y="4261104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7824" y="4919472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15303" y="4919472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「强撑笑脸耗尽了我」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09588" y="4919472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80008" y="4919472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1520" y="5577840"/>
            <a:ext cx="107442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5577840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15303" y="5577840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「孤独扛着双重压力」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809588" y="5577840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980008" y="5577840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AI 树洞为核心的轻量级识别方式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树洞是什么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小时在线匿名倾诉平台。员工通过企业微信 / 钉钉 / 小程序进入，完全匿名。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88620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ED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3159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郑州高新区总工会 AI 树洞，上线后累计响应超 1300 次。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关键设计：「AI 预警 + 人工复核」闭环机制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783080"/>
            <a:ext cx="6675120" cy="2148840"/>
          </a:xfrm>
          <a:prstGeom prst="roundRect">
            <a:avLst>
              <a:gd name="adj" fmla="val 510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78308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215798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946904" y="1783080"/>
            <a:ext cx="25681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07670" y="1783080"/>
            <a:ext cx="3521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具体内容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46904" y="2286000"/>
            <a:ext cx="2568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倾听与共情回应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07670" y="2286000"/>
            <a:ext cx="35217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承接员工情绪，让倾诉本身成为疗愈第一步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667512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2834640"/>
            <a:ext cx="2568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关键词识别与预警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07670" y="2834640"/>
            <a:ext cx="35217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扫描情绪关键词，判定绿/黄/红预警等级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46904" y="3383280"/>
            <a:ext cx="2568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资源自动推送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07670" y="3383280"/>
            <a:ext cx="35217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根据预警等级推送匹配的疗愈资源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00600" y="3977640"/>
            <a:ext cx="6675120" cy="2203704"/>
          </a:xfrm>
          <a:prstGeom prst="roundRect">
            <a:avLst>
              <a:gd name="adj" fmla="val 4979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97764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435254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4946904" y="3977640"/>
            <a:ext cx="93701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6531" y="3977640"/>
            <a:ext cx="2430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99278" y="3977640"/>
            <a:ext cx="24301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触发动作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46904" y="4480560"/>
            <a:ext cx="9370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76531" y="4480560"/>
            <a:ext cx="24301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99278" y="4480560"/>
            <a:ext cx="24301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自动推送正念音频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00600" y="5047488"/>
            <a:ext cx="6675120" cy="56692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946904" y="5047488"/>
            <a:ext cx="9370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176531" y="5047488"/>
            <a:ext cx="24301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899278" y="5047488"/>
            <a:ext cx="24301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 HRBP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46904" y="5614416"/>
            <a:ext cx="9370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76531" y="5614416"/>
            <a:ext cx="24301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899278" y="5614416"/>
            <a:ext cx="24301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立即转接专业咨询师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AI树洞捕捉情绪信号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 + 预警等级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50792" y="1783080"/>
            <a:ext cx="411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70832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057400"/>
            <a:ext cx="548640" cy="54864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0952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方案匹配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5152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按标签、画像、行业匹配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45152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个性化推荐清单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90104" y="1783080"/>
            <a:ext cx="411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010144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2057400"/>
            <a:ext cx="548640" cy="54864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70264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触达执行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84464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IM自动推送 + 人工复核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84464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完整闭环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活动映射示例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10744200" cy="2203704"/>
          </a:xfrm>
          <a:prstGeom prst="roundRect">
            <a:avLst>
              <a:gd name="adj" fmla="val 4979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023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39826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4023360"/>
            <a:ext cx="13190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89454" y="4023360"/>
            <a:ext cx="26620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绿色推送（自助）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4109" y="4023360"/>
            <a:ext cx="26620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黄色推荐（团体）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98764" y="4023360"/>
            <a:ext cx="29306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红色介入（一对一）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" y="4526280"/>
            <a:ext cx="131902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489454" y="4526280"/>
            <a:ext cx="26620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三分钟呼吸着陆法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44109" y="4526280"/>
            <a:ext cx="26620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98764" y="4526280"/>
            <a:ext cx="29306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疗愈师一对一焦虑疏导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31520" y="5093208"/>
            <a:ext cx="10744200" cy="56692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7" name="Text 35"/>
          <p:cNvSpPr/>
          <p:nvPr/>
        </p:nvSpPr>
        <p:spPr>
          <a:xfrm>
            <a:off x="877824" y="5093208"/>
            <a:ext cx="131902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489454" y="5093208"/>
            <a:ext cx="26620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工间身体扫描音频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44109" y="5093208"/>
            <a:ext cx="26620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398764" y="5093208"/>
            <a:ext cx="29306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疗愈师一对一能量修复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77824" y="5660136"/>
            <a:ext cx="131902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低落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2489454" y="5660136"/>
            <a:ext cx="26620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每日三件好事打卡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44109" y="5660136"/>
            <a:ext cx="266204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398764" y="5660136"/>
            <a:ext cx="29306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疗愈师一对一意义重构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预期效果与评估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效果可衡量、可验证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257800" cy="3136392"/>
          </a:xfrm>
          <a:prstGeom prst="roundRect">
            <a:avLst>
              <a:gd name="adj" fmla="val 3499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7802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103120"/>
            <a:ext cx="116437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4805" y="2103120"/>
            <a:ext cx="13544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81826" y="2103120"/>
            <a:ext cx="78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8725" y="2103120"/>
            <a:ext cx="78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606040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4805" y="2606040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PSI得分(7分)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81826" y="2606040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3.2–3.8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58725" y="2606040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5.5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264408"/>
            <a:ext cx="52578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3264408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4805" y="3264408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81826" y="3264408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58725" y="3264408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15%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" y="3922776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4805" y="3922776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AI树洞使用率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81826" y="3922776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58725" y="3922776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581144"/>
            <a:ext cx="52578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581144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34805" y="4581144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81826" y="4581144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58725" y="4581144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四层评估体系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210312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10312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247802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2103120"/>
            <a:ext cx="3814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38301" y="2103120"/>
            <a:ext cx="145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评估内容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90901" y="2103120"/>
            <a:ext cx="119036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73870" y="2103120"/>
            <a:ext cx="10555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64224" y="260604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38301" y="260604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790901" y="260604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273870" y="260604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实时/周度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3154680"/>
            <a:ext cx="525780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315468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38301" y="315468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790901" y="315468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273870" y="315468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每场活动后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64224" y="370332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038301" y="370332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790901" y="370332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273870" y="370332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第3/7天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17920" y="4251960"/>
            <a:ext cx="525780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2" name="Text 50"/>
          <p:cNvSpPr/>
          <p:nvPr/>
        </p:nvSpPr>
        <p:spPr>
          <a:xfrm>
            <a:off x="6364224" y="425196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038301" y="425196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790901" y="425196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PSI问卷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0273870" y="425196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月度/季度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364224" y="480060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038301" y="480060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790901" y="480060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离职率+绩效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273870" y="480060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半年/年度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发现信号，疗愈创造改变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28600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评委的价值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 + 轻量级推荐引擎，非实验室设想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隐私与伦理设计严谨（匿名化、人工复核、可退出）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4475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定位清晰：不做诊断，只做「吹哨」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28600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对疗愈评委的价值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687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工作坊有清晰疗愈理论基础（巴林特、奥尔夫、叙事、MBSR）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7687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疗愈师角色被充分定义，AI 不替代疗愈师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六大行业差异化活动设计，非模板化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535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76872" y="4535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IAOTH 认证与伦理对齐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623560"/>
            <a:ext cx="10744200" cy="822960"/>
          </a:xfrm>
          <a:prstGeom prst="roundRect">
            <a:avLst>
              <a:gd name="adj" fmla="val 13333"/>
            </a:avLst>
          </a:prstGeom>
          <a:solidFill>
            <a:srgbClr val="356B3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2356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2026-07-14T14:23:07Z</dcterms:created>
  <dcterms:modified xsi:type="dcterms:W3CDTF">2026-07-14T14:23:07Z</dcterms:modified>
</cp:coreProperties>
</file>