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4023360" cy="40233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601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预警与推荐 + 疗愈师深度陪伴 —— 让疗愈服务在关键时刻可及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× AI 应用创新赛道  融合方案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负责广度，疗愈轨道负责深度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员工要么不敢求助，要么求助后只得到「治标不治本」的话术。我们创造性提出「AI 预警与推荐 + 疗愈师深度陪伴」双轨模型。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7BA05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AI树洞情绪识别、预警、个性化推荐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对齐：数字疗愈与 AI 辅助支持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5212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0684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对齐：疗愈师主体性与专业胜任力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68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 (一)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方案针对哪些企业场景？—— 六大高内耗行业靶向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44200" cy="3410712"/>
          </a:xfrm>
          <a:prstGeom prst="roundRect">
            <a:avLst>
              <a:gd name="adj" fmla="val 32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665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6916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26664" y="1691640"/>
            <a:ext cx="6153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核心内耗表现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73184" y="16916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采购优先级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19456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26664" y="2194560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视「线上秒回」为第二大负担；「被替代」焦虑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73184" y="219456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2679192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679192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26664" y="2679192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业绩压力为主要负担（全行业第一）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2679192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77824" y="3163824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26664" y="3163824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11%；共情疲劳高发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73184" y="3163824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1520" y="3648456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3648456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26664" y="3648456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＞30%；多重角色耗竭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73184" y="3648456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77824" y="413308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26664" y="4133088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15%；情绪劳动疲劳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73184" y="413308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31520" y="4617720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461772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26664" y="4617720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小时；产线孤独感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73184" y="461772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3152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52.1%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96012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职场人曾有焦虑不安等心理表现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4340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457200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认为情绪劳动已不限于服务行业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8388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多家央企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18388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南网数字集团、海南电网等已采购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 (二)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精准定义 AI 与疗愈的协同时刻 —— 七大应用场景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44200" cy="4727448"/>
          </a:xfrm>
          <a:prstGeom prst="roundRect">
            <a:avLst>
              <a:gd name="adj" fmla="val 232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1226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37360"/>
            <a:ext cx="1819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89932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轨道的角色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05978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疗愈轨道的角色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24028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89932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AI树洞24h倾诉 + 自动推送资源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05978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全员心理健康教育 + 自助工具包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843784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4378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89932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识别焦虑、「被替代」关键词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05978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正念工作坊 + 叙事疗愈小组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3447288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89932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监测业绩高压倾诉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05978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积极心理培训 + 跨团队疗愈小组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050792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050792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89932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持续倾听 + 情绪耗竭识别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5978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+ 困境盲盒工作坊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" y="4654296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89932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追踪情绪耗竭 + 沟通焦虑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05978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ABC理论工作坊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25780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89932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识别情绪崩溃风险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05978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 + 正念冥想 + 芳香疗愈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7824" y="586130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89932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识别社交隔离 + 疲劳分析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05978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 + 拳击课 + 心灵驿站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目标人群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方案面向谁？—— 三层目标人群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直接人群（六大高内耗行业全体员工）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400800" cy="3959352"/>
          </a:xfrm>
          <a:prstGeom prst="roundRect">
            <a:avLst>
              <a:gd name="adj" fmla="val 277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6400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391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2245" y="2011680"/>
            <a:ext cx="18971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核心痛点人群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1992" y="2011680"/>
            <a:ext cx="223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2245" y="251460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赶工期全员 + 35+员工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1992" y="251460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线上秒回 65.4%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90672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2245" y="3090672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一线业务岗 + 决策岗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1992" y="3090672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业绩压力 42.9%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66744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2245" y="3666744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临床护理 + 急诊/ICU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1992" y="3666744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11%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242816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242816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62245" y="4242816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班主任 + 主科教师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1992" y="4242816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抑郁检出率 &gt;30%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818888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客服/服务业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62245" y="4818888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 + 餐饮服务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1992" y="4818888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394960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39496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2245" y="539496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产线工人 + 井下作业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1992" y="539496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月均加班 140h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201168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2212848"/>
            <a:ext cx="128016" cy="12801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重点关注人群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89520" y="2578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90688" y="257860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女性返岗员工（产假返岗后 3–12 个月）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90688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高压岗位群体（研发、销售、客服、产线）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33832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90688" y="33832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跨文化团队员工（海外派遣、多元团队）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092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18120" y="4315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间接受益人群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18120" y="4709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企业主管、HRBP、EAP专员、工会干部、党务工作者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直接人群 → 重点关注 → 间接受益：从个体疗愈到组织能力的层层放大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干预逻辑与实施路径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双轨协同 —— 如何落地执行？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降低求助门槛 · 主动预警 · 个性化匹配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2011680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非病理化深度支持 · 能量转化 · 整体平衡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201168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513064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协同原则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是疗愈师的「扩音器」与「望远镜」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四阶段实施路径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10744200" cy="3502152"/>
          </a:xfrm>
          <a:prstGeom prst="roundRect">
            <a:avLst>
              <a:gd name="adj" fmla="val 313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0632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381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84020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0217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56120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84020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第1–2周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90217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AI树洞部署 + 基线采集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6120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疗愈师伦理培训 + 行业定制方案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84020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1–3个月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90217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24h运行 + 情绪趋势图 + 自动推送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56120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一对一疏导 + 团体工作坊 + 人工复核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84020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4–6个月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90217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情绪轨迹追踪 + 个人成长报告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56120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进阶疗愈小组 + 自主工具包引导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5815584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84020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6个月后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90217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流程标准化 + 主管OKR纳入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56120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培养企业内部「疗愈大使」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疗愈活动交付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六大情绪类型 + 六大行业精准对标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通用版 · 按情绪类型匹配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85100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92377" y="2011680"/>
            <a:ext cx="84207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85100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92377" y="25146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85100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92377" y="306324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85100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92377" y="361188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85100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92377" y="416052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2h×4次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85100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92377" y="470916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85100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2377" y="52578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行业版 · 六大行业对标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116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0116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38658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011680"/>
            <a:ext cx="8527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646790" y="2011680"/>
            <a:ext cx="16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00719" y="2011680"/>
            <a:ext cx="172869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01384" y="25146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46790" y="25146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0719" y="25146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可控/不可控拆解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06324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306324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46790" y="306324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0719" y="306324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01384" y="361188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46790" y="361188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0719" y="361188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不评判/不打断/不指导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55080" y="416052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416052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46790" y="416052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00719" y="416052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01384" y="470916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46790" y="470916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600719" y="470916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525780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7" name="Text 55"/>
          <p:cNvSpPr/>
          <p:nvPr/>
        </p:nvSpPr>
        <p:spPr>
          <a:xfrm>
            <a:off x="6501384" y="52578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46790" y="52578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0719" y="52578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1520" y="617220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核心亮点：每个活动均标注理论依据（MBSR、表达性艺术治疗、叙事疗愈、巴林特小组、躯体疗法等）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识别与推荐引擎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如何识别信号、推荐方案？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· 核心识别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小时在线匿名倾诉平台，员工通过企业微信 / 钉钉 / 小程序进入。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74904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D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160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郑州高新区总工会 AI 树洞，累计响应超 1300 次。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关键设计：「AI 预警 + 人工复核」闭环 —— AI 不自动定性任何员工。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783080"/>
            <a:ext cx="6675120" cy="2148840"/>
          </a:xfrm>
          <a:prstGeom prst="roundRect">
            <a:avLst>
              <a:gd name="adj" fmla="val 510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78308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215798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1783080"/>
            <a:ext cx="6028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42347" y="1783080"/>
            <a:ext cx="17424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77444" y="1783080"/>
            <a:ext cx="182389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自动触发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93946" y="1783080"/>
            <a:ext cx="1335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46904" y="2286000"/>
            <a:ext cx="6028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42347" y="2286000"/>
            <a:ext cx="1742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7444" y="2286000"/>
            <a:ext cx="18238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自动推送正念音频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93946" y="2286000"/>
            <a:ext cx="13354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无需介入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834640"/>
            <a:ext cx="667512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4946904" y="2834640"/>
            <a:ext cx="6028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42347" y="2834640"/>
            <a:ext cx="1742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77444" y="2834640"/>
            <a:ext cx="18238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提醒HRBP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93946" y="2834640"/>
            <a:ext cx="13354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关注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46904" y="3383280"/>
            <a:ext cx="6028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42347" y="3383280"/>
            <a:ext cx="1742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77444" y="3383280"/>
            <a:ext cx="18238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转接专业咨询师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93946" y="3383280"/>
            <a:ext cx="13354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2h 内确认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三步转化模型 · 从信号到行动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800600" y="4160520"/>
            <a:ext cx="6675120" cy="2148840"/>
          </a:xfrm>
          <a:prstGeom prst="roundRect">
            <a:avLst>
              <a:gd name="adj" fmla="val 510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416052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0600" y="453542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946904" y="4160520"/>
            <a:ext cx="5417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81294" y="416052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118854" y="4160520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946904" y="4663440"/>
            <a:ext cx="54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81294" y="466344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AI树洞捕捉情绪信号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18854" y="4663440"/>
            <a:ext cx="2210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+ 预警等级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5212080"/>
            <a:ext cx="667512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4" name="Text 42"/>
          <p:cNvSpPr/>
          <p:nvPr/>
        </p:nvSpPr>
        <p:spPr>
          <a:xfrm>
            <a:off x="4946904" y="5212080"/>
            <a:ext cx="54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81294" y="521208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按标签、画像、行业匹配资源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18854" y="5212080"/>
            <a:ext cx="2210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个性化推荐清单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46904" y="5760720"/>
            <a:ext cx="54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781294" y="5760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IM自动推送 + 人工复核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18854" y="5760720"/>
            <a:ext cx="2210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 · 国际对齐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效果如何衡量？如何对齐 SDGs / ESG 国际标准？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83664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83664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83664"/>
            <a:ext cx="10829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53343" y="1883664"/>
            <a:ext cx="154141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87368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57216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23113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53343" y="223113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PSI得分(7分)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87368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57216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259689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53343" y="259689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87368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296265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53343" y="296265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AI树洞使用率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87368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57216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32841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332841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53343" y="332841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87368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57216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≥60%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分行业预期效果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534924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023360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242816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4023360"/>
            <a:ext cx="988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58628" y="4023360"/>
            <a:ext cx="2721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核心预期效果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72284" y="4023360"/>
            <a:ext cx="7621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" y="43708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58628" y="43708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3.5→5.8；焦虑信号↓50%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72284" y="43708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" y="473659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877824" y="473659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58628" y="473659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3.2→5.5；离职率→15%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72284" y="473659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7824" y="510235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58628" y="510235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抑郁自评↓30%；巴林特参与≥70%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72284" y="510235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" y="546811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" y="546811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58628" y="546811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MBI 倦怠得分↓25%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72284" y="546811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7824" y="583387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58628" y="583387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情绪耗竭得分↓30%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72284" y="583387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" y="619963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5" name="Text 53"/>
          <p:cNvSpPr/>
          <p:nvPr/>
        </p:nvSpPr>
        <p:spPr>
          <a:xfrm>
            <a:off x="877824" y="61996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58628" y="61996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躯体紧张↓40%；驿站使用≥50%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72284" y="61996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四层评估体系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217920" y="1883664"/>
            <a:ext cx="5257800" cy="2176272"/>
          </a:xfrm>
          <a:prstGeom prst="roundRect">
            <a:avLst>
              <a:gd name="adj" fmla="val 50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188366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210312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2" name="Text 60"/>
          <p:cNvSpPr/>
          <p:nvPr/>
        </p:nvSpPr>
        <p:spPr>
          <a:xfrm>
            <a:off x="6364224" y="1883664"/>
            <a:ext cx="3556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12446" y="1883664"/>
            <a:ext cx="1435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评估内容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741038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81531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64224" y="223113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012446" y="223113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741038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81531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实时/周度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17920" y="25968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71" name="Text 69"/>
          <p:cNvSpPr/>
          <p:nvPr/>
        </p:nvSpPr>
        <p:spPr>
          <a:xfrm>
            <a:off x="6364224" y="259689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012446" y="259689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741038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181531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每场后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364224" y="296265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012446" y="296265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741038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181531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第3/7天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17920" y="33284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80" name="Text 78"/>
          <p:cNvSpPr/>
          <p:nvPr/>
        </p:nvSpPr>
        <p:spPr>
          <a:xfrm>
            <a:off x="6364224" y="332841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012446" y="332841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741038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PSI问卷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0181531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月/季度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364224" y="369417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12446" y="369417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741038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离职率+绩效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0181531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21792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SDGs / ESG 国际标准对齐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217920" y="4352544"/>
            <a:ext cx="525780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217920" y="435254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91" name="Shape 89"/>
          <p:cNvSpPr/>
          <p:nvPr/>
        </p:nvSpPr>
        <p:spPr>
          <a:xfrm>
            <a:off x="6217920" y="457200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2" name="Text 90"/>
          <p:cNvSpPr/>
          <p:nvPr/>
        </p:nvSpPr>
        <p:spPr>
          <a:xfrm>
            <a:off x="6364224" y="4352544"/>
            <a:ext cx="140844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 / 维度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065277" y="4352544"/>
            <a:ext cx="32641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方案贡献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364224" y="47000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3 健康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065277" y="47000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心理健康与疗愈服务应对企业压力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217920" y="506577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97" name="Text 95"/>
          <p:cNvSpPr/>
          <p:nvPr/>
        </p:nvSpPr>
        <p:spPr>
          <a:xfrm>
            <a:off x="6364224" y="506577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5 性别平等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8065277" y="506577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赋能女性员工，平等返岗与DEI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364224" y="543153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8 体面工作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065277" y="543153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提升充分就业，保障安全环境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217920" y="57972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2" name="Text 100"/>
          <p:cNvSpPr/>
          <p:nvPr/>
        </p:nvSpPr>
        <p:spPr>
          <a:xfrm>
            <a:off x="6364224" y="579729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403 员工福祉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065277" y="579729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追踪心理安全并提供疗愈支持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364224" y="616305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405-1 DEI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8065277" y="616305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女性返岗支持与DEI文化建设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217920" y="65288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364224" y="65288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· AI治理章程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065277" y="65288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隐私保护、假阳性控制、人工审核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28600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评委的价值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 + 轻量级推荐引擎，非实验室设想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隐私与伦理设计严谨（匿名化、人工复核、可退出）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4475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定位清晰：不做诊断，只做「吹哨」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28600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对疗愈评委的价值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687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工作坊有清晰疗愈理论基础（巴林特、奥尔夫、叙事、MBSR）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7687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疗愈师角色被充分定义，AI 不替代疗愈师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六大行业差异化活动设计，非模板化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535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76872" y="4535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IAOTH 认证与伦理对齐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623560"/>
            <a:ext cx="10744200" cy="822960"/>
          </a:xfrm>
          <a:prstGeom prst="roundRect">
            <a:avLst>
              <a:gd name="adj" fmla="val 13333"/>
            </a:avLst>
          </a:prstGeom>
          <a:solidFill>
            <a:srgbClr val="356B3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2356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2026-09-20T11:27:43Z</dcterms:created>
  <dcterms:modified xsi:type="dcterms:W3CDTF">2026-09-20T11:27:43Z</dcterms:modified>
</cp:coreProperties>
</file>