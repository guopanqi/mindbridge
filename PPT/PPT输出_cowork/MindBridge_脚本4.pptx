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554480"/>
            <a:ext cx="4754880" cy="4754880"/>
          </a:xfrm>
          <a:prstGeom prst="ellipse">
            <a:avLst/>
          </a:prstGeom>
          <a:solidFill>
            <a:srgbClr val="244C25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114800"/>
            <a:ext cx="4023360" cy="4023360"/>
          </a:xfrm>
          <a:prstGeom prst="ellipse">
            <a:avLst/>
          </a:prstGeom>
          <a:solidFill>
            <a:srgbClr val="356B36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846320"/>
            <a:ext cx="3474720" cy="3474720"/>
          </a:xfrm>
          <a:prstGeom prst="ellipse">
            <a:avLst/>
          </a:prstGeom>
          <a:solidFill>
            <a:srgbClr val="244C25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960120"/>
            <a:ext cx="457200" cy="457200"/>
          </a:xfrm>
          <a:prstGeom prst="ellipse">
            <a:avLst/>
          </a:prstGeom>
          <a:solidFill>
            <a:srgbClr val="E194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00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F3D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企业员工心理安全与成长共生系统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MindBridge AI</a:t>
            </a:r>
            <a:endParaRPr lang="en-US" sz="5600" dirty="0"/>
          </a:p>
          <a:p>
            <a:pPr indent="0" marL="0">
              <a:buNone/>
            </a:pPr>
            <a:r>
              <a:rPr lang="en-US" sz="3800" b="1" dirty="0">
                <a:solidFill>
                  <a:srgbClr val="AEC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疗愈轨道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914400" y="4069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9E4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负责广度 · 疗愈轨道负责深度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5029200"/>
            <a:ext cx="67665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50292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预警与推荐 + 疗愈师深度陪伴 —— 让疗愈服务在关键时刻可及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6126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C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国际疗愈师赛题 × AI 应用创新赛道  融合方案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核心创意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双轨并行 —— AI 负责广度，疗愈轨道负责深度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10744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员工要么不敢求助，要么求助后只得到「治标不治本」的话术。我们创造性提出「AI 预警与推荐 + 疗愈师深度陪伴」双轨模型。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5212080" cy="2468880"/>
          </a:xfrm>
          <a:prstGeom prst="roundRect">
            <a:avLst>
              <a:gd name="adj" fmla="val 4444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194560"/>
            <a:ext cx="5212080" cy="822960"/>
          </a:xfrm>
          <a:prstGeom prst="roundRect">
            <a:avLst>
              <a:gd name="adj" fmla="val 13333"/>
            </a:avLst>
          </a:prstGeom>
          <a:solidFill>
            <a:srgbClr val="7BA05B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697480"/>
            <a:ext cx="5212080" cy="320040"/>
          </a:xfrm>
          <a:prstGeom prst="rect">
            <a:avLst/>
          </a:prstGeom>
          <a:solidFill>
            <a:srgbClr val="7BA05B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1945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轨道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0" y="21945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倾听者 + 匹配师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51560" y="3246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核心任务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51560" y="3566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AI树洞情绪识别、预警、个性化推荐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4069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对齐：数字疗愈与 AI 辅助支持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2194560"/>
            <a:ext cx="5212080" cy="2468880"/>
          </a:xfrm>
          <a:prstGeom prst="roundRect">
            <a:avLst>
              <a:gd name="adj" fmla="val 4444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2194560"/>
            <a:ext cx="5212080" cy="822960"/>
          </a:xfrm>
          <a:prstGeom prst="roundRect">
            <a:avLst>
              <a:gd name="adj" fmla="val 13333"/>
            </a:avLst>
          </a:prstGeom>
          <a:solidFill>
            <a:srgbClr val="2C5F2D"/>
          </a:solidFill>
          <a:ln/>
        </p:spPr>
      </p:sp>
      <p:sp>
        <p:nvSpPr>
          <p:cNvPr id="15" name="Shape 13"/>
          <p:cNvSpPr/>
          <p:nvPr/>
        </p:nvSpPr>
        <p:spPr>
          <a:xfrm>
            <a:off x="6263640" y="2697480"/>
            <a:ext cx="521208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21945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疗愈轨道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006840" y="21945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转化师 + 陪伴者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83680" y="3246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核心任务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0" y="3566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能量疗愈、情绪疏导、深层转化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0" y="4069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对齐：疗愈师主体性与专业胜任力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715000" y="3246120"/>
            <a:ext cx="777240" cy="777240"/>
          </a:xfrm>
          <a:prstGeom prst="ellipse">
            <a:avLst/>
          </a:prstGeom>
          <a:solidFill>
            <a:srgbClr val="E1943B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715000" y="32461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复核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1520" y="4937760"/>
            <a:ext cx="10744200" cy="1234440"/>
          </a:xfrm>
          <a:prstGeom prst="roundRect">
            <a:avLst>
              <a:gd name="adj" fmla="val 8889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97280" y="5120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D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核心理念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5468112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不做诊断，只做「读数」和「吹哨」；真正的疗愈由疗愈师完成。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企业应用场景 (一)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方案针对哪些企业场景？—— 六大高内耗行业靶向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10744200" cy="3410712"/>
          </a:xfrm>
          <a:prstGeom prst="roundRect">
            <a:avLst>
              <a:gd name="adj" fmla="val 3217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91640"/>
            <a:ext cx="1074420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066544"/>
            <a:ext cx="1074420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1691640"/>
            <a:ext cx="1856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26664" y="1691640"/>
            <a:ext cx="6153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核心内耗表现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473184" y="1691640"/>
            <a:ext cx="1856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采购优先级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77824" y="2194560"/>
            <a:ext cx="18562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互联网 / IT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026664" y="2194560"/>
            <a:ext cx="615391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65.4% 视「线上秒回」为第二大负担；「被替代」焦虑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473184" y="2194560"/>
            <a:ext cx="18562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1520" y="2679192"/>
            <a:ext cx="10744200" cy="484632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" y="2679192"/>
            <a:ext cx="18562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 / 银行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026664" y="2679192"/>
            <a:ext cx="615391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42.9% 业绩压力为主要负担（全行业第一）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473184" y="2679192"/>
            <a:ext cx="18562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77824" y="3163824"/>
            <a:ext cx="18562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医护 / 护理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026664" y="3163824"/>
            <a:ext cx="615391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护理人员抑郁率达 11%；共情疲劳高发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473184" y="3163824"/>
            <a:ext cx="18562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731520" y="3648456"/>
            <a:ext cx="10744200" cy="484632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21" name="Text 19"/>
          <p:cNvSpPr/>
          <p:nvPr/>
        </p:nvSpPr>
        <p:spPr>
          <a:xfrm>
            <a:off x="877824" y="3648456"/>
            <a:ext cx="18562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026664" y="3648456"/>
            <a:ext cx="615391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部分教师抑郁检出率 ＞30%；多重角色耗竭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473184" y="3648456"/>
            <a:ext cx="18562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77824" y="4133088"/>
            <a:ext cx="18562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 / 服务业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026664" y="4133088"/>
            <a:ext cx="615391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餐饮服务员女性抑郁率 15%；情绪劳动疲劳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473184" y="4133088"/>
            <a:ext cx="18562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731520" y="4617720"/>
            <a:ext cx="10744200" cy="484632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28" name="Text 26"/>
          <p:cNvSpPr/>
          <p:nvPr/>
        </p:nvSpPr>
        <p:spPr>
          <a:xfrm>
            <a:off x="877824" y="4617720"/>
            <a:ext cx="18562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 / 汽车业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026664" y="4617720"/>
            <a:ext cx="615391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新车上市月均加班 140 小时；产线孤独感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473184" y="4617720"/>
            <a:ext cx="18562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731520" y="5440680"/>
            <a:ext cx="3429000" cy="1051560"/>
          </a:xfrm>
          <a:prstGeom prst="roundRect">
            <a:avLst>
              <a:gd name="adj" fmla="val 10435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60120" y="555955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D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52.1%</a:t>
            </a:r>
            <a:endParaRPr lang="en-US" sz="2500" dirty="0"/>
          </a:p>
        </p:txBody>
      </p:sp>
      <p:sp>
        <p:nvSpPr>
          <p:cNvPr id="33" name="Text 31"/>
          <p:cNvSpPr/>
          <p:nvPr/>
        </p:nvSpPr>
        <p:spPr>
          <a:xfrm>
            <a:off x="960120" y="601675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9E4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职场人曾有焦虑不安等心理表现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343400" y="5440680"/>
            <a:ext cx="3429000" cy="1051560"/>
          </a:xfrm>
          <a:prstGeom prst="roundRect">
            <a:avLst>
              <a:gd name="adj" fmla="val 10435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572000" y="555955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D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83.7%</a:t>
            </a:r>
            <a:endParaRPr lang="en-US" sz="2500" dirty="0"/>
          </a:p>
        </p:txBody>
      </p:sp>
      <p:sp>
        <p:nvSpPr>
          <p:cNvPr id="36" name="Text 34"/>
          <p:cNvSpPr/>
          <p:nvPr/>
        </p:nvSpPr>
        <p:spPr>
          <a:xfrm>
            <a:off x="4572000" y="601675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9E4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认为情绪劳动已不限于服务行业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955280" y="5440680"/>
            <a:ext cx="3429000" cy="1051560"/>
          </a:xfrm>
          <a:prstGeom prst="roundRect">
            <a:avLst>
              <a:gd name="adj" fmla="val 10435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183880" y="555955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D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多家央企</a:t>
            </a:r>
            <a:endParaRPr lang="en-US" sz="2500" dirty="0"/>
          </a:p>
        </p:txBody>
      </p:sp>
      <p:sp>
        <p:nvSpPr>
          <p:cNvPr id="39" name="Text 37"/>
          <p:cNvSpPr/>
          <p:nvPr/>
        </p:nvSpPr>
        <p:spPr>
          <a:xfrm>
            <a:off x="8183880" y="601675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9E4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南网数字集团、海南电网等已采购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企业应用场景 (二)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精准定义 AI 与疗愈的协同时刻 —— 七大应用场景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10744200" cy="4727448"/>
          </a:xfrm>
          <a:prstGeom prst="roundRect">
            <a:avLst>
              <a:gd name="adj" fmla="val 2321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37360"/>
            <a:ext cx="1074420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12264"/>
            <a:ext cx="1074420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1737360"/>
            <a:ext cx="18195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场景类型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89932" y="1737360"/>
            <a:ext cx="40234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轨道的角色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05978" y="1737360"/>
            <a:ext cx="40234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疗愈轨道的角色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77824" y="2240280"/>
            <a:ext cx="18195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通用预防型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989932" y="2240280"/>
            <a:ext cx="402343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AI树洞24h倾诉 + 自动推送资源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05978" y="2240280"/>
            <a:ext cx="402343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全员心理健康教育 + 自助工具包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2843784"/>
            <a:ext cx="10744200" cy="603504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" y="2843784"/>
            <a:ext cx="18195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互联网 / IT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989932" y="2843784"/>
            <a:ext cx="402343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识别焦虑、「被替代」关键词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305978" y="2843784"/>
            <a:ext cx="402343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正念工作坊 + 叙事疗愈小组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77824" y="3447288"/>
            <a:ext cx="18195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 / 银行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989932" y="3447288"/>
            <a:ext cx="402343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监测业绩高压倾诉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05978" y="3447288"/>
            <a:ext cx="402343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积极心理培训 + 跨团队疗愈小组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1520" y="4050792"/>
            <a:ext cx="10744200" cy="603504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21" name="Text 19"/>
          <p:cNvSpPr/>
          <p:nvPr/>
        </p:nvSpPr>
        <p:spPr>
          <a:xfrm>
            <a:off x="877824" y="4050792"/>
            <a:ext cx="18195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医护 / 护理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989932" y="4050792"/>
            <a:ext cx="402343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持续倾听 + 情绪耗竭识别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05978" y="4050792"/>
            <a:ext cx="402343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巴林特小组 + 困境盲盒工作坊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77824" y="4654296"/>
            <a:ext cx="18195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989932" y="4654296"/>
            <a:ext cx="402343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追踪情绪耗竭 + 沟通焦虑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305978" y="4654296"/>
            <a:ext cx="402343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奥尔夫音乐疗愈 + ABC理论工作坊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31520" y="5257800"/>
            <a:ext cx="10744200" cy="603504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28" name="Text 26"/>
          <p:cNvSpPr/>
          <p:nvPr/>
        </p:nvSpPr>
        <p:spPr>
          <a:xfrm>
            <a:off x="877824" y="5257800"/>
            <a:ext cx="18195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 / 服务业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2989932" y="5257800"/>
            <a:ext cx="402343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识别情绪崩溃风险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305978" y="5257800"/>
            <a:ext cx="402343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心流插花 + 正念冥想 + 芳香疗愈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77824" y="5861304"/>
            <a:ext cx="18195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 / 汽车业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2989932" y="5861304"/>
            <a:ext cx="402343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识别社交隔离 + 疲劳分析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305978" y="5861304"/>
            <a:ext cx="402343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沙盘疗愈 + 拳击课 + 心灵驿站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目标人群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方案面向谁？—— 三层目标人群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 · 直接人群（六大高内耗行业全体员工）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6400800" cy="3959352"/>
          </a:xfrm>
          <a:prstGeom prst="roundRect">
            <a:avLst>
              <a:gd name="adj" fmla="val 2771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011680"/>
            <a:ext cx="640080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386584"/>
            <a:ext cx="640080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" y="2011680"/>
            <a:ext cx="139181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2245" y="2011680"/>
            <a:ext cx="189713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核心痛点人群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1992" y="2011680"/>
            <a:ext cx="2234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77824" y="2514600"/>
            <a:ext cx="1391813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互联网/IT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562245" y="2514600"/>
            <a:ext cx="1897139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赶工期全员 + 35+员工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51992" y="2514600"/>
            <a:ext cx="2234024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线上秒回 65.4%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3090672"/>
            <a:ext cx="6400800" cy="576072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" y="3090672"/>
            <a:ext cx="1391813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金融/银行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562245" y="3090672"/>
            <a:ext cx="1897139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一线业务岗 + 决策岗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51992" y="3090672"/>
            <a:ext cx="2234024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业绩压力 42.9%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77824" y="3666744"/>
            <a:ext cx="1391813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医护/护理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562245" y="3666744"/>
            <a:ext cx="1897139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临床护理 + 急诊/ICU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51992" y="3666744"/>
            <a:ext cx="2234024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抑郁率 11%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31520" y="4242816"/>
            <a:ext cx="6400800" cy="576072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22" name="Text 20"/>
          <p:cNvSpPr/>
          <p:nvPr/>
        </p:nvSpPr>
        <p:spPr>
          <a:xfrm>
            <a:off x="877824" y="4242816"/>
            <a:ext cx="1391813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562245" y="4242816"/>
            <a:ext cx="1897139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班主任 + 主科教师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51992" y="4242816"/>
            <a:ext cx="2234024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抑郁检出率 &gt;30%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77824" y="4818888"/>
            <a:ext cx="1391813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客服/服务业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562245" y="4818888"/>
            <a:ext cx="1897139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一线客服 + 餐饮服务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751992" y="4818888"/>
            <a:ext cx="2234024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抑郁率 15%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31520" y="5394960"/>
            <a:ext cx="6400800" cy="576072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29" name="Text 27"/>
          <p:cNvSpPr/>
          <p:nvPr/>
        </p:nvSpPr>
        <p:spPr>
          <a:xfrm>
            <a:off x="877824" y="5394960"/>
            <a:ext cx="1391813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制造/汽车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562245" y="5394960"/>
            <a:ext cx="1897139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产线工人 + 井下作业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751992" y="5394960"/>
            <a:ext cx="2234024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月均加班 140h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360920" y="2011680"/>
            <a:ext cx="4114800" cy="1965960"/>
          </a:xfrm>
          <a:prstGeom prst="roundRect">
            <a:avLst>
              <a:gd name="adj" fmla="val 5581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589520" y="2212848"/>
            <a:ext cx="128016" cy="128016"/>
          </a:xfrm>
          <a:prstGeom prst="ellipse">
            <a:avLst/>
          </a:prstGeom>
          <a:solidFill>
            <a:srgbClr val="E1943B"/>
          </a:solidFill>
          <a:ln/>
        </p:spPr>
      </p:sp>
      <p:sp>
        <p:nvSpPr>
          <p:cNvPr id="34" name="Text 32"/>
          <p:cNvSpPr/>
          <p:nvPr/>
        </p:nvSpPr>
        <p:spPr>
          <a:xfrm>
            <a:off x="7818120" y="2103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第二层 · 重点关注人群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589520" y="2578608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790688" y="2578608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女性返岗员工（产假返岗后 3–12 个月）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589520" y="2980944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790688" y="2980944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高压岗位群体（研发、销售、客服、产线）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589520" y="33832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790688" y="3383280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跨文化团队员工（海外派遣、多元团队）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360920" y="4160520"/>
            <a:ext cx="4114800" cy="1417320"/>
          </a:xfrm>
          <a:prstGeom prst="roundRect">
            <a:avLst>
              <a:gd name="adj" fmla="val 7742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818120" y="431596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D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第三层 · 间接受益人群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818120" y="4709160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企业主管、HRBP、EAP专员、工会干部、党务工作者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731520" y="5943600"/>
            <a:ext cx="10744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直接人群 → 重点关注 → 间接受益：从个体疗愈到组织能力的层层放大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干预逻辑与实施路径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双轨协同 —— 如何落地执行？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429000" cy="868680"/>
          </a:xfrm>
          <a:prstGeom prst="roundRect">
            <a:avLst>
              <a:gd name="adj" fmla="val 12632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87552" y="2011680"/>
            <a:ext cx="146304" cy="146304"/>
          </a:xfrm>
          <a:prstGeom prst="ellipse">
            <a:avLst/>
          </a:prstGeom>
          <a:solidFill>
            <a:srgbClr val="7BA05B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轨道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降低求助门槛 · 主动预警 · 个性化匹配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70832" y="1645920"/>
            <a:ext cx="3429000" cy="868680"/>
          </a:xfrm>
          <a:prstGeom prst="roundRect">
            <a:avLst>
              <a:gd name="adj" fmla="val 12632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26864" y="2011680"/>
            <a:ext cx="146304" cy="14630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4873752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疗愈轨道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45152" y="21031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非病理化深度支持 · 能量转化 · 整体平衡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10144" y="1645920"/>
            <a:ext cx="3429000" cy="868680"/>
          </a:xfrm>
          <a:prstGeom prst="roundRect">
            <a:avLst>
              <a:gd name="adj" fmla="val 12632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66176" y="2011680"/>
            <a:ext cx="146304" cy="146304"/>
          </a:xfrm>
          <a:prstGeom prst="ellipse">
            <a:avLst/>
          </a:prstGeom>
          <a:solidFill>
            <a:srgbClr val="E1943B"/>
          </a:solidFill>
          <a:ln/>
        </p:spPr>
      </p:sp>
      <p:sp>
        <p:nvSpPr>
          <p:cNvPr id="14" name="Text 12"/>
          <p:cNvSpPr/>
          <p:nvPr/>
        </p:nvSpPr>
        <p:spPr>
          <a:xfrm>
            <a:off x="8513064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协同原则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84464" y="21031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是疗愈师的「扩音器」与「望远镜」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2697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四阶段实施路径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3063240"/>
            <a:ext cx="10744200" cy="3502152"/>
          </a:xfrm>
          <a:prstGeom prst="roundRect">
            <a:avLst>
              <a:gd name="adj" fmla="val 3133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3063240"/>
            <a:ext cx="1074420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3438144"/>
            <a:ext cx="1074420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877824" y="3063240"/>
            <a:ext cx="12135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384020" y="3063240"/>
            <a:ext cx="12135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90217" y="3063240"/>
            <a:ext cx="3573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轨道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56120" y="3063240"/>
            <a:ext cx="3573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疗愈轨道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77824" y="3566160"/>
            <a:ext cx="12135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预备期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384020" y="3566160"/>
            <a:ext cx="12135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第1–2周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90217" y="3566160"/>
            <a:ext cx="35732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AI树洞部署 + 基线采集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56120" y="3566160"/>
            <a:ext cx="35732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疗愈师伦理培训 + 行业定制方案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" y="4315968"/>
            <a:ext cx="10744200" cy="749808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29" name="Text 27"/>
          <p:cNvSpPr/>
          <p:nvPr/>
        </p:nvSpPr>
        <p:spPr>
          <a:xfrm>
            <a:off x="877824" y="4315968"/>
            <a:ext cx="12135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融入期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384020" y="4315968"/>
            <a:ext cx="12135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1–3个月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890217" y="4315968"/>
            <a:ext cx="35732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24h运行 + 情绪趋势图 + 自动推送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756120" y="4315968"/>
            <a:ext cx="35732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一对一疏导 + 团体工作坊 + 人工复核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77824" y="5065776"/>
            <a:ext cx="12135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成长期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384020" y="5065776"/>
            <a:ext cx="12135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4–6个月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890217" y="5065776"/>
            <a:ext cx="35732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情绪轨迹追踪 + 个人成长报告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756120" y="5065776"/>
            <a:ext cx="35732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进阶疗愈小组 + 自主工具包引导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31520" y="5815584"/>
            <a:ext cx="10744200" cy="749808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38" name="Text 36"/>
          <p:cNvSpPr/>
          <p:nvPr/>
        </p:nvSpPr>
        <p:spPr>
          <a:xfrm>
            <a:off x="877824" y="5815584"/>
            <a:ext cx="12135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嵌入期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384020" y="5815584"/>
            <a:ext cx="12135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6个月后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890217" y="5815584"/>
            <a:ext cx="35732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流程标准化 + 主管OKR纳入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756120" y="5815584"/>
            <a:ext cx="35732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培养企业内部「疗愈大使」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疗愈活动交付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六大情绪类型 + 六大行业精准对标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通用版 · 按情绪类型匹配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5349240" cy="3794760"/>
          </a:xfrm>
          <a:prstGeom prst="roundRect">
            <a:avLst>
              <a:gd name="adj" fmla="val 2892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011680"/>
            <a:ext cx="534924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386584"/>
            <a:ext cx="534924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" y="2011680"/>
            <a:ext cx="18146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情绪类型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985100" y="2011680"/>
            <a:ext cx="18146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推荐活动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92377" y="2011680"/>
            <a:ext cx="84207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时长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77824" y="2514600"/>
            <a:ext cx="18146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焦虑紧张型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985100" y="2514600"/>
            <a:ext cx="18146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正念呼吸工作坊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92377" y="2514600"/>
            <a:ext cx="84207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90分钟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3063240"/>
            <a:ext cx="5349240" cy="54864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" y="3063240"/>
            <a:ext cx="18146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耗竭疲惫型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985100" y="3063240"/>
            <a:ext cx="18146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能量唤醒工作坊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92377" y="3063240"/>
            <a:ext cx="84207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2小时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77824" y="3611880"/>
            <a:ext cx="18146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情绪劳动型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985100" y="3611880"/>
            <a:ext cx="18146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艺术疗愈工作坊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92377" y="3611880"/>
            <a:ext cx="84207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2小时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31520" y="4160520"/>
            <a:ext cx="5349240" cy="54864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22" name="Text 20"/>
          <p:cNvSpPr/>
          <p:nvPr/>
        </p:nvSpPr>
        <p:spPr>
          <a:xfrm>
            <a:off x="877824" y="4160520"/>
            <a:ext cx="18146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孤独无意义型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985100" y="4160520"/>
            <a:ext cx="18146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叙事疗愈深度小组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92377" y="4160520"/>
            <a:ext cx="84207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2h×4次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77824" y="4709160"/>
            <a:ext cx="18146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躯体紧张型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985100" y="4709160"/>
            <a:ext cx="18146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身体觉知与释放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92377" y="4709160"/>
            <a:ext cx="84207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2小时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31520" y="5257800"/>
            <a:ext cx="5349240" cy="54864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29" name="Text 27"/>
          <p:cNvSpPr/>
          <p:nvPr/>
        </p:nvSpPr>
        <p:spPr>
          <a:xfrm>
            <a:off x="877824" y="5257800"/>
            <a:ext cx="18146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 / 预防型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985100" y="5257800"/>
            <a:ext cx="18146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心理嘉年华游园会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92377" y="5257800"/>
            <a:ext cx="84207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半天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355080" y="1645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行业版 · 六大行业对标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355080" y="2011680"/>
            <a:ext cx="5120640" cy="3794760"/>
          </a:xfrm>
          <a:prstGeom prst="roundRect">
            <a:avLst>
              <a:gd name="adj" fmla="val 2892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355080" y="2011680"/>
            <a:ext cx="512064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sp>
        <p:nvSpPr>
          <p:cNvPr id="35" name="Shape 33"/>
          <p:cNvSpPr/>
          <p:nvPr/>
        </p:nvSpPr>
        <p:spPr>
          <a:xfrm>
            <a:off x="6355080" y="2386584"/>
            <a:ext cx="512064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6" name="Text 34"/>
          <p:cNvSpPr/>
          <p:nvPr/>
        </p:nvSpPr>
        <p:spPr>
          <a:xfrm>
            <a:off x="6501384" y="2011680"/>
            <a:ext cx="8527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7646790" y="2011680"/>
            <a:ext cx="1661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首选活动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9600719" y="2011680"/>
            <a:ext cx="172869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关键环节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501384" y="2514600"/>
            <a:ext cx="8527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互联网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646790" y="2514600"/>
            <a:ext cx="1661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情绪红绿灯正念工作坊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600719" y="2514600"/>
            <a:ext cx="172869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可控/不可控拆解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55080" y="3063240"/>
            <a:ext cx="5120640" cy="54864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43" name="Text 41"/>
          <p:cNvSpPr/>
          <p:nvPr/>
        </p:nvSpPr>
        <p:spPr>
          <a:xfrm>
            <a:off x="6501384" y="3063240"/>
            <a:ext cx="8527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646790" y="3063240"/>
            <a:ext cx="1661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积极心理与管理提升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600719" y="3063240"/>
            <a:ext cx="172869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情绪暂停法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501384" y="3611880"/>
            <a:ext cx="8527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医护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646790" y="3611880"/>
            <a:ext cx="1661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巴林特小组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600719" y="3611880"/>
            <a:ext cx="172869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不评判/不打断/不指导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355080" y="4160520"/>
            <a:ext cx="5120640" cy="54864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50" name="Text 48"/>
          <p:cNvSpPr/>
          <p:nvPr/>
        </p:nvSpPr>
        <p:spPr>
          <a:xfrm>
            <a:off x="6501384" y="4160520"/>
            <a:ext cx="8527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646790" y="4160520"/>
            <a:ext cx="1661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奥尔夫音乐疗愈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9600719" y="4160520"/>
            <a:ext cx="172869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简易乐器合奏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501384" y="4709160"/>
            <a:ext cx="8527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646790" y="4709160"/>
            <a:ext cx="1661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心流插花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9600719" y="4709160"/>
            <a:ext cx="172869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花材选择 + 创作命名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355080" y="5257800"/>
            <a:ext cx="5120640" cy="54864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57" name="Text 55"/>
          <p:cNvSpPr/>
          <p:nvPr/>
        </p:nvSpPr>
        <p:spPr>
          <a:xfrm>
            <a:off x="6501384" y="5257800"/>
            <a:ext cx="8527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646790" y="5257800"/>
            <a:ext cx="1661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沙盘疗愈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9600719" y="5257800"/>
            <a:ext cx="172869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团队沙盘共创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31520" y="6172200"/>
            <a:ext cx="10744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核心亮点：每个活动均标注理论依据（MBSR、表达性艺术治疗、叙事疗愈、巴林特小组、躯体疗法等）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识别方式 (一)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如何识别信号？—— AI 树洞与三级预警机制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5349240" cy="1417320"/>
          </a:xfrm>
          <a:prstGeom prst="roundRect">
            <a:avLst>
              <a:gd name="adj" fmla="val 7742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938528"/>
            <a:ext cx="502920" cy="502920"/>
          </a:xfrm>
          <a:prstGeom prst="ellipse">
            <a:avLst/>
          </a:prstGeom>
          <a:solidFill>
            <a:srgbClr val="AEC79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9385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193852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树洞 · 核心识别方式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450592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24h 匿名倾诉平台，扫码即入、无需登录、不记录身份。案例：郑州高新区总工会平台接入 AI 大模型，累计响应超 1300 次。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5349240" cy="2112264"/>
          </a:xfrm>
          <a:prstGeom prst="roundRect">
            <a:avLst>
              <a:gd name="adj" fmla="val 5195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3200400"/>
            <a:ext cx="534924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3575304"/>
            <a:ext cx="534924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877824" y="3200400"/>
            <a:ext cx="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层级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31552" y="3200400"/>
            <a:ext cx="179693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技术组件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21099" y="3200400"/>
            <a:ext cx="171335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77824" y="3703320"/>
            <a:ext cx="961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31552" y="3703320"/>
            <a:ext cx="1796939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小程序 / H5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21099" y="3703320"/>
            <a:ext cx="1713357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扫码即入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4105656"/>
            <a:ext cx="5349240" cy="402336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19" name="Text 17"/>
          <p:cNvSpPr/>
          <p:nvPr/>
        </p:nvSpPr>
        <p:spPr>
          <a:xfrm>
            <a:off x="877824" y="4105656"/>
            <a:ext cx="961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对话引擎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31552" y="4105656"/>
            <a:ext cx="1796939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/ 通义千问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21099" y="4105656"/>
            <a:ext cx="1713357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共情式对话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77824" y="4507992"/>
            <a:ext cx="961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规则引擎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31552" y="4507992"/>
            <a:ext cx="1796939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关键词匹配库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21099" y="4507992"/>
            <a:ext cx="1713357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识别情绪信号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4910328"/>
            <a:ext cx="5349240" cy="402336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26" name="Text 24"/>
          <p:cNvSpPr/>
          <p:nvPr/>
        </p:nvSpPr>
        <p:spPr>
          <a:xfrm>
            <a:off x="877824" y="4910328"/>
            <a:ext cx="961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131552" y="4910328"/>
            <a:ext cx="1796939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匿名化存储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221099" y="4910328"/>
            <a:ext cx="1713357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仅存情绪标签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1691640"/>
            <a:ext cx="5257800" cy="1764792"/>
          </a:xfrm>
          <a:prstGeom prst="roundRect">
            <a:avLst>
              <a:gd name="adj" fmla="val 6218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1691640"/>
            <a:ext cx="525780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sp>
        <p:nvSpPr>
          <p:cNvPr id="31" name="Shape 29"/>
          <p:cNvSpPr/>
          <p:nvPr/>
        </p:nvSpPr>
        <p:spPr>
          <a:xfrm>
            <a:off x="6217920" y="2066544"/>
            <a:ext cx="525780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2" name="Text 30"/>
          <p:cNvSpPr/>
          <p:nvPr/>
        </p:nvSpPr>
        <p:spPr>
          <a:xfrm>
            <a:off x="6364224" y="1691640"/>
            <a:ext cx="167906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的三大能力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335899" y="1691640"/>
            <a:ext cx="299351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具体内容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64224" y="2194560"/>
            <a:ext cx="1679067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倾听与共情回应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335899" y="2194560"/>
            <a:ext cx="2993517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让倾诉本身成为疗愈第一步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17920" y="2615184"/>
            <a:ext cx="5257800" cy="420624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37" name="Text 35"/>
          <p:cNvSpPr/>
          <p:nvPr/>
        </p:nvSpPr>
        <p:spPr>
          <a:xfrm>
            <a:off x="6364224" y="2615184"/>
            <a:ext cx="1679067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关键词识别与预警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335899" y="2615184"/>
            <a:ext cx="2993517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扫描情绪关键词，判定等级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64224" y="3035808"/>
            <a:ext cx="1679067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资源自动推送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335899" y="3035808"/>
            <a:ext cx="2993517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按预警等级推送疗愈资源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17920" y="3493008"/>
            <a:ext cx="5257800" cy="1764792"/>
          </a:xfrm>
          <a:prstGeom prst="roundRect">
            <a:avLst>
              <a:gd name="adj" fmla="val 6218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217920" y="3493008"/>
            <a:ext cx="525780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sp>
        <p:nvSpPr>
          <p:cNvPr id="43" name="Shape 41"/>
          <p:cNvSpPr/>
          <p:nvPr/>
        </p:nvSpPr>
        <p:spPr>
          <a:xfrm>
            <a:off x="6217920" y="3867912"/>
            <a:ext cx="525780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4" name="Text 42"/>
          <p:cNvSpPr/>
          <p:nvPr/>
        </p:nvSpPr>
        <p:spPr>
          <a:xfrm>
            <a:off x="6364224" y="3493008"/>
            <a:ext cx="469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等级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7126224" y="3493008"/>
            <a:ext cx="1231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8650224" y="3493008"/>
            <a:ext cx="1231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触发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10174224" y="3493008"/>
            <a:ext cx="1155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人工介入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364224" y="3995928"/>
            <a:ext cx="4693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绿色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126224" y="3995928"/>
            <a:ext cx="12313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「好累」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8650224" y="3995928"/>
            <a:ext cx="12313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推送正念音频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10174224" y="3995928"/>
            <a:ext cx="11551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无需介入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217920" y="4416552"/>
            <a:ext cx="5257800" cy="420624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53" name="Text 51"/>
          <p:cNvSpPr/>
          <p:nvPr/>
        </p:nvSpPr>
        <p:spPr>
          <a:xfrm>
            <a:off x="6364224" y="4416552"/>
            <a:ext cx="4693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黄色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7126224" y="4416552"/>
            <a:ext cx="12313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「想辞职」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8650224" y="4416552"/>
            <a:ext cx="12313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推送资源+提醒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10174224" y="4416552"/>
            <a:ext cx="11551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HRBP 关注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6364224" y="4837176"/>
            <a:ext cx="4693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红色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7126224" y="4837176"/>
            <a:ext cx="12313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极端词汇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8650224" y="4837176"/>
            <a:ext cx="12313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转接咨询师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10174224" y="4837176"/>
            <a:ext cx="11551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EAP 2h 确认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731520" y="5376672"/>
            <a:ext cx="10744200" cy="914400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1005840" y="55046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D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核心设计原则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1005840" y="5833872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不存储可识别身份信息 · 不保存对话原文（仅提取情绪标签）· 可随时清空记录 · 「AI 预警 + 人工复核」闭环，AI 不自动定性任何员工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识别方式 (二)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如何推荐方案？—— 从信号到行动的完整链路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627632"/>
            <a:ext cx="3429000" cy="749808"/>
          </a:xfrm>
          <a:prstGeom prst="roundRect">
            <a:avLst>
              <a:gd name="adj" fmla="val 14634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801368"/>
            <a:ext cx="402336" cy="402336"/>
          </a:xfrm>
          <a:prstGeom prst="ellipse">
            <a:avLst/>
          </a:prstGeom>
          <a:solidFill>
            <a:srgbClr val="E1943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8013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174650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信号识别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2057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A0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情绪标签+等级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41648" y="1627632"/>
            <a:ext cx="3840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370832" y="1627632"/>
            <a:ext cx="3429000" cy="749808"/>
          </a:xfrm>
          <a:prstGeom prst="roundRect">
            <a:avLst>
              <a:gd name="adj" fmla="val 14634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99432" y="1801368"/>
            <a:ext cx="402336" cy="402336"/>
          </a:xfrm>
          <a:prstGeom prst="ellipse">
            <a:avLst/>
          </a:prstGeom>
          <a:solidFill>
            <a:srgbClr val="E1943B"/>
          </a:solidFill>
          <a:ln/>
        </p:spPr>
      </p:sp>
      <p:sp>
        <p:nvSpPr>
          <p:cNvPr id="12" name="Text 10"/>
          <p:cNvSpPr/>
          <p:nvPr/>
        </p:nvSpPr>
        <p:spPr>
          <a:xfrm>
            <a:off x="4599432" y="18013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48072" y="174650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方案匹配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48072" y="2057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A0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个性化清单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680960" y="1627632"/>
            <a:ext cx="3840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010144" y="1627632"/>
            <a:ext cx="3429000" cy="749808"/>
          </a:xfrm>
          <a:prstGeom prst="roundRect">
            <a:avLst>
              <a:gd name="adj" fmla="val 14634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38744" y="1801368"/>
            <a:ext cx="402336" cy="402336"/>
          </a:xfrm>
          <a:prstGeom prst="ellipse">
            <a:avLst/>
          </a:prstGeom>
          <a:solidFill>
            <a:srgbClr val="E1943B"/>
          </a:solidFill>
          <a:ln/>
        </p:spPr>
      </p:sp>
      <p:sp>
        <p:nvSpPr>
          <p:cNvPr id="18" name="Text 16"/>
          <p:cNvSpPr/>
          <p:nvPr/>
        </p:nvSpPr>
        <p:spPr>
          <a:xfrm>
            <a:off x="8238744" y="18013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787384" y="174650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触达执行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787384" y="2057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A0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完整闭环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2542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情绪标签 → 活动映射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31520" y="2816352"/>
            <a:ext cx="5349240" cy="1627632"/>
          </a:xfrm>
          <a:prstGeom prst="roundRect">
            <a:avLst>
              <a:gd name="adj" fmla="val 6742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2816352"/>
            <a:ext cx="5349240" cy="365760"/>
          </a:xfrm>
          <a:prstGeom prst="roundRect">
            <a:avLst>
              <a:gd name="adj" fmla="val 30000"/>
            </a:avLst>
          </a:prstGeom>
          <a:solidFill>
            <a:srgbClr val="2C5F2D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3054096"/>
            <a:ext cx="534924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5" name="Text 23"/>
          <p:cNvSpPr/>
          <p:nvPr/>
        </p:nvSpPr>
        <p:spPr>
          <a:xfrm>
            <a:off x="877824" y="2816352"/>
            <a:ext cx="90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情绪标签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076792" y="2816352"/>
            <a:ext cx="3857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 → 黄 → 红 分层推荐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77824" y="3182112"/>
            <a:ext cx="906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焦虑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076792" y="3182112"/>
            <a:ext cx="38576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呼吸着陆法 / 正念工作坊 / 一对一疏导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1520" y="3602736"/>
            <a:ext cx="5349240" cy="420624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30" name="Text 28"/>
          <p:cNvSpPr/>
          <p:nvPr/>
        </p:nvSpPr>
        <p:spPr>
          <a:xfrm>
            <a:off x="877824" y="3602736"/>
            <a:ext cx="906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疲惫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076792" y="3602736"/>
            <a:ext cx="38576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身体扫描 / 能量唤醒 / 一对一修复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77824" y="4023360"/>
            <a:ext cx="906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低落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076792" y="4023360"/>
            <a:ext cx="38576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三件好事 / 叙事小组 / 意义重构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31520" y="4480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个性化推荐逻辑（三维度）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31520" y="4754880"/>
            <a:ext cx="5349240" cy="1627632"/>
          </a:xfrm>
          <a:prstGeom prst="roundRect">
            <a:avLst>
              <a:gd name="adj" fmla="val 6742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31520" y="4754880"/>
            <a:ext cx="5349240" cy="365760"/>
          </a:xfrm>
          <a:prstGeom prst="roundRect">
            <a:avLst>
              <a:gd name="adj" fmla="val 30000"/>
            </a:avLst>
          </a:prstGeom>
          <a:solidFill>
            <a:srgbClr val="2C5F2D"/>
          </a:solidFill>
          <a:ln/>
        </p:spPr>
      </p:sp>
      <p:sp>
        <p:nvSpPr>
          <p:cNvPr id="37" name="Shape 35"/>
          <p:cNvSpPr/>
          <p:nvPr/>
        </p:nvSpPr>
        <p:spPr>
          <a:xfrm>
            <a:off x="731520" y="4992624"/>
            <a:ext cx="534924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8" name="Text 36"/>
          <p:cNvSpPr/>
          <p:nvPr/>
        </p:nvSpPr>
        <p:spPr>
          <a:xfrm>
            <a:off x="877824" y="4754880"/>
            <a:ext cx="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131552" y="4754880"/>
            <a:ext cx="1295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719608" y="4754880"/>
            <a:ext cx="2214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推荐策略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77824" y="5120640"/>
            <a:ext cx="961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员工画像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131552" y="5120640"/>
            <a:ext cx="12954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岗位/部门/职级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719608" y="5120640"/>
            <a:ext cx="2214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程序员推线上，工人推线下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31520" y="5541264"/>
            <a:ext cx="5349240" cy="420624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45" name="Text 43"/>
          <p:cNvSpPr/>
          <p:nvPr/>
        </p:nvSpPr>
        <p:spPr>
          <a:xfrm>
            <a:off x="877824" y="5541264"/>
            <a:ext cx="961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情绪轨迹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131552" y="5541264"/>
            <a:ext cx="12954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近30天标签趋势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719608" y="5541264"/>
            <a:ext cx="2214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持续疲惫→能量；突发→正念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77824" y="5961888"/>
            <a:ext cx="961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参与历史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131552" y="5961888"/>
            <a:ext cx="12954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过往活动反馈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719608" y="5961888"/>
            <a:ext cx="2214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正念好评→进阶叙事疗愈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217920" y="2542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六大行业 × 情绪信号 × 推荐活动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6217920" y="2816352"/>
            <a:ext cx="5257800" cy="3163824"/>
          </a:xfrm>
          <a:prstGeom prst="roundRect">
            <a:avLst>
              <a:gd name="adj" fmla="val 3468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217920" y="2816352"/>
            <a:ext cx="5257800" cy="365760"/>
          </a:xfrm>
          <a:prstGeom prst="roundRect">
            <a:avLst>
              <a:gd name="adj" fmla="val 30000"/>
            </a:avLst>
          </a:prstGeom>
          <a:solidFill>
            <a:srgbClr val="2C5F2D"/>
          </a:solidFill>
          <a:ln/>
        </p:spPr>
      </p:sp>
      <p:sp>
        <p:nvSpPr>
          <p:cNvPr id="54" name="Shape 52"/>
          <p:cNvSpPr/>
          <p:nvPr/>
        </p:nvSpPr>
        <p:spPr>
          <a:xfrm>
            <a:off x="6217920" y="3054096"/>
            <a:ext cx="525780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5" name="Text 53"/>
          <p:cNvSpPr/>
          <p:nvPr/>
        </p:nvSpPr>
        <p:spPr>
          <a:xfrm>
            <a:off x="6364224" y="2816352"/>
            <a:ext cx="53757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194403" y="2816352"/>
            <a:ext cx="1091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情绪信号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578035" y="2816352"/>
            <a:ext cx="1091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绿色推送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9961666" y="2816352"/>
            <a:ext cx="13677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进阶推荐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364224" y="3182112"/>
            <a:ext cx="537571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互联网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194403" y="3182112"/>
            <a:ext cx="109102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「怕被裁」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8578035" y="3182112"/>
            <a:ext cx="109102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呼吸着陆法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9961666" y="3182112"/>
            <a:ext cx="136775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正念→叙事疗愈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217920" y="3648456"/>
            <a:ext cx="5257800" cy="466344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64" name="Text 62"/>
          <p:cNvSpPr/>
          <p:nvPr/>
        </p:nvSpPr>
        <p:spPr>
          <a:xfrm>
            <a:off x="6364224" y="3648456"/>
            <a:ext cx="537571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7194403" y="3648456"/>
            <a:ext cx="109102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「业绩压垮」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8578035" y="3648456"/>
            <a:ext cx="109102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5分钟正念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9961666" y="3648456"/>
            <a:ext cx="136775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积极心理→跨团队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6364224" y="4114800"/>
            <a:ext cx="537571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医护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7194403" y="4114800"/>
            <a:ext cx="109102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「面对死亡」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8578035" y="4114800"/>
            <a:ext cx="109102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工间舒展操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9961666" y="4114800"/>
            <a:ext cx="136775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巴林特→困境盲盒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6217920" y="4581144"/>
            <a:ext cx="5257800" cy="466344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73" name="Text 71"/>
          <p:cNvSpPr/>
          <p:nvPr/>
        </p:nvSpPr>
        <p:spPr>
          <a:xfrm>
            <a:off x="6364224" y="4581144"/>
            <a:ext cx="537571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7194403" y="4581144"/>
            <a:ext cx="109102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「家长投诉」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8578035" y="4581144"/>
            <a:ext cx="109102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3秒暂停法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9961666" y="4581144"/>
            <a:ext cx="136775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音乐→ABC理论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6364224" y="5047488"/>
            <a:ext cx="537571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7194403" y="5047488"/>
            <a:ext cx="109102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「笑不出来」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8578035" y="5047488"/>
            <a:ext cx="109102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情绪暂停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9961666" y="5047488"/>
            <a:ext cx="136775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心流插花→芳香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217920" y="5513832"/>
            <a:ext cx="5257800" cy="466344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82" name="Text 80"/>
          <p:cNvSpPr/>
          <p:nvPr/>
        </p:nvSpPr>
        <p:spPr>
          <a:xfrm>
            <a:off x="6364224" y="5513832"/>
            <a:ext cx="537571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7194403" y="5513832"/>
            <a:ext cx="109102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「身体疼」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8578035" y="5513832"/>
            <a:ext cx="109102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身体扫描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9961666" y="5513832"/>
            <a:ext cx="136775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沙盘→心灵驿站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731520" y="6419088"/>
            <a:ext cx="10744200" cy="365760"/>
          </a:xfrm>
          <a:prstGeom prst="roundRect">
            <a:avLst>
              <a:gd name="adj" fmla="val 30000"/>
            </a:avLst>
          </a:prstGeom>
          <a:solidFill>
            <a:srgbClr val="EDF1E6"/>
          </a:solidFill>
          <a:ln/>
        </p:spPr>
      </p:sp>
      <p:sp>
        <p:nvSpPr>
          <p:cNvPr id="87" name="Text 85"/>
          <p:cNvSpPr/>
          <p:nvPr/>
        </p:nvSpPr>
        <p:spPr>
          <a:xfrm>
            <a:off x="914400" y="641908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推荐引擎是「翻译器」——员工看到的是「有一场正念工作坊很适合你」，而不是「你有焦虑症状需要治疗」。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预期效果 · 评估 · 国际对齐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效果如何衡量？如何对齐 SDGs / ESG 国际标准？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预期效果总览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883664"/>
            <a:ext cx="5349240" cy="1810512"/>
          </a:xfrm>
          <a:prstGeom prst="roundRect">
            <a:avLst>
              <a:gd name="adj" fmla="val 6061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883664"/>
            <a:ext cx="5349240" cy="347472"/>
          </a:xfrm>
          <a:prstGeom prst="roundRect">
            <a:avLst>
              <a:gd name="adj" fmla="val 31579"/>
            </a:avLst>
          </a:prstGeom>
          <a:solidFill>
            <a:srgbClr val="2C5F2D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103120"/>
            <a:ext cx="534924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" y="1883664"/>
            <a:ext cx="1082911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53343" y="1883664"/>
            <a:ext cx="1541417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087368" y="1883664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57216" y="1883664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77824" y="2231136"/>
            <a:ext cx="10829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心理安全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253343" y="2231136"/>
            <a:ext cx="154141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PSI得分(7分)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087368" y="223113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3.2–3.8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157216" y="223113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≥5.5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1520" y="2596896"/>
            <a:ext cx="5349240" cy="36576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17" name="Text 15"/>
          <p:cNvSpPr/>
          <p:nvPr/>
        </p:nvSpPr>
        <p:spPr>
          <a:xfrm>
            <a:off x="877824" y="2596896"/>
            <a:ext cx="10829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留任意向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253343" y="2596896"/>
            <a:ext cx="154141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主动离职率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087368" y="259689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35%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157216" y="259689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≤15%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77824" y="2962656"/>
            <a:ext cx="10829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疗愈覆盖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253343" y="2962656"/>
            <a:ext cx="154141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AI树洞使用率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087368" y="296265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0%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157216" y="296265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≥40%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31520" y="3328416"/>
            <a:ext cx="5349240" cy="36576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26" name="Text 24"/>
          <p:cNvSpPr/>
          <p:nvPr/>
        </p:nvSpPr>
        <p:spPr>
          <a:xfrm>
            <a:off x="877824" y="3328416"/>
            <a:ext cx="10829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疗愈效果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253343" y="3328416"/>
            <a:ext cx="154141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情绪改善比例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087368" y="332841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0%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157216" y="332841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≥60%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31520" y="378561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分行业预期效果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31520" y="4023360"/>
            <a:ext cx="5349240" cy="2542032"/>
          </a:xfrm>
          <a:prstGeom prst="roundRect">
            <a:avLst>
              <a:gd name="adj" fmla="val 4317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31520" y="4023360"/>
            <a:ext cx="5349240" cy="347472"/>
          </a:xfrm>
          <a:prstGeom prst="roundRect">
            <a:avLst>
              <a:gd name="adj" fmla="val 31579"/>
            </a:avLst>
          </a:prstGeom>
          <a:solidFill>
            <a:srgbClr val="2C5F2D"/>
          </a:solidFill>
          <a:ln/>
        </p:spPr>
      </p:sp>
      <p:sp>
        <p:nvSpPr>
          <p:cNvPr id="33" name="Shape 31"/>
          <p:cNvSpPr/>
          <p:nvPr/>
        </p:nvSpPr>
        <p:spPr>
          <a:xfrm>
            <a:off x="731520" y="4242816"/>
            <a:ext cx="534924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4" name="Text 32"/>
          <p:cNvSpPr/>
          <p:nvPr/>
        </p:nvSpPr>
        <p:spPr>
          <a:xfrm>
            <a:off x="877824" y="4023360"/>
            <a:ext cx="9881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158628" y="4023360"/>
            <a:ext cx="2721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核心预期效果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72284" y="4023360"/>
            <a:ext cx="7621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周期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77824" y="4370832"/>
            <a:ext cx="9881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互联网/IT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158628" y="4370832"/>
            <a:ext cx="2721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PSI 3.5→5.8；焦虑信号↓50%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172284" y="4370832"/>
            <a:ext cx="7621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3个月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31520" y="4736592"/>
            <a:ext cx="5349240" cy="36576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41" name="Text 39"/>
          <p:cNvSpPr/>
          <p:nvPr/>
        </p:nvSpPr>
        <p:spPr>
          <a:xfrm>
            <a:off x="877824" y="4736592"/>
            <a:ext cx="9881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金融/银行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158628" y="4736592"/>
            <a:ext cx="2721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PSI 3.2→5.5；离职率→15%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172284" y="4736592"/>
            <a:ext cx="7621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6个月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77824" y="5102352"/>
            <a:ext cx="9881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医护/护理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158628" y="5102352"/>
            <a:ext cx="2721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抑郁自评↓30%；巴林特参与≥70%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172284" y="5102352"/>
            <a:ext cx="7621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3个月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31520" y="5468112"/>
            <a:ext cx="5349240" cy="36576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48" name="Text 46"/>
          <p:cNvSpPr/>
          <p:nvPr/>
        </p:nvSpPr>
        <p:spPr>
          <a:xfrm>
            <a:off x="877824" y="5468112"/>
            <a:ext cx="9881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2158628" y="5468112"/>
            <a:ext cx="2721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MBI 倦怠得分↓25%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172284" y="5468112"/>
            <a:ext cx="7621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3个月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877824" y="5833872"/>
            <a:ext cx="9881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客服/服务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2158628" y="5833872"/>
            <a:ext cx="2721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情绪耗竭得分↓30%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172284" y="5833872"/>
            <a:ext cx="7621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3个月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31520" y="6199632"/>
            <a:ext cx="5349240" cy="36576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55" name="Text 53"/>
          <p:cNvSpPr/>
          <p:nvPr/>
        </p:nvSpPr>
        <p:spPr>
          <a:xfrm>
            <a:off x="877824" y="6199632"/>
            <a:ext cx="9881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制造/汽车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2158628" y="6199632"/>
            <a:ext cx="2721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躯体紧张↓40%；驿站使用≥50%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5172284" y="6199632"/>
            <a:ext cx="7621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6个月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217920" y="1645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四层评估体系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6217920" y="1883664"/>
            <a:ext cx="5257800" cy="2176272"/>
          </a:xfrm>
          <a:prstGeom prst="roundRect">
            <a:avLst>
              <a:gd name="adj" fmla="val 5042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217920" y="1883664"/>
            <a:ext cx="5257800" cy="347472"/>
          </a:xfrm>
          <a:prstGeom prst="roundRect">
            <a:avLst>
              <a:gd name="adj" fmla="val 31579"/>
            </a:avLst>
          </a:prstGeom>
          <a:solidFill>
            <a:srgbClr val="2C5F2D"/>
          </a:solidFill>
          <a:ln/>
        </p:spPr>
      </p:sp>
      <p:sp>
        <p:nvSpPr>
          <p:cNvPr id="61" name="Shape 59"/>
          <p:cNvSpPr/>
          <p:nvPr/>
        </p:nvSpPr>
        <p:spPr>
          <a:xfrm>
            <a:off x="6217920" y="2103120"/>
            <a:ext cx="525780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2" name="Text 60"/>
          <p:cNvSpPr/>
          <p:nvPr/>
        </p:nvSpPr>
        <p:spPr>
          <a:xfrm>
            <a:off x="6364224" y="1883664"/>
            <a:ext cx="35561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层级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7012446" y="1883664"/>
            <a:ext cx="14359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评估内容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741038" y="1883664"/>
            <a:ext cx="114788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10181531" y="1883664"/>
            <a:ext cx="114788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频次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364224" y="2231136"/>
            <a:ext cx="3556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L0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7012446" y="2231136"/>
            <a:ext cx="1435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使用率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8741038" y="2231136"/>
            <a:ext cx="11478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系统后台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10181531" y="2231136"/>
            <a:ext cx="11478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实时/周度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6217920" y="2596896"/>
            <a:ext cx="5257800" cy="36576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71" name="Text 69"/>
          <p:cNvSpPr/>
          <p:nvPr/>
        </p:nvSpPr>
        <p:spPr>
          <a:xfrm>
            <a:off x="6364224" y="2596896"/>
            <a:ext cx="3556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7012446" y="2596896"/>
            <a:ext cx="1435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即时反馈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8741038" y="2596896"/>
            <a:ext cx="11478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情绪温度计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10181531" y="2596896"/>
            <a:ext cx="11478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每场后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6364224" y="2962656"/>
            <a:ext cx="3556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7012446" y="2962656"/>
            <a:ext cx="1435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短期效果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8741038" y="2962656"/>
            <a:ext cx="11478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简讯随访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10181531" y="2962656"/>
            <a:ext cx="11478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第3/7天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6217920" y="3328416"/>
            <a:ext cx="5257800" cy="36576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80" name="Text 78"/>
          <p:cNvSpPr/>
          <p:nvPr/>
        </p:nvSpPr>
        <p:spPr>
          <a:xfrm>
            <a:off x="6364224" y="3328416"/>
            <a:ext cx="3556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7012446" y="3328416"/>
            <a:ext cx="1435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中期效果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8741038" y="3328416"/>
            <a:ext cx="11478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PSI问卷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10181531" y="3328416"/>
            <a:ext cx="11478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月/季度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6364224" y="3694176"/>
            <a:ext cx="3556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7012446" y="3694176"/>
            <a:ext cx="1435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长期影响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8741038" y="3694176"/>
            <a:ext cx="11478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离职率+绩效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10181531" y="3694176"/>
            <a:ext cx="11478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半年/年</a:t>
            </a:r>
            <a:endParaRPr lang="en-US" sz="950" dirty="0"/>
          </a:p>
        </p:txBody>
      </p:sp>
      <p:sp>
        <p:nvSpPr>
          <p:cNvPr id="88" name="Text 86"/>
          <p:cNvSpPr/>
          <p:nvPr/>
        </p:nvSpPr>
        <p:spPr>
          <a:xfrm>
            <a:off x="6217920" y="41148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SDGs / ESG 国际标准对齐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6217920" y="4352544"/>
            <a:ext cx="5257800" cy="2542032"/>
          </a:xfrm>
          <a:prstGeom prst="roundRect">
            <a:avLst>
              <a:gd name="adj" fmla="val 4317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6217920" y="4352544"/>
            <a:ext cx="5257800" cy="347472"/>
          </a:xfrm>
          <a:prstGeom prst="roundRect">
            <a:avLst>
              <a:gd name="adj" fmla="val 31579"/>
            </a:avLst>
          </a:prstGeom>
          <a:solidFill>
            <a:srgbClr val="2C5F2D"/>
          </a:solidFill>
          <a:ln/>
        </p:spPr>
      </p:sp>
      <p:sp>
        <p:nvSpPr>
          <p:cNvPr id="91" name="Shape 89"/>
          <p:cNvSpPr/>
          <p:nvPr/>
        </p:nvSpPr>
        <p:spPr>
          <a:xfrm>
            <a:off x="6217920" y="4572000"/>
            <a:ext cx="525780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2" name="Text 90"/>
          <p:cNvSpPr/>
          <p:nvPr/>
        </p:nvSpPr>
        <p:spPr>
          <a:xfrm>
            <a:off x="6364224" y="4352544"/>
            <a:ext cx="140844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 / 维度</a:t>
            </a:r>
            <a:endParaRPr lang="en-US" sz="1000" dirty="0"/>
          </a:p>
        </p:txBody>
      </p:sp>
      <p:sp>
        <p:nvSpPr>
          <p:cNvPr id="93" name="Text 91"/>
          <p:cNvSpPr/>
          <p:nvPr/>
        </p:nvSpPr>
        <p:spPr>
          <a:xfrm>
            <a:off x="8065277" y="4352544"/>
            <a:ext cx="326413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方案贡献</a:t>
            </a:r>
            <a:endParaRPr lang="en-US" sz="1000" dirty="0"/>
          </a:p>
        </p:txBody>
      </p:sp>
      <p:sp>
        <p:nvSpPr>
          <p:cNvPr id="94" name="Text 92"/>
          <p:cNvSpPr/>
          <p:nvPr/>
        </p:nvSpPr>
        <p:spPr>
          <a:xfrm>
            <a:off x="6364224" y="4700016"/>
            <a:ext cx="140844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SDG 3 健康</a:t>
            </a:r>
            <a:endParaRPr lang="en-US" sz="950" dirty="0"/>
          </a:p>
        </p:txBody>
      </p:sp>
      <p:sp>
        <p:nvSpPr>
          <p:cNvPr id="95" name="Text 93"/>
          <p:cNvSpPr/>
          <p:nvPr/>
        </p:nvSpPr>
        <p:spPr>
          <a:xfrm>
            <a:off x="8065277" y="4700016"/>
            <a:ext cx="32641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心理健康与疗愈服务应对企业压力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6217920" y="5065776"/>
            <a:ext cx="5257800" cy="36576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97" name="Text 95"/>
          <p:cNvSpPr/>
          <p:nvPr/>
        </p:nvSpPr>
        <p:spPr>
          <a:xfrm>
            <a:off x="6364224" y="5065776"/>
            <a:ext cx="140844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SDG 5 性别平等</a:t>
            </a:r>
            <a:endParaRPr lang="en-US" sz="950" dirty="0"/>
          </a:p>
        </p:txBody>
      </p:sp>
      <p:sp>
        <p:nvSpPr>
          <p:cNvPr id="98" name="Text 96"/>
          <p:cNvSpPr/>
          <p:nvPr/>
        </p:nvSpPr>
        <p:spPr>
          <a:xfrm>
            <a:off x="8065277" y="5065776"/>
            <a:ext cx="32641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赋能女性员工，平等返岗与DEI</a:t>
            </a:r>
            <a:endParaRPr lang="en-US" sz="950" dirty="0"/>
          </a:p>
        </p:txBody>
      </p:sp>
      <p:sp>
        <p:nvSpPr>
          <p:cNvPr id="99" name="Text 97"/>
          <p:cNvSpPr/>
          <p:nvPr/>
        </p:nvSpPr>
        <p:spPr>
          <a:xfrm>
            <a:off x="6364224" y="5431536"/>
            <a:ext cx="140844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SDG 8 体面工作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8065277" y="5431536"/>
            <a:ext cx="32641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提升充分就业，保障安全环境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6217920" y="5797296"/>
            <a:ext cx="5257800" cy="36576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102" name="Text 100"/>
          <p:cNvSpPr/>
          <p:nvPr/>
        </p:nvSpPr>
        <p:spPr>
          <a:xfrm>
            <a:off x="6364224" y="5797296"/>
            <a:ext cx="140844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GRI 403 员工福祉</a:t>
            </a:r>
            <a:endParaRPr lang="en-US" sz="950" dirty="0"/>
          </a:p>
        </p:txBody>
      </p:sp>
      <p:sp>
        <p:nvSpPr>
          <p:cNvPr id="103" name="Text 101"/>
          <p:cNvSpPr/>
          <p:nvPr/>
        </p:nvSpPr>
        <p:spPr>
          <a:xfrm>
            <a:off x="8065277" y="5797296"/>
            <a:ext cx="32641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追踪心理安全并提供疗愈支持</a:t>
            </a:r>
            <a:endParaRPr lang="en-US" sz="950" dirty="0"/>
          </a:p>
        </p:txBody>
      </p:sp>
      <p:sp>
        <p:nvSpPr>
          <p:cNvPr id="104" name="Text 102"/>
          <p:cNvSpPr/>
          <p:nvPr/>
        </p:nvSpPr>
        <p:spPr>
          <a:xfrm>
            <a:off x="6364224" y="6163056"/>
            <a:ext cx="140844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GRI 405-1 DEI</a:t>
            </a:r>
            <a:endParaRPr lang="en-US" sz="950" dirty="0"/>
          </a:p>
        </p:txBody>
      </p:sp>
      <p:sp>
        <p:nvSpPr>
          <p:cNvPr id="105" name="Text 103"/>
          <p:cNvSpPr/>
          <p:nvPr/>
        </p:nvSpPr>
        <p:spPr>
          <a:xfrm>
            <a:off x="8065277" y="6163056"/>
            <a:ext cx="32641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女性返岗支持与DEI文化建设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6217920" y="6528816"/>
            <a:ext cx="5257800" cy="36576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107" name="Text 105"/>
          <p:cNvSpPr/>
          <p:nvPr/>
        </p:nvSpPr>
        <p:spPr>
          <a:xfrm>
            <a:off x="6364224" y="6528816"/>
            <a:ext cx="140844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 · AI治理章程</a:t>
            </a:r>
            <a:endParaRPr lang="en-US" sz="950" dirty="0"/>
          </a:p>
        </p:txBody>
      </p:sp>
      <p:sp>
        <p:nvSpPr>
          <p:cNvPr id="108" name="Text 106"/>
          <p:cNvSpPr/>
          <p:nvPr/>
        </p:nvSpPr>
        <p:spPr>
          <a:xfrm>
            <a:off x="8065277" y="6528816"/>
            <a:ext cx="32641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隐私保护、假阳性控制、人工审核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2026-07-15T00:21:02Z</dcterms:created>
  <dcterms:modified xsi:type="dcterms:W3CDTF">2026-07-15T00:21:02Z</dcterms:modified>
</cp:coreProperties>
</file>