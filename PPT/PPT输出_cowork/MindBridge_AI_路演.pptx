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937760"/>
            <a:ext cx="3291840" cy="329184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疗愈轨道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负责广度 · 疗愈轨道负责深度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5074920"/>
            <a:ext cx="603504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0749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· 让技术的高效覆盖与疗愈的深度转化在一个系统中共生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路演方案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方案定位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企业心理支持的最大痛点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212080" cy="1828800"/>
          </a:xfrm>
          <a:prstGeom prst="roundRect">
            <a:avLst>
              <a:gd name="adj" fmla="val 70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40280"/>
            <a:ext cx="640080" cy="640080"/>
          </a:xfrm>
          <a:prstGeom prst="ellipse">
            <a:avLst/>
          </a:prstGeom>
          <a:solidFill>
            <a:srgbClr val="F3D9A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2240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不敢求助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员工担心被贴标签、影响职业发展，心理困扰长期积压，问题被拖延甚至恶化。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12080" cy="1828800"/>
          </a:xfrm>
          <a:prstGeom prst="roundRect">
            <a:avLst>
              <a:gd name="adj" fmla="val 70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40280"/>
            <a:ext cx="640080" cy="640080"/>
          </a:xfrm>
          <a:prstGeom prst="ellipse">
            <a:avLst/>
          </a:prstGeom>
          <a:solidFill>
            <a:srgbClr val="F3D9A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2240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治标不治本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2971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即便求助，得到的往往只是一套「话术」——缺乏深度陪伴，无法真正转化情绪。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10744200" cy="1965960"/>
          </a:xfrm>
          <a:prstGeom prst="roundRect">
            <a:avLst>
              <a:gd name="adj" fmla="val 651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4434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我们的答案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48006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预警与推荐 + 疗愈师深度陪伴」双轨模型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43000" y="5440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不替代疗愈，而是让疗愈服务在关键时刻可及 —— AI 只做「读数」和「吹哨」，真正的疗愈由人来完成。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双轨并行，共生协同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4892040" cy="4023360"/>
          </a:xfrm>
          <a:prstGeom prst="roundRect">
            <a:avLst>
              <a:gd name="adj" fmla="val 318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4892040" cy="868680"/>
          </a:xfrm>
          <a:prstGeom prst="roundRect">
            <a:avLst>
              <a:gd name="adj" fmla="val 14737"/>
            </a:avLst>
          </a:prstGeom>
          <a:solidFill>
            <a:srgbClr val="7BA05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514600"/>
            <a:ext cx="4892040" cy="320040"/>
          </a:xfrm>
          <a:prstGeom prst="rect">
            <a:avLst/>
          </a:prstGeom>
          <a:solidFill>
            <a:srgbClr val="7BA05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 · 广度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51560" y="3063240"/>
            <a:ext cx="310896" cy="310896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3008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降低求助门槛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33558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匿名、24h可用，40%+职场人愿向AI倾诉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51560" y="3995928"/>
            <a:ext cx="310896" cy="310896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9410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主动预警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42885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面部微表情 / 关键词识别，提前发现信号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51560" y="4928616"/>
            <a:ext cx="310896" cy="310896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73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个性化匹配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52212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把情绪信号翻译成可执行的疗愈方案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1965960"/>
            <a:ext cx="4892040" cy="4023360"/>
          </a:xfrm>
          <a:prstGeom prst="roundRect">
            <a:avLst>
              <a:gd name="adj" fmla="val 318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1965960"/>
            <a:ext cx="4892040" cy="868680"/>
          </a:xfrm>
          <a:prstGeom prst="roundRect">
            <a:avLst>
              <a:gd name="adj" fmla="val 14737"/>
            </a:avLst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2514600"/>
            <a:ext cx="489204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9659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 · 深度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03720" y="3063240"/>
            <a:ext cx="310896" cy="31089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3008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非病理化疗愈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0920" y="33558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聚焦能量转化、情绪疏导与整体平衡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03720" y="3995928"/>
            <a:ext cx="310896" cy="31089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39410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深度陪伴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42885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解读报告、谈心疏导、一对一陪伴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03720" y="4928616"/>
            <a:ext cx="310896" cy="31089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4873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工作调整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60920" y="52212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协同HRBP、主管落地关怀与成长支持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705856" y="3657600"/>
            <a:ext cx="777240" cy="777240"/>
          </a:xfrm>
          <a:prstGeom prst="ellipse">
            <a:avLst/>
          </a:prstGeom>
          <a:solidFill>
            <a:srgbClr val="E1943B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共生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" y="61722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是疗愈师的「扩音器」与「望远镜」：扩大服务覆盖，提前识别最需要深度支持的人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市场靶向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六大高内耗行业，广阔市场空间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2148840" cy="685800"/>
          </a:xfrm>
          <a:prstGeom prst="roundRect">
            <a:avLst>
              <a:gd name="adj" fmla="val 1866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329184" cy="329184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57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53312" y="1874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1874520"/>
            <a:ext cx="2148840" cy="685800"/>
          </a:xfrm>
          <a:prstGeom prst="roundRect">
            <a:avLst>
              <a:gd name="adj" fmla="val 1866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2057400"/>
            <a:ext cx="329184" cy="329184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2057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85032" y="1874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1874520"/>
            <a:ext cx="2148840" cy="685800"/>
          </a:xfrm>
          <a:prstGeom prst="roundRect">
            <a:avLst>
              <a:gd name="adj" fmla="val 1866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96128" y="2057400"/>
            <a:ext cx="329184" cy="329184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14" name="Text 12"/>
          <p:cNvSpPr/>
          <p:nvPr/>
        </p:nvSpPr>
        <p:spPr>
          <a:xfrm>
            <a:off x="5596128" y="2057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16752" y="1874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743200"/>
            <a:ext cx="2148840" cy="685800"/>
          </a:xfrm>
          <a:prstGeom prst="roundRect">
            <a:avLst>
              <a:gd name="adj" fmla="val 1866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" y="2926080"/>
            <a:ext cx="329184" cy="329184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53312" y="27432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63240" y="2743200"/>
            <a:ext cx="2148840" cy="685800"/>
          </a:xfrm>
          <a:prstGeom prst="roundRect">
            <a:avLst>
              <a:gd name="adj" fmla="val 1866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2926080"/>
            <a:ext cx="329184" cy="329184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85032" y="27432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94960" y="2743200"/>
            <a:ext cx="2148840" cy="685800"/>
          </a:xfrm>
          <a:prstGeom prst="roundRect">
            <a:avLst>
              <a:gd name="adj" fmla="val 1866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96128" y="2926080"/>
            <a:ext cx="329184" cy="329184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26" name="Text 24"/>
          <p:cNvSpPr/>
          <p:nvPr/>
        </p:nvSpPr>
        <p:spPr>
          <a:xfrm>
            <a:off x="5596128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27432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37033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筛选逻辑：心理内耗严重 · 有采购意愿与支付能力 · 双轨模式能精准解决痛点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434340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4526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$79.5亿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960120" y="5349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全球EAP市场 2031年规模（CAGR 7.5%）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43400" y="434340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0" y="4526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52.1%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4572000" y="5349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职场人曾有焦虑不安等心理表现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955280" y="434340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83880" y="4526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83.7%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8183880" y="5349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认为情绪劳动已不限于服务行业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31520" y="6309360"/>
            <a:ext cx="10744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采购趋势：南网数字集团、海南电网、长江电力、中国电信等已公开采购员工心理关爱服务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识别引擎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四种已落地验证的识别方式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212080" cy="1920240"/>
          </a:xfrm>
          <a:prstGeom prst="roundRect">
            <a:avLst>
              <a:gd name="adj" fmla="val 666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2130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1分钟心灵体检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709160" y="216712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F3D9A8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167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587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面部微表情识别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0449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武汉公交、江苏交控已落地：静坐1分钟生成可视化心理评估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212080" cy="1920240"/>
          </a:xfrm>
          <a:prstGeom prst="roundRect">
            <a:avLst>
              <a:gd name="adj" fmla="val 666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19456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52360" y="2130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241280" y="216712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F3D9A8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0" y="2167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2587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 匿名倾诉平台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0449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郑州高新区接入大模型，累计响应职工诉求 1300+ 次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5212080" cy="1920240"/>
          </a:xfrm>
          <a:prstGeom prst="roundRect">
            <a:avLst>
              <a:gd name="adj" fmla="val 666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51560" y="434340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343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920240" y="4279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思想画像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709160" y="431596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F3D9A8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31596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20240" y="4736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多维行为数据研判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51937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胜利油田：录入行为数据生成精准画像与帮扶方案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4023360"/>
            <a:ext cx="5212080" cy="1920240"/>
          </a:xfrm>
          <a:prstGeom prst="roundRect">
            <a:avLst>
              <a:gd name="adj" fmla="val 666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0" y="434340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343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52360" y="4279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摄像头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10241280" y="431596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F3D9A8"/>
          </a:solidFill>
          <a:ln/>
        </p:spPr>
      </p:sp>
      <p:sp>
        <p:nvSpPr>
          <p:cNvPr id="33" name="Text 31"/>
          <p:cNvSpPr/>
          <p:nvPr/>
        </p:nvSpPr>
        <p:spPr>
          <a:xfrm>
            <a:off x="10241280" y="431596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52360" y="4736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高危岗位实时预警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29400" y="51937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山西焦煤：井下作业实时情绪识别，隐患消灭在入井前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1520" y="6263640"/>
            <a:ext cx="1074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核心边界：AI 只负责「读数」，不做任何诊断 —— 所有预警必须经人工复核后再介入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推荐引擎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从信号到行动的完整闭环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731520" cy="73152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判定预警等级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 日常 / 黄色 需关注 / 红色 紧急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0" y="2011680"/>
            <a:ext cx="457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286000"/>
            <a:ext cx="731520" cy="73152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916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匹配疗愈资源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37490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 → 活动类型：疲惫→能量唤醒，焦虑→正念呼吸…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8120" y="2011680"/>
            <a:ext cx="457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138160" y="201168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2286000"/>
            <a:ext cx="731520" cy="73152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1248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差异化触达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37490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绿色自动推送 · 黄色人工复核 · 红色紧急转接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709160"/>
            <a:ext cx="10744200" cy="1600200"/>
          </a:xfrm>
          <a:prstGeom prst="roundRect">
            <a:avLst>
              <a:gd name="adj" fmla="val 8000"/>
            </a:avLst>
          </a:prstGeom>
          <a:solidFill>
            <a:srgbClr val="356B36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五步闭环原则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3949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 → AI识别（情绪标签+等级）→ 差异化触发 → 人工复核+疗愈介入 → 效果追踪+闭环反馈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97280" y="5852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只做识别和推荐，不做诊断和治疗；真正的疗愈由疗愈师、HRBP、主管协同完成。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落地活动：按情绪类型 × 行业精准匹配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221992"/>
            <a:ext cx="502920" cy="50292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4963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焦虑缓解工作坊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7552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赶工焦虑 · 业绩压力 · 注意力涣散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1965960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2221992"/>
            <a:ext cx="502920" cy="50292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5232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85232" y="24963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身心修复工作坊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26864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长期加班 · 身心俱疲 · 情绪麻木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1965960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176" y="2221992"/>
            <a:ext cx="502920" cy="50292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24544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艺术疗愈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24544" y="24963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情绪释放工作坊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66176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情绪劳动疲劳 · 强撑笑脸 · 情感透支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383280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7552" y="3639312"/>
            <a:ext cx="502920" cy="50292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3913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深度成长小组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87552" y="4251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价值感丧失 · 存在性焦虑 · 意义困惑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70832" y="3383280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3639312"/>
            <a:ext cx="502920" cy="50292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30" name="Text 28"/>
          <p:cNvSpPr/>
          <p:nvPr/>
        </p:nvSpPr>
        <p:spPr>
          <a:xfrm>
            <a:off x="4626864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85232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身体觉知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85232" y="3913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解压释放工作坊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26864" y="4251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肩颈僵硬 · 失眠 · 压抑愤怒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10144" y="3383280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66176" y="3639312"/>
            <a:ext cx="502920" cy="50292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36" name="Text 34"/>
          <p:cNvSpPr/>
          <p:nvPr/>
        </p:nvSpPr>
        <p:spPr>
          <a:xfrm>
            <a:off x="8266176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24544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心理嘉年华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24544" y="3913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团队游园会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266176" y="4251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团队氛围沉闷 · 凝聚力下降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626364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通用版 6 大情绪活动 + 行业版精准对标：互联网「情绪红绿灯」· 医护「巴林特小组」· 教育「奥尔夫音乐疗愈」· 制造「沙盘疗愈」…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个阶段 × 双轨并行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11680"/>
            <a:ext cx="2514600" cy="914400"/>
          </a:xfrm>
          <a:prstGeom prst="roundRect">
            <a:avLst>
              <a:gd name="adj" fmla="val 14000"/>
            </a:avLst>
          </a:prstGeom>
          <a:solidFill>
            <a:srgbClr val="7BA05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560320"/>
            <a:ext cx="2514600" cy="365760"/>
          </a:xfrm>
          <a:prstGeom prst="rect">
            <a:avLst/>
          </a:prstGeom>
          <a:solidFill>
            <a:srgbClr val="7BA05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214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调研评估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需求诊断、基线测评、方案定制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0" y="2011680"/>
            <a:ext cx="502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456432" y="201168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56432" y="2011680"/>
            <a:ext cx="2514600" cy="914400"/>
          </a:xfrm>
          <a:prstGeom prst="roundRect">
            <a:avLst>
              <a:gd name="adj" fmla="val 14000"/>
            </a:avLst>
          </a:prstGeom>
          <a:solidFill>
            <a:srgbClr val="2C5F2D"/>
          </a:solidFill>
          <a:ln/>
        </p:spPr>
      </p:sp>
      <p:sp>
        <p:nvSpPr>
          <p:cNvPr id="14" name="Shape 12"/>
          <p:cNvSpPr/>
          <p:nvPr/>
        </p:nvSpPr>
        <p:spPr>
          <a:xfrm>
            <a:off x="3456432" y="2560320"/>
            <a:ext cx="251460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21214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6432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39312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系统上线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85032" y="374904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AI识别模块部署，1-2周即可上线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33872" y="2011680"/>
            <a:ext cx="502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181344" y="201168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2011680"/>
            <a:ext cx="2514600" cy="914400"/>
          </a:xfrm>
          <a:prstGeom prst="roundRect">
            <a:avLst>
              <a:gd name="adj" fmla="val 14000"/>
            </a:avLst>
          </a:prstGeom>
          <a:solidFill>
            <a:srgbClr val="7BA05B"/>
          </a:solidFill>
          <a:ln/>
        </p:spPr>
      </p:sp>
      <p:sp>
        <p:nvSpPr>
          <p:cNvPr id="22" name="Shape 20"/>
          <p:cNvSpPr/>
          <p:nvPr/>
        </p:nvSpPr>
        <p:spPr>
          <a:xfrm>
            <a:off x="6181344" y="2560320"/>
            <a:ext cx="2514600" cy="365760"/>
          </a:xfrm>
          <a:prstGeom prst="rect">
            <a:avLst/>
          </a:prstGeom>
          <a:solidFill>
            <a:srgbClr val="7BA05B"/>
          </a:solidFill>
          <a:ln/>
        </p:spPr>
      </p:sp>
      <p:sp>
        <p:nvSpPr>
          <p:cNvPr id="23" name="Text 21"/>
          <p:cNvSpPr/>
          <p:nvPr/>
        </p:nvSpPr>
        <p:spPr>
          <a:xfrm>
            <a:off x="6181344" y="21214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81344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64224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双轨运行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9944" y="374904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预警推荐 + 疗愈活动常态化交付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58784" y="2011680"/>
            <a:ext cx="502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906256" y="201168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06256" y="2011680"/>
            <a:ext cx="2514600" cy="914400"/>
          </a:xfrm>
          <a:prstGeom prst="roundRect">
            <a:avLst>
              <a:gd name="adj" fmla="val 14000"/>
            </a:avLst>
          </a:prstGeom>
          <a:solidFill>
            <a:srgbClr val="2C5F2D"/>
          </a:solidFill>
          <a:ln/>
        </p:spPr>
      </p:sp>
      <p:sp>
        <p:nvSpPr>
          <p:cNvPr id="30" name="Shape 28"/>
          <p:cNvSpPr/>
          <p:nvPr/>
        </p:nvSpPr>
        <p:spPr>
          <a:xfrm>
            <a:off x="8906256" y="2560320"/>
            <a:ext cx="251460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8906256" y="21214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06256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089136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成长闭环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34856" y="374904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效果追踪、成长报告、持续优化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5623560"/>
            <a:ext cx="10744200" cy="868680"/>
          </a:xfrm>
          <a:prstGeom prst="roundRect">
            <a:avLst>
              <a:gd name="adj" fmla="val 14737"/>
            </a:avLst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562356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目标：推动企业 ESG 绩效与可持续发展，构建可复制的行业标杆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成效案例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员工小王的 30 天 AI 推荐旅程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28700" y="2514600"/>
            <a:ext cx="0" cy="411480"/>
          </a:xfrm>
          <a:prstGeom prst="line">
            <a:avLst/>
          </a:prstGeom>
          <a:noFill/>
          <a:ln w="25400">
            <a:solidFill>
              <a:srgbClr val="AEC79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508760" y="1965960"/>
            <a:ext cx="5577840" cy="822960"/>
          </a:xfrm>
          <a:prstGeom prst="roundRect">
            <a:avLst>
              <a:gd name="adj" fmla="val 15556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37360" y="19659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196596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AI树洞倾诉赶工焦虑 → 绿色预警，自动推送「三分钟呼吸着陆法」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8700" y="3474720"/>
            <a:ext cx="0" cy="411480"/>
          </a:xfrm>
          <a:prstGeom prst="line">
            <a:avLst/>
          </a:prstGeom>
          <a:noFill/>
          <a:ln w="25400">
            <a:solidFill>
              <a:srgbClr val="AEC79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508760" y="2926080"/>
            <a:ext cx="5577840" cy="822960"/>
          </a:xfrm>
          <a:prstGeom prst="roundRect">
            <a:avLst>
              <a:gd name="adj" fmla="val 15556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37360" y="29260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92608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焦虑信号累计3次 → 升级黄色，推送正念工作坊 + 提醒HRBP关注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8700" y="4434840"/>
            <a:ext cx="0" cy="411480"/>
          </a:xfrm>
          <a:prstGeom prst="line">
            <a:avLst/>
          </a:prstGeom>
          <a:noFill/>
          <a:ln w="25400">
            <a:solidFill>
              <a:srgbClr val="AEC79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508760" y="3886200"/>
            <a:ext cx="5577840" cy="822960"/>
          </a:xfrm>
          <a:prstGeom prst="roundRect">
            <a:avLst>
              <a:gd name="adj" fmla="val 15556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37360" y="38862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88920" y="388620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参加「情绪红绿灯」工作坊，情绪温度 4.2 → 6.5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508760" y="4846320"/>
            <a:ext cx="5577840" cy="822960"/>
          </a:xfrm>
          <a:prstGeom prst="roundRect">
            <a:avLst>
              <a:gd name="adj" fmla="val 15556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4846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天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88920" y="484632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参加「身份重塑叙事疗愈」小组，焦虑标签频率下降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52360" y="1965960"/>
            <a:ext cx="4023360" cy="3977640"/>
          </a:xfrm>
          <a:prstGeom prst="roundRect">
            <a:avLst>
              <a:gd name="adj" fmla="val 321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2668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30 天 · 成长报告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72668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情绪温度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26680" y="3154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→ 6.8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72668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疗愈活动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2668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 2 次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726680" y="4800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焦虑信号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26680" y="5074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每周5次 → 1次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726680" y="5486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追踪情绪变化 → 生成成长报告 → 优化后续推荐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4206240" cy="420624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731520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让技术的高效覆盖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与疗愈的深度转化，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在一个系统中共生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10332720" cy="1051560"/>
          </a:xfrm>
          <a:prstGeom prst="roundRect">
            <a:avLst>
              <a:gd name="adj" fmla="val 12174"/>
            </a:avLst>
          </a:prstGeom>
          <a:solidFill>
            <a:srgbClr val="356B36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84632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+ 疗愈轨道 —— 让每一位员工，都被看见、被读懂、被温柔托住。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  ·  路演方案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2026-07-14T13:38:43Z</dcterms:created>
  <dcterms:modified xsi:type="dcterms:W3CDTF">2026-07-14T13:38:43Z</dcterms:modified>
</cp:coreProperties>
</file>