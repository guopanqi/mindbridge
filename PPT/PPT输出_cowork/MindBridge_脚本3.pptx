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554480"/>
            <a:ext cx="4754880" cy="475488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4023360" cy="402336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474720" cy="347472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60120"/>
            <a:ext cx="457200" cy="457200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企业员工心理安全与成长共生系统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</a:t>
            </a:r>
            <a:endParaRPr lang="en-US" sz="56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E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疗愈轨道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负责广度 · 疗愈轨道负责深度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502920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029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预警与推荐 + 疗愈师深度陪伴 —— 让疗愈服务在关键时刻可及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国际疗愈师赛题 × AI 应用创新赛道  融合方案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核心创意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双轨并行 —— AI 负责广度，疗愈轨道负责深度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员工要么不敢求助，要么求助后只得到「治标不治本」的话术。我们创造性提出「AI 预警与推荐 + 疗愈师深度陪伴」双轨模型。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5212080" cy="822960"/>
          </a:xfrm>
          <a:prstGeom prst="roundRect">
            <a:avLst>
              <a:gd name="adj" fmla="val 13333"/>
            </a:avLst>
          </a:prstGeom>
          <a:solidFill>
            <a:srgbClr val="7BA05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697480"/>
            <a:ext cx="5212080" cy="320040"/>
          </a:xfrm>
          <a:prstGeom prst="rect">
            <a:avLst/>
          </a:prstGeom>
          <a:solidFill>
            <a:srgbClr val="7BA05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194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倾听者 + 匹配师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AI树洞情绪识别、预警、个性化推荐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对齐：数字疗愈与 AI 辅助支持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219456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194560"/>
            <a:ext cx="5212080" cy="82296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2697480"/>
            <a:ext cx="521208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94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06840" y="2194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转化师 + 陪伴者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能量疗愈、情绪疏导、深层转化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对齐：疗愈师主体性与专业胜任力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715000" y="3246120"/>
            <a:ext cx="777240" cy="777240"/>
          </a:xfrm>
          <a:prstGeom prst="ellipse">
            <a:avLst/>
          </a:prstGeom>
          <a:solidFill>
            <a:srgbClr val="E1943B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15000" y="3246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937760"/>
            <a:ext cx="10744200" cy="123444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546811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不做诊断，只做「读数」和「吹哨」；真正的疗愈由疗愈师完成。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企业应用场景 (一)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方案针对哪些企业场景？—— 六大高内耗行业靶向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744200" cy="3410712"/>
          </a:xfrm>
          <a:prstGeom prst="roundRect">
            <a:avLst>
              <a:gd name="adj" fmla="val 321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6654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69164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26664" y="1691640"/>
            <a:ext cx="6153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核心内耗表现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73184" y="169164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采购优先级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2194560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26664" y="2194560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65.4% 视「线上秒回」为第二大负担；「被替代」焦虑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473184" y="2194560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2679192"/>
            <a:ext cx="10744200" cy="48463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679192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26664" y="2679192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42.9% 业绩压力为主要负担（全行业第一）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473184" y="2679192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77824" y="3163824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26664" y="3163824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护理人员抑郁率达 11%；共情疲劳高发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73184" y="3163824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31520" y="3648456"/>
            <a:ext cx="10744200" cy="48463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3648456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26664" y="3648456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部分教师抑郁检出率 ＞30%；多重角色耗竭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473184" y="3648456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77824" y="4133088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026664" y="4133088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餐饮服务员女性抑郁率 15%；情绪劳动疲劳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473184" y="4133088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31520" y="4617720"/>
            <a:ext cx="10744200" cy="48463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" y="4617720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026664" y="4617720"/>
            <a:ext cx="6153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新车上市月均加班 140 小时；产线孤独感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473184" y="4617720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31520" y="5440680"/>
            <a:ext cx="3429000" cy="1051560"/>
          </a:xfrm>
          <a:prstGeom prst="roundRect">
            <a:avLst>
              <a:gd name="adj" fmla="val 1043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60120" y="55595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52.1%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960120" y="60167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职场人曾有焦虑不安等心理表现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43400" y="5440680"/>
            <a:ext cx="3429000" cy="1051560"/>
          </a:xfrm>
          <a:prstGeom prst="roundRect">
            <a:avLst>
              <a:gd name="adj" fmla="val 1043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0" y="55595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83.7%</a:t>
            </a:r>
            <a:endParaRPr lang="en-US" sz="2500" dirty="0"/>
          </a:p>
        </p:txBody>
      </p:sp>
      <p:sp>
        <p:nvSpPr>
          <p:cNvPr id="36" name="Text 34"/>
          <p:cNvSpPr/>
          <p:nvPr/>
        </p:nvSpPr>
        <p:spPr>
          <a:xfrm>
            <a:off x="4572000" y="60167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认为情绪劳动已不限于服务行业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55280" y="5440680"/>
            <a:ext cx="3429000" cy="1051560"/>
          </a:xfrm>
          <a:prstGeom prst="roundRect">
            <a:avLst>
              <a:gd name="adj" fmla="val 1043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183880" y="55595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多家央企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8183880" y="60167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南网数字集团、海南电网等已采购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企业应用场景 (二)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精准定义 AI 与疗愈的协同时刻 —— 七大应用场景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744200" cy="4727448"/>
          </a:xfrm>
          <a:prstGeom prst="roundRect">
            <a:avLst>
              <a:gd name="adj" fmla="val 232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1226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737360"/>
            <a:ext cx="1819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场景类型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89932" y="1737360"/>
            <a:ext cx="40234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轨道的角色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05978" y="1737360"/>
            <a:ext cx="40234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疗愈轨道的角色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2240280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通用预防型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89932" y="2240280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AI树洞24h倾诉 + 自动推送资源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05978" y="2240280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全员心理健康教育 + 自助工具包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2843784"/>
            <a:ext cx="10744200" cy="60350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843784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89932" y="2843784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识别焦虑、「被替代」关键词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05978" y="2843784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正念工作坊 + 叙事疗愈小组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77824" y="3447288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89932" y="3447288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监测业绩高压倾诉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05978" y="3447288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积极心理培训 + 跨团队疗愈小组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050792"/>
            <a:ext cx="10744200" cy="60350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4050792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89932" y="4050792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持续倾听 + 情绪耗竭识别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05978" y="4050792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巴林特小组 + 困境盲盒工作坊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" y="4654296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989932" y="4654296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追踪情绪耗竭 + 沟通焦虑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05978" y="4654296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奥尔夫音乐疗愈 + ABC理论工作坊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1520" y="5257800"/>
            <a:ext cx="10744200" cy="60350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" y="5257800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989932" y="5257800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识别情绪崩溃风险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05978" y="5257800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心流插花 + 正念冥想 + 芳香疗愈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77824" y="5861304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989932" y="5861304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识别社交隔离 + 疲劳分析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305978" y="5861304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沙盘疗愈 + 拳击课 + 心灵驿站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目标人群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方案面向谁？—— 三层目标人群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· 直接人群（六大高内耗行业全体员工）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6400800" cy="3959352"/>
          </a:xfrm>
          <a:prstGeom prst="roundRect">
            <a:avLst>
              <a:gd name="adj" fmla="val 277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64008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386584"/>
            <a:ext cx="6400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011680"/>
            <a:ext cx="13918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2245" y="2011680"/>
            <a:ext cx="18971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核心痛点人群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1992" y="2011680"/>
            <a:ext cx="2234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2514600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互联网/IT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2245" y="2514600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赶工期全员 + 35+员工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1992" y="2514600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线上秒回 65.4%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090672"/>
            <a:ext cx="6400800" cy="57607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3090672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金融/银行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2245" y="3090672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一线业务岗 + 决策岗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1992" y="3090672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业绩压力 42.9%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" y="3666744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医护/护理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62245" y="3666744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临床护理 + 急诊/ICU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1992" y="3666744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抑郁率 11%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242816"/>
            <a:ext cx="6400800" cy="57607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4242816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562245" y="4242816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班主任 + 主科教师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1992" y="4242816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抑郁检出率 &gt;30%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7824" y="4818888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客服/服务业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562245" y="4818888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一线客服 + 餐饮服务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1992" y="4818888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抑郁率 15%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5394960"/>
            <a:ext cx="6400800" cy="57607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5394960"/>
            <a:ext cx="139181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制造/汽车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562245" y="5394960"/>
            <a:ext cx="1897139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产线工人 + 井下作业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51992" y="5394960"/>
            <a:ext cx="223402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月均加班 140h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60920" y="2011680"/>
            <a:ext cx="4114800" cy="1965960"/>
          </a:xfrm>
          <a:prstGeom prst="roundRect">
            <a:avLst>
              <a:gd name="adj" fmla="val 558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89520" y="2212848"/>
            <a:ext cx="128016" cy="128016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34" name="Text 32"/>
          <p:cNvSpPr/>
          <p:nvPr/>
        </p:nvSpPr>
        <p:spPr>
          <a:xfrm>
            <a:off x="781812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· 重点关注人群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589520" y="257860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90688" y="2578608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女性返岗员工（产假返岗后 3–12 个月）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89520" y="298094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790688" y="2980944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高压岗位群体（研发、销售、客服、产线）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89520" y="33832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790688" y="338328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跨文化团队员工（海外派遣、多元团队）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60920" y="416052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818120" y="43159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 · 间接受益人群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818120" y="470916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企业主管、HRBP、EAP专员、工会干部、党务工作者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31520" y="594360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直接人群 → 重点关注 → 间接受益：从个体疗愈到组织能力的层层放大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干预逻辑与实施路径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双轨协同 —— 如何落地执行？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011680"/>
            <a:ext cx="146304" cy="146304"/>
          </a:xfrm>
          <a:prstGeom prst="ellipse">
            <a:avLst/>
          </a:prstGeom>
          <a:solidFill>
            <a:srgbClr val="7BA05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降低求助门槛 · 主动预警 · 个性化匹配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26864" y="2011680"/>
            <a:ext cx="146304" cy="1463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非病理化深度支持 · 能量转化 · 整体平衡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10144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2011680"/>
            <a:ext cx="146304" cy="146304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14" name="Text 12"/>
          <p:cNvSpPr/>
          <p:nvPr/>
        </p:nvSpPr>
        <p:spPr>
          <a:xfrm>
            <a:off x="8513064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协同原则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84464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是疗愈师的「扩音器」与「望远镜」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697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四阶段实施路径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063240"/>
            <a:ext cx="10744200" cy="3502152"/>
          </a:xfrm>
          <a:prstGeom prst="roundRect">
            <a:avLst>
              <a:gd name="adj" fmla="val 3133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06324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43814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" y="3063240"/>
            <a:ext cx="12135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84020" y="3063240"/>
            <a:ext cx="12135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90217" y="3063240"/>
            <a:ext cx="3573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56120" y="3063240"/>
            <a:ext cx="3573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" y="3566160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预备期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84020" y="3566160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第1–2周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90217" y="3566160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AI树洞部署 + 基线采集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56120" y="3566160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疗愈师伦理培训 + 行业定制方案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4315968"/>
            <a:ext cx="10744200" cy="74980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4315968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融入期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84020" y="4315968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1–3个月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90217" y="4315968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24h运行 + 情绪趋势图 + 自动推送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56120" y="4315968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一对一疏导 + 团体工作坊 + 人工复核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7824" y="5065776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成长期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384020" y="5065776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4–6个月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90217" y="5065776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情绪轨迹追踪 + 个人成长报告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56120" y="5065776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进阶疗愈小组 + 自主工具包引导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1520" y="5815584"/>
            <a:ext cx="10744200" cy="74980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38" name="Text 36"/>
          <p:cNvSpPr/>
          <p:nvPr/>
        </p:nvSpPr>
        <p:spPr>
          <a:xfrm>
            <a:off x="877824" y="5815584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嵌入期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384020" y="5815584"/>
            <a:ext cx="12135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6个月后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890217" y="5815584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流程标准化 + 主管OKR纳入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56120" y="5815584"/>
            <a:ext cx="35732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培养企业内部「疗愈大使」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疗愈活动交付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六大情绪类型 + 六大行业精准对标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通用版 · 按情绪类型匹配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534924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386584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011680"/>
            <a:ext cx="18146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情绪类型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85100" y="2011680"/>
            <a:ext cx="18146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推荐活动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92377" y="2011680"/>
            <a:ext cx="84207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77824" y="251460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焦虑紧张型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85100" y="251460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正念呼吸工作坊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92377" y="251460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90分钟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306324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耗竭疲惫型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85100" y="306324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能量唤醒工作坊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92377" y="306324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" y="361188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情绪劳动型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85100" y="361188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艺术疗愈工作坊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92377" y="361188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16052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416052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孤独无意义型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985100" y="416052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叙事疗愈深度小组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92377" y="416052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2h×4次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7824" y="470916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躯体紧张型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985100" y="470916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身体觉知与释放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92377" y="470916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525780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525780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 / 预防型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985100" y="5257800"/>
            <a:ext cx="18146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心理嘉年华游园会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2377" y="5257800"/>
            <a:ext cx="84207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半天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5508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行业版 · 六大行业对标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55080" y="201168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55080" y="201168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5080" y="2386584"/>
            <a:ext cx="51206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6501384" y="2011680"/>
            <a:ext cx="8527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646790" y="2011680"/>
            <a:ext cx="16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首选活动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600719" y="2011680"/>
            <a:ext cx="172869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关键环节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501384" y="251460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46790" y="251460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情绪红绿灯正念工作坊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00719" y="251460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可控/不可控拆解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3063240"/>
            <a:ext cx="51206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3" name="Text 41"/>
          <p:cNvSpPr/>
          <p:nvPr/>
        </p:nvSpPr>
        <p:spPr>
          <a:xfrm>
            <a:off x="6501384" y="306324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46790" y="306324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积极心理与管理提升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00719" y="306324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情绪暂停法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01384" y="361188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646790" y="361188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巴林特小组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00719" y="361188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不评判/不打断/不指导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55080" y="4160520"/>
            <a:ext cx="51206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0" name="Text 48"/>
          <p:cNvSpPr/>
          <p:nvPr/>
        </p:nvSpPr>
        <p:spPr>
          <a:xfrm>
            <a:off x="6501384" y="416052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646790" y="416052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奥尔夫音乐疗愈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600719" y="416052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简易乐器合奏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01384" y="470916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646790" y="470916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心流插花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600719" y="470916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花材选择 + 创作命名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55080" y="5257800"/>
            <a:ext cx="51206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7" name="Text 55"/>
          <p:cNvSpPr/>
          <p:nvPr/>
        </p:nvSpPr>
        <p:spPr>
          <a:xfrm>
            <a:off x="6501384" y="5257800"/>
            <a:ext cx="8527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646790" y="5257800"/>
            <a:ext cx="16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沙盘疗愈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600719" y="5257800"/>
            <a:ext cx="17286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团队沙盘共创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31520" y="6172200"/>
            <a:ext cx="10744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核心亮点：每个活动均标注理论依据（MBSR、表达性艺术治疗、叙事疗愈、巴林特小组、躯体疗法等）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识别与推荐引擎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如何识别信号、推荐方案？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794760" cy="4480560"/>
          </a:xfrm>
          <a:prstGeom prst="roundRect">
            <a:avLst>
              <a:gd name="adj" fmla="val 289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548640" cy="548640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 · 核心识别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小时在线匿名倾诉平台，员工通过企业微信 / 钉钉 / 小程序进入。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3749040"/>
            <a:ext cx="3246120" cy="960120"/>
          </a:xfrm>
          <a:prstGeom prst="roundRect">
            <a:avLst>
              <a:gd name="adj" fmla="val 11429"/>
            </a:avLst>
          </a:prstGeom>
          <a:solidFill>
            <a:srgbClr val="EDF1E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8679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41605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郑州高新区总工会 AI 树洞，累计响应超 1300 次。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489204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关键设计：「AI 预警 + 人工复核」闭环 —— AI 不自动定性任何员工。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783080"/>
            <a:ext cx="6675120" cy="2148840"/>
          </a:xfrm>
          <a:prstGeom prst="roundRect">
            <a:avLst>
              <a:gd name="adj" fmla="val 5106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783080"/>
            <a:ext cx="667512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0600" y="2157984"/>
            <a:ext cx="667512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4946904" y="1783080"/>
            <a:ext cx="6028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42347" y="1783080"/>
            <a:ext cx="17424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关键词示例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77444" y="1783080"/>
            <a:ext cx="182389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自动触发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993946" y="1783080"/>
            <a:ext cx="1335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人工介入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46904" y="2286000"/>
            <a:ext cx="6028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42347" y="2286000"/>
            <a:ext cx="17424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「好累」「压力大」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77444" y="2286000"/>
            <a:ext cx="182389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自动推送正念音频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993946" y="2286000"/>
            <a:ext cx="13354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无需介入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834640"/>
            <a:ext cx="667512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5" name="Text 23"/>
          <p:cNvSpPr/>
          <p:nvPr/>
        </p:nvSpPr>
        <p:spPr>
          <a:xfrm>
            <a:off x="4946904" y="2834640"/>
            <a:ext cx="6028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42347" y="2834640"/>
            <a:ext cx="17424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「快撑不住了」「想辞职」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77444" y="2834640"/>
            <a:ext cx="182389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推送资源 + 提醒HRBP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93946" y="2834640"/>
            <a:ext cx="13354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HRBP 关注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46904" y="3383280"/>
            <a:ext cx="6028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42347" y="3383280"/>
            <a:ext cx="17424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极端词汇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77444" y="3383280"/>
            <a:ext cx="182389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转接专业咨询师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993946" y="3383280"/>
            <a:ext cx="13354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EAP 2h 内确认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三步转化模型 · 从信号到行动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800600" y="4160520"/>
            <a:ext cx="6675120" cy="2148840"/>
          </a:xfrm>
          <a:prstGeom prst="roundRect">
            <a:avLst>
              <a:gd name="adj" fmla="val 5106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4160520"/>
            <a:ext cx="667512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36" name="Shape 34"/>
          <p:cNvSpPr/>
          <p:nvPr/>
        </p:nvSpPr>
        <p:spPr>
          <a:xfrm>
            <a:off x="4800600" y="4535424"/>
            <a:ext cx="667512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7" name="Text 35"/>
          <p:cNvSpPr/>
          <p:nvPr/>
        </p:nvSpPr>
        <p:spPr>
          <a:xfrm>
            <a:off x="4946904" y="4160520"/>
            <a:ext cx="5417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781294" y="416052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118854" y="4160520"/>
            <a:ext cx="221056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946904" y="4663440"/>
            <a:ext cx="54178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781294" y="466344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AI树洞捕捉情绪信号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18854" y="4663440"/>
            <a:ext cx="22105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 + 预警等级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00600" y="5212080"/>
            <a:ext cx="667512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4" name="Text 42"/>
          <p:cNvSpPr/>
          <p:nvPr/>
        </p:nvSpPr>
        <p:spPr>
          <a:xfrm>
            <a:off x="4946904" y="5212080"/>
            <a:ext cx="54178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781294" y="521208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按标签、画像、行业匹配资源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18854" y="5212080"/>
            <a:ext cx="22105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个性化推荐清单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46904" y="5760720"/>
            <a:ext cx="54178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781294" y="576072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IM自动推送 + 人工复核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118854" y="5760720"/>
            <a:ext cx="22105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 · 评估 · 国际对齐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效果如何衡量？如何对齐 SDGs / ESG 国际标准？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预期效果总览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83664"/>
            <a:ext cx="5349240" cy="1810512"/>
          </a:xfrm>
          <a:prstGeom prst="roundRect">
            <a:avLst>
              <a:gd name="adj" fmla="val 606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83664"/>
            <a:ext cx="5349240" cy="347472"/>
          </a:xfrm>
          <a:prstGeom prst="roundRect">
            <a:avLst>
              <a:gd name="adj" fmla="val 31579"/>
            </a:avLst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03120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1883664"/>
            <a:ext cx="108291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53343" y="1883664"/>
            <a:ext cx="154141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87368" y="18836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57216" y="18836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" y="2231136"/>
            <a:ext cx="10829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53343" y="2231136"/>
            <a:ext cx="15414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PSI得分(7分)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87368" y="223113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3.2–3.8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57216" y="223113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≥5.5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2596896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" y="2596896"/>
            <a:ext cx="10829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留任意向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53343" y="2596896"/>
            <a:ext cx="15414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主动离职率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87368" y="259689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57216" y="259689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≤15%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7824" y="2962656"/>
            <a:ext cx="10829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疗愈覆盖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53343" y="2962656"/>
            <a:ext cx="15414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AI树洞使用率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87368" y="296265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57216" y="296265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≥40%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3328416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" y="3328416"/>
            <a:ext cx="10829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疗愈效果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53343" y="3328416"/>
            <a:ext cx="15414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情绪改善比例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87368" y="332841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57216" y="332841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≥60%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37856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分行业预期效果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" y="4023360"/>
            <a:ext cx="5349240" cy="2542032"/>
          </a:xfrm>
          <a:prstGeom prst="roundRect">
            <a:avLst>
              <a:gd name="adj" fmla="val 431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4023360"/>
            <a:ext cx="5349240" cy="347472"/>
          </a:xfrm>
          <a:prstGeom prst="roundRect">
            <a:avLst>
              <a:gd name="adj" fmla="val 31579"/>
            </a:avLst>
          </a:prstGeom>
          <a:solidFill>
            <a:srgbClr val="2C5F2D"/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" y="4242816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877824" y="4023360"/>
            <a:ext cx="988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58628" y="4023360"/>
            <a:ext cx="2721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核心预期效果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72284" y="4023360"/>
            <a:ext cx="7621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77824" y="437083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互联网/IT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158628" y="437083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 3.5→5.8；焦虑信号↓50%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72284" y="437083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1520" y="4736592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1" name="Text 39"/>
          <p:cNvSpPr/>
          <p:nvPr/>
        </p:nvSpPr>
        <p:spPr>
          <a:xfrm>
            <a:off x="877824" y="473659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金融/银行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158628" y="473659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 3.2→5.5；离职率→15%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72284" y="473659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6个月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77824" y="510235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医护/护理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158628" y="510235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抑郁自评↓30%；巴林特参与≥70%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172284" y="510235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31520" y="5468112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8" name="Text 46"/>
          <p:cNvSpPr/>
          <p:nvPr/>
        </p:nvSpPr>
        <p:spPr>
          <a:xfrm>
            <a:off x="877824" y="546811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158628" y="546811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MBI 倦怠得分↓25%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172284" y="546811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77824" y="583387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客服/服务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58628" y="583387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情绪耗竭得分↓30%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172284" y="583387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31520" y="6199632"/>
            <a:ext cx="534924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5" name="Text 53"/>
          <p:cNvSpPr/>
          <p:nvPr/>
        </p:nvSpPr>
        <p:spPr>
          <a:xfrm>
            <a:off x="877824" y="6199632"/>
            <a:ext cx="98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制造/汽车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158628" y="6199632"/>
            <a:ext cx="272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躯体紧张↓40%；驿站使用≥50%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172284" y="6199632"/>
            <a:ext cx="762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6个月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四层评估体系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217920" y="1883664"/>
            <a:ext cx="5257800" cy="2176272"/>
          </a:xfrm>
          <a:prstGeom prst="roundRect">
            <a:avLst>
              <a:gd name="adj" fmla="val 504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217920" y="1883664"/>
            <a:ext cx="5257800" cy="347472"/>
          </a:xfrm>
          <a:prstGeom prst="roundRect">
            <a:avLst>
              <a:gd name="adj" fmla="val 31579"/>
            </a:avLst>
          </a:prstGeom>
          <a:solidFill>
            <a:srgbClr val="2C5F2D"/>
          </a:solidFill>
          <a:ln/>
        </p:spPr>
      </p:sp>
      <p:sp>
        <p:nvSpPr>
          <p:cNvPr id="61" name="Shape 59"/>
          <p:cNvSpPr/>
          <p:nvPr/>
        </p:nvSpPr>
        <p:spPr>
          <a:xfrm>
            <a:off x="6217920" y="2103120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2" name="Text 60"/>
          <p:cNvSpPr/>
          <p:nvPr/>
        </p:nvSpPr>
        <p:spPr>
          <a:xfrm>
            <a:off x="6364224" y="1883664"/>
            <a:ext cx="3556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012446" y="1883664"/>
            <a:ext cx="1435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评估内容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741038" y="1883664"/>
            <a:ext cx="114788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181531" y="1883664"/>
            <a:ext cx="114788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频次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364224" y="223113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012446" y="223113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使用率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741038" y="223113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系统后台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0181531" y="223113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实时/周度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217920" y="259689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71" name="Text 69"/>
          <p:cNvSpPr/>
          <p:nvPr/>
        </p:nvSpPr>
        <p:spPr>
          <a:xfrm>
            <a:off x="6364224" y="259689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012446" y="259689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741038" y="259689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情绪温度计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10181531" y="259689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每场后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364224" y="296265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012446" y="296265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短期效果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741038" y="296265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简讯随访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10181531" y="296265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第3/7天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217920" y="332841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80" name="Text 78"/>
          <p:cNvSpPr/>
          <p:nvPr/>
        </p:nvSpPr>
        <p:spPr>
          <a:xfrm>
            <a:off x="6364224" y="332841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7012446" y="332841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中期效果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8741038" y="332841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PSI问卷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10181531" y="332841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月/季度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6364224" y="3694176"/>
            <a:ext cx="355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012446" y="3694176"/>
            <a:ext cx="1435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长期影响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8741038" y="369417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离职率+绩效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10181531" y="3694176"/>
            <a:ext cx="11478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半年/年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6217920" y="41148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SDGs / ESG 国际标准对齐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6217920" y="4352544"/>
            <a:ext cx="5257800" cy="2542032"/>
          </a:xfrm>
          <a:prstGeom prst="roundRect">
            <a:avLst>
              <a:gd name="adj" fmla="val 431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217920" y="4352544"/>
            <a:ext cx="5257800" cy="347472"/>
          </a:xfrm>
          <a:prstGeom prst="roundRect">
            <a:avLst>
              <a:gd name="adj" fmla="val 31579"/>
            </a:avLst>
          </a:prstGeom>
          <a:solidFill>
            <a:srgbClr val="2C5F2D"/>
          </a:solidFill>
          <a:ln/>
        </p:spPr>
      </p:sp>
      <p:sp>
        <p:nvSpPr>
          <p:cNvPr id="91" name="Shape 89"/>
          <p:cNvSpPr/>
          <p:nvPr/>
        </p:nvSpPr>
        <p:spPr>
          <a:xfrm>
            <a:off x="6217920" y="4572000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2" name="Text 90"/>
          <p:cNvSpPr/>
          <p:nvPr/>
        </p:nvSpPr>
        <p:spPr>
          <a:xfrm>
            <a:off x="6364224" y="4352544"/>
            <a:ext cx="140844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 / 维度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8065277" y="4352544"/>
            <a:ext cx="326413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方案贡献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364224" y="470001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SDG 3 健康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8065277" y="470001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心理健康与疗愈服务应对企业压力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217920" y="506577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97" name="Text 95"/>
          <p:cNvSpPr/>
          <p:nvPr/>
        </p:nvSpPr>
        <p:spPr>
          <a:xfrm>
            <a:off x="6364224" y="506577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SDG 5 性别平等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8065277" y="506577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赋能女性员工，平等返岗与DEI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6364224" y="543153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SDG 8 体面工作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8065277" y="543153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提升充分就业，保障安全环境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6217920" y="579729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02" name="Text 100"/>
          <p:cNvSpPr/>
          <p:nvPr/>
        </p:nvSpPr>
        <p:spPr>
          <a:xfrm>
            <a:off x="6364224" y="579729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GRI 403 员工福祉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8065277" y="579729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追踪心理安全并提供疗愈支持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6364224" y="616305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GRI 405-1 DEI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8065277" y="616305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女性返岗支持与DEI文化建设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6217920" y="6528816"/>
            <a:ext cx="5257800" cy="3657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07" name="Text 105"/>
          <p:cNvSpPr/>
          <p:nvPr/>
        </p:nvSpPr>
        <p:spPr>
          <a:xfrm>
            <a:off x="6364224" y="6528816"/>
            <a:ext cx="14084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· AI治理章程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8065277" y="6528816"/>
            <a:ext cx="3264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隐私保护、假阳性控制、人工审核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4572000" cy="457200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840480" cy="384048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发现信号，AI 推荐方案，疗愈创造改变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286000"/>
            <a:ext cx="146304" cy="146304"/>
          </a:xfrm>
          <a:prstGeom prst="ellipse">
            <a:avLst/>
          </a:prstGeom>
          <a:solidFill>
            <a:srgbClr val="7BA05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148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AI 评委的价值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44752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 + 轻量级推荐引擎，非实验室设想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4015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44752" y="34015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隐私与伦理设计严谨（匿名化、人工复核、可退出）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9684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44752" y="396849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定位清晰：不做诊断，只做「吹哨」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96596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2286000"/>
            <a:ext cx="146304" cy="146304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2148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对疗愈评委的价值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76872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工作坊有清晰疗愈理论基础（巴林特、奥尔夫、叙事、MBSR）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34015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76872" y="34015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疗愈师角色被充分定义，AI 不替代疗愈师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9684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76872" y="396849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六大行业差异化活动设计，非模板化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45354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76872" y="453542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IAOTH 认证与伦理对齐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5623560"/>
            <a:ext cx="10744200" cy="822960"/>
          </a:xfrm>
          <a:prstGeom prst="roundRect">
            <a:avLst>
              <a:gd name="adj" fmla="val 13333"/>
            </a:avLst>
          </a:prstGeom>
          <a:solidFill>
            <a:srgbClr val="356B3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623560"/>
            <a:ext cx="10378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发现信号，AI 推荐方案，疗愈创造改变。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2026-07-14T23:54:13Z</dcterms:created>
  <dcterms:modified xsi:type="dcterms:W3CDTF">2026-07-14T23:54:13Z</dcterms:modified>
</cp:coreProperties>
</file>